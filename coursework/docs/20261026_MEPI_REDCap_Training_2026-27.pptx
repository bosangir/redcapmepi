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01" r:id="rId47"/>
    <p:sldId id="302" r:id="rId48"/>
    <p:sldId id="303" r:id="rId49"/>
    <p:sldId id="304" r:id="rId50"/>
    <p:sldId id="305" r:id="rId51"/>
    <p:sldId id="306"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4440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REDCap training session. The structure follows the official REDCap training videos (projectredcap.org/resources/videos), so students can rewatch any step at home.</a:t>
            </a:r>
          </a:p>
          <a:p>
            <a:r>
              <a:rPr dirty="0"/>
              <a:t>Students need a laptop and a REDCap account on the course server. LECTURER: confirm accounts and the server address (redcap.uantwerpen.be) before class.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By the end, students should have built a small longitudinal, multi-site project, tested it with fake data and exported it without identifiers.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topics, each linked to the official videos, then a 60-minute lab in which students build the TBCARE project from Part 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23 videos are on projectredcap.org/resources/videos, grouped in four sets: introductory overviews, basic features, project types and special topics. Total viewing time is about 2.5 hours.</a:t>
            </a:r>
          </a:p>
          <a:p>
            <a:r>
              <a:t>REDCap is updated often, so the screens in the videos may look slightly different from our server. The built-in instructions in REDCap are always current.</a:t>
            </a:r>
          </a:p>
          <a:p>
            <a:r>
              <a:t>Homework: watch the two overviews (21 min) before the lab; watch the rest as you need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1 matches the two introductory videos.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REDCap (Research Electronic Data Capture) is a secure web application for building and managing online surveys and databases. It was developed at Vanderbilt University and is free for non-profit members of the REDCap Consortium. Each institution hosts its own server, so data stay on institutional infrastructure.</a:t>
            </a:r>
          </a:p>
          <a:p>
            <a:r>
              <a:t>Figures from projectredcap.org (2026): about 8,400 institutions in 166 countries, 2.8 million projects and 4.6 million users.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 back to Part 2. Many DMP promises are delivered by REDCap features. Students can cite these features, specifically, in their group DMP.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project moves through these statuses.</a:t>
            </a:r>
          </a:p>
          <a:p>
            <a:r>
              <a:t>Development: build freely and test with FAKE data only. Production: real data; changes go through Draft Mode and, depending on the server settings, may need administrator review, because changing a field can damage data already collected. Analysis/Cleanup: collection finished; records can be locked while you clean and export. Completed: read-only, hidden from the project list.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Projects, then New Project. Give a clear title, choose the purpose (for this course: Practice / Just for fun), and choose how to start: an empty project, a template, or a REDCap XML file that copies another project's full design.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Setup lists the steps in order. Work through it top to bottom; each step turns green when done. The first block switches on surveys and longitudinal collection, which changes what the rest of the project looks like.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2 matches the videos 'Introduction to instrument development', 'The Online Designer', 'The Data Dictionary' and 'Project field types'.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project contains instruments (data entry forms or surveys). Instruments contain fields (one field = one variable). Each participant is a record, identified by the first field, the record ID.</a:t>
            </a:r>
          </a:p>
          <a:p>
            <a:r>
              <a:t>Two ways to build instruments: the Online Designer (point and click) and the Data Dictionary (a CSV file with one row per field). Both produce the same project; many data managers use both.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Online Designer, open an instrument and click 'Add Field'. Choose the field type, write the label, give a short variable name, and set validation, the identifier flag and 'required'.</a:t>
            </a:r>
          </a:p>
          <a:p>
            <a:r>
              <a:t>Variable names: lowercase, letters, numbers and underscores only, short and meaningful. Do not change them once data are collected.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Download the data dictionary (Project Setup or Dictionary page), edit it in Excel or LibreOffice, and upload it. REDCap checks it and shows errors before applying changes.</a:t>
            </a:r>
          </a:p>
          <a:p>
            <a:r>
              <a:t>The template has 18 columns; the most used are shown here. Other columns: Section Header, Field Note, Required Field?, Custom Alignment, Question Number (surveys), Matrix Group Name, Matrix Ranking?, Field Annotation (action tags).</a:t>
            </a:r>
          </a:p>
          <a:p>
            <a:r>
              <a:t>The data dictionary doubles as the codebook in your DMP (section 2).</a:t>
            </a:r>
          </a:p>
          <a:p>
            <a:r>
              <a:t>Save as CSV; keep the column headers exactly as in the template.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 answer comes from a fixed list, use radio buttons, a drop-down or checkboxes, never free text. Use text boxes with validation for dates and numbers.</a:t>
            </a:r>
          </a:p>
          <a:p>
            <a:r>
              <a:t>Checkboxes allow several answers; each option becomes its own 0/1 variable in the export (e.g., test_type___1).</a:t>
            </a:r>
          </a:p>
          <a:p>
            <a:r>
              <a:t>Descriptive text shows instructions or images without storing data. A file upload field can also capture a signature.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Text validation types include date (D-M-Y, M-D-Y, Y-M-D), datetime, time, integer, number (with decimals), email and phone. Set minimum and maximum values for every number and date.</a:t>
            </a:r>
          </a:p>
          <a:p>
            <a:r>
              <a:t>Out-of-range values trigger a warning; required fields trigger a warning when the form is saved. Warnings can be overridden, which is why the Data Quality rules (topic 5) still matter.</a:t>
            </a:r>
          </a:p>
          <a:p>
            <a:r>
              <a:t>Identifier = yes marks direct identifiers so they can be removed automatically at export.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Branching logic hides a field unless a condition is true. Variable names go in square brackets; coded values in quotes.</a:t>
            </a:r>
          </a:p>
          <a:p>
            <a:r>
              <a:t>Checkboxes: refer to one option with parentheses, [symptoms(3)] = '1' means option 3 is ticked.</a:t>
            </a:r>
          </a:p>
          <a:p>
            <a:r>
              <a:t>Longitudinal projects: prefix the unique event name, [baseline_arm_1][hiv_status] = '1'.</a:t>
            </a:r>
          </a:p>
          <a:p>
            <a:r>
              <a:t>Use the logic editor's 'Test' option, and test each branch with fake records.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Calculated fields are computed by REDCap as data are entered (e.g., BMI, age). datediff(date1, date2, 'y') gives the difference in years.</a:t>
            </a:r>
          </a:p>
          <a:p>
            <a:r>
              <a:t>Action tags go in the Field Annotation and change how a field behaves: @TODAY fills today's date, @HIDDEN hides a field, @READONLY blocks editing, @DEFAULT sets a default, @CALCTEXT and @CALCDATE compute text and dates, @NONEOFTHEABOVE adds an exclusive option to checkboxes.</a:t>
            </a:r>
          </a:p>
          <a:p>
            <a:r>
              <a:t>Field embedding: put {weight_kg} inside another field's label or a descriptive field to lay out fields side by side, like a paper CRF table.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rules come from experience: most cleaning problems start in instrument design.</a:t>
            </a:r>
          </a:p>
          <a:p>
            <a:r>
              <a:t>Codes: once data exist, do not change the meaning of a code (1 = Male stays 1 = Male). Add new options with new codes.</a:t>
            </a:r>
          </a:p>
          <a:p>
            <a:r>
              <a:t>Missing data codes (Project Setup, Additional customizations) let users record why a value is missing (e.g., NA, UNK, NASK) instead of leaving it blank.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3 matches the six 'Project types' videos (19 minutes in total).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REDCap videos describe five typical set-ups. They are not separate products: they are combinations of the two switches on Project Setup (surveys on or off, longitudinal on or off) plus the optional scheduling module.</a:t>
            </a:r>
          </a:p>
          <a:p>
            <a:r>
              <a:t>Operations projects use REDCap for non-research work, for example tracking requests or managing a registry of lab samples.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simple decision path. Most MEPI theses are either traditional (cross-sectional) or longitudinal (cohorts, trials). TBCARE is longitudinal with surveys switched on for the quality-of-life questionnaire.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data entered by staff on forms, usually one time point (cross-sectional studies, chart reviews).</a:t>
            </a:r>
          </a:p>
          <a:p>
            <a:r>
              <a:t>Single survey: one instrument enabled as a survey, completed by participants through a link (public survey). Good for anonymous questionnaires; for identified participants use the participant list instead of the public link.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Longitudinal: the same forms are collected at several events (visits). Add the scheduling module when visits have planned dates and windows; REDCap then generates a schedule for each participant and shows it in the Calendar.</a:t>
            </a:r>
          </a:p>
          <a:p>
            <a:r>
              <a:t>Operations projects: non-research uses, such as tracking sample shipments or managing requests.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4 matches the videos 'Defining longitudinal events', 'Designating instruments for events', 'Repeating instruments and events', 'Scheduling module' and 'The Calendar'.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event is a time point (baseline, month 2…). Each event has a name, a 'days offset' from the first event and an optional window (days before/after), used by the scheduling module.</a:t>
            </a:r>
          </a:p>
          <a:p>
            <a:r>
              <a:t>An arm is a group of participants with its own event schedule, e.g., two treatment groups with different visit plans. Most studies have one arm.</a:t>
            </a:r>
          </a:p>
          <a:p>
            <a:r>
              <a:t>REDCap gives each event a unique event name, such as baseline_arm_1, used in branching logic, calculations and exports.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defining events, tick which instruments are collected at which event. The result is this grid, which becomes the columns of the Record Status Dashboard for each participant.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things happen an unknown number of times: adverse events, medications, hospital admissions, unscheduled visits.</a:t>
            </a:r>
          </a:p>
          <a:p>
            <a:r>
              <a:t>Repeating instrument: one form repeated as often as needed within an event (e.g., the medication form).</a:t>
            </a:r>
          </a:p>
          <a:p>
            <a:r>
              <a:t>Repeating event: a whole event with several forms repeated (e.g., an unscheduled visit with clinical and lab forms).</a:t>
            </a:r>
          </a:p>
          <a:p>
            <a:r>
              <a:t>Enable under Project Setup, optional modules. In exports, repeated rows carry redcap_repeat_instrument and redcap_repeat_instance.</a:t>
            </a:r>
          </a:p>
          <a:p>
            <a:r>
              <a:t>The video is long (33 minutes) but worth it for anyone running a cohort.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the scheduling module on, REDCap uses each event's days offset and window to create a schedule from a start date (usually enrolment). Scheduled visits appear in the Calendar, where staff can see who is due and record the status of each visit.</a:t>
            </a:r>
          </a:p>
          <a:p>
            <a:r>
              <a:t>The Calendar can also hold ad hoc entries and is available in any project.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5 matches 'Overview of basic data entry', 'Data Access Groups', 'Data Resolution Workflow', 'Locking records' and 'REDCap Mobile App'.</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Record Status Dashboard shows every record (row) and every form per event (columns). The coloured circles give the status of each form: red = Incomplete, yellow = Unverified, green = Complete; grey or empty = no data yet.</a:t>
            </a:r>
          </a:p>
          <a:p>
            <a:r>
              <a:t>Click a circle to open the form. Add a new record with 'Add / Edit Records'.</a:t>
            </a:r>
          </a:p>
          <a:p>
            <a:r>
              <a:t>Teams should agree what each status means, for example: green only after the site has checked the form against the source document.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Enable surveys on Project Setup, then enable each instrument as a survey. Distribution tools: a public survey link (and QR code) or a participant list with personalised links, invitations and automatic reminders.</a:t>
            </a:r>
          </a:p>
          <a:p>
            <a:r>
              <a:t>Survey queue and auto-continue chain several surveys. The e-Consent framework stores a PDF snapshot of the signed consent with version and date (check that your ethics committee accepts electronic consent).</a:t>
            </a:r>
          </a:p>
          <a:p>
            <a:r>
              <a:t>Alerts &amp; Notifications send automatic e-mails, for example to the PI when a serious event is reported. Multi-Language Management offers one instrument in several languages.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Data Access Group (DAG) is a group of users who can only see the records of their own group. In a multi-site study each site is a DAG. Records created by a user are automatically assigned to that user's DAG.</a:t>
            </a:r>
          </a:p>
          <a:p>
            <a:r>
              <a:t>Users who are not in any DAG (e.g., the central data manager) see all records.</a:t>
            </a:r>
          </a:p>
          <a:p>
            <a:r>
              <a:t>Create DAGs in the Applications menu; assign users on the DAG page or in User Rights.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Enable the Data Resolution Workflow under Project Setup (additional customisations). A user with the right permissions opens a query on a field ('Is weight 300 kg correct?'). The site responds, correcting the value or confirming it, and the query is closed. Every step is time-stamped and stored.</a:t>
            </a:r>
          </a:p>
          <a:p>
            <a:r>
              <a:t>The Resolve Issues page lists all open queries, which is useful for monitoring and for the data audit before database lock.</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Quality module (Applications menu) runs built-in rules, for example missing values, values outside validation ranges, outliers in numeric fields, and incorrect calculated values. You can add custom rules written in the same syntax as branching logic.</a:t>
            </a:r>
          </a:p>
          <a:p>
            <a:r>
              <a:t>Run the rules regularly (e.g., weekly) and open queries for the problems found.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Locking a form or a record prevents further changes. Users need the 'Record locking' right. An e-signature adds the user's credentials to confirm the data are correct. Locking is used after source verification and before the analysis.</a:t>
            </a:r>
          </a:p>
          <a:p>
            <a:r>
              <a:t>Locked data can be unlocked by users with the right permission; the unlock is logged.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REDCap Mobile App (iOS and Android) lets staff collect data offline on a tablet or phone and synchronise later. It is useful in field settings with poor connectivity, such as rural sites.</a:t>
            </a:r>
          </a:p>
          <a:p>
            <a:r>
              <a:t>MyCap is a separate participant-facing app for patient-reported outcomes and active tasks.</a:t>
            </a:r>
          </a:p>
          <a:p>
            <a:r>
              <a:t>Both must be enabled for the project; the server administrators decide which features are available.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6 matches the 'Applications overview' video (16 minutes).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Applications menu on the left of every project groups the tools for managing the project. Which ones a user sees depends on their user rights.</a:t>
            </a:r>
          </a:p>
          <a:p>
            <a:r>
              <a:t>The most used: Data Exports, Reports and Stats; Data Import Tool; Logging; User Rights; Data Access Groups; Data Quality; Calendar; File Repository; API (if enabled by the administrators).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Create roles (not individual permissions) so every new team member gets consistent rights. Least privilege: data entry staff do not need to export; the statistician gets de-identified exports only.</a:t>
            </a:r>
          </a:p>
          <a:p>
            <a:r>
              <a:t>Set expiration dates for temporary staff, and remove users on the day they leave.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Logging page records every action: who created, changed or exported which data, when, and from which value to which value. It cannot be edited by users.</a:t>
            </a:r>
          </a:p>
          <a:p>
            <a:r>
              <a:t>This audit trail is what makes REDCap suitable for GCP-style work, and it is what you refer to in your DMP when you promise traceability.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Exports, Reports and Stats: export all data or a custom report (selected fields, filters). Formats: CSV (raw codes or labels), SPSS, SAS, Stata, R (data file plus a script that applies labels), and CDISC ODM (XML).</a:t>
            </a:r>
          </a:p>
          <a:p>
            <a:r>
              <a:t>De-identification options at export: remove all fields tagged as identifiers, remove unvalidated free-text fields, remove or shift dates, and hash the record ID. These options are why the identifier flag matters.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API lets scripts read and write data directly, so the analysis always starts from the current database. R users use the REDCapR package; Python users use PyCap. An API token is needed per user and project; the administrators decide who gets one.</a:t>
            </a:r>
          </a:p>
          <a:p>
            <a:r>
              <a:t>An API token is a password: keep it in an environment file such as .Renviron, never in a script, on GitHub, in e-mails or in an AI chat.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Production is a one-way step for most purposes: after it, changes to instruments go through Draft Mode. Use this checklist; ideally a colleague who did not build the project tests it.</a:t>
            </a:r>
          </a:p>
          <a:p>
            <a:r>
              <a:t>Delete all test records (or confirm they are removed when moving to production).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REDCap 15 (2025) added three optional AI helpers, described in JAMIA Open (2026): a Writing Helper (tone, length, reading level of instructions and labels), Summarize (free-text answers in reports) and Auto-translate (Multi-Language Management).</a:t>
            </a:r>
          </a:p>
          <a:p>
            <a:r>
              <a:t>They are off by default; the institution enables them and connects its own secure AI service. A human reviews every output, and the tools never change research data directly.</a:t>
            </a:r>
          </a:p>
          <a:p>
            <a:r>
              <a:t>LECTURER: check whether these are enabled on the course server.</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work in pairs on the TBCARE case from Part 2 (one-page case study). Each step names the slide and video to revisit.</a:t>
            </a:r>
          </a:p>
          <a:p>
            <a:r>
              <a:t>LECTURER: share a starter data dictionary CSV on Blackboard, and confirm accounts on redcap.uantwerpen.be.</a:t>
            </a:r>
          </a:p>
          <a:p>
            <a:r>
              <a:t>Use only fake data. Finish by swapping projects with the next pair and trying to break their validation.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checks students can do themselves. Ask each pair to show one of these to the lecturer before leaving.</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mistakes we see most often in student and real projects.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points to remember.</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official videos are the best follow-up. Inside REDCap, the help icons and the FAQ are always current for the installed version.</a:t>
            </a:r>
          </a:p>
          <a:p>
            <a:r>
              <a:t>LECTURER: add the name and contact of the UAntwerp REDCap administrators.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Remind students to rewatch the videos for anything they missed.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block: we now build TBCARE end to end, following the database development roadmap, using the annotated and paper CRFs, the data dictionary, simulated data and R.</a:t>
            </a:r>
          </a:p>
          <a:p>
            <a:r>
              <a:t>All files are on the course-work page of the website: bosangir.github.io/REDCapMepi/coursework.html</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database is built in a fixed order. Most problems come from skipping a step, especially testing.</a:t>
            </a:r>
          </a:p>
          <a:p>
            <a:r>
              <a:t>1 Protocol and DMP fix what is collected and why. 2 Paper or annotated CRFs: every question, code and skip rule. 3 Data dictionary: the CRFs as a spreadsheet. 4 Build in Development: upload the dictionary, events, repeating settings, DAGs, surveys. 5 Test with fake data, by someone who did not build it. 6 Move to Production after sign-off. 7 Collect and clean: queries, data quality rules, monitoring. 8 Lock, export de-identified data and analyse.</a:t>
            </a:r>
          </a:p>
          <a:p>
            <a:r>
              <a:t>Changes after Production go back through steps 2 to 5 (Draft Mode).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arms because the two TB types have different treatment lengths and visit schedules. Both arms have an Unscheduled event (repeating event) and a Logs event holding two repeating instruments: adverse events and concomitant medications.</a:t>
            </a:r>
          </a:p>
          <a:p>
            <a:r>
              <a:t>The ECG form exists only in arm 2. This is the design students will build from the files.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dictionary has 75 fields on 11 forms, built straight from the annotated CRFs. Design decisions worth discussing:</a:t>
            </a:r>
          </a:p>
          <a:p>
            <a:r>
              <a:t>Variable names follow the CRF item and are never changed after Production. Identifiers are flagged so that de-identified exports work. Calculated fields (age, BMI, adherence, eligibility) are not entered on paper.</a:t>
            </a:r>
          </a:p>
          <a:p>
            <a:r>
              <a:t>BMI uses the smart variable [first-event-name] so that the same formula picks the baseline height in arm 1 and in arm 2.</a:t>
            </a:r>
          </a:p>
          <a:p>
            <a:r>
              <a:t>The four quality-of-life items form a matrix group (same answer scale).</a:t>
            </a:r>
          </a:p>
          <a:p>
            <a:r>
              <a:t>Upload: Dictionary page &gt; Upload; REDCap shows errors before applying anything.</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Order matters: events must exist before instruments can be designated, and repeating settings need the events.</a:t>
            </a:r>
          </a:p>
          <a:p>
            <a:r>
              <a:t>Arms, events and the instrument-event mapping can be uploaded as CSV files on the Define My Events / Designate Instruments pages (Upload or download), or entered by hand. Repeating instruments and events are switched on in Project Setup (optional modules). The DAG unique names must be antwerp and mbarara to match the simulated data.</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Import Tool (Applications menu): download the template, then upload TBCARE_simulated_import.csv. REDCap checks the file and shows every value before you commit.</a:t>
            </a:r>
          </a:p>
          <a:p>
            <a:r>
              <a:t>Columns that make longitudinal and repeating data work: redcap_event_name (which visit), redcap_repeat_instrument and redcap_repeat_instance (which repeat), redcap_data_access_group (which site).</a:t>
            </a:r>
          </a:p>
          <a:p>
            <a:r>
              <a:t>Calculated, file and descriptive fields are not in the file: REDCap calculates the calculated fields itself.</a:t>
            </a:r>
          </a:p>
          <a:p>
            <a:r>
              <a:t>Dates in the file are YYYY-MM-DD. Checkboxes are one column per option (symptoms___1 …).</a:t>
            </a:r>
          </a:p>
          <a:p>
            <a:r>
              <a:t>Exercise: then upload TBCARE_simulated_with_errors.csv into a second practice project and find the errors with data quality rules and REDCapDM.</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TBCARE reuses notification data from the national TB programme, which does not know the study ID. Records are linked deterministically on a pseudonymised key: a SHA-256 hash of date of birth, sex, district and the first two letters of the surname.</a:t>
            </a:r>
          </a:p>
          <a:p>
            <a:r>
              <a:t>Simulated result: 56 of 60 participants link; 4 do not (date-of-birth typos, or not notified) and are checked by hand.</a:t>
            </a:r>
          </a:p>
          <a:p>
            <a:r>
              <a:t>Linkage needs identifiers, so the data manager does it in a secure environment; only the link table (record_id, notification_id) and agreed variables go to the analyst. Describe the linkage in the DMP (legal basis, data use agreement with the programme).</a:t>
            </a:r>
          </a:p>
          <a:p>
            <a:r>
              <a:t>Script: 03_record_linkage.R; try it in the browser on the website.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REDCapR (CRAN, OUHSC BBMC) wraps the REDCap API. redcap_read_oneshot gets everything in one request; redcap_read reads in batches and lets you select fields, forms and events, and labels instead of codes.</a:t>
            </a:r>
          </a:p>
          <a:p>
            <a:r>
              <a:t>Metadata functions return the dictionary, arms, events, mapping and repeating settings, so a script can check the project before analysing it.</a:t>
            </a:r>
          </a:p>
          <a:p>
            <a:r>
              <a:t>The token lives in .Renviron, never in the script.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row per record per event (and per repeat). Fields from forms not collected at that event are empty, which is expected and not missing data.</a:t>
            </a:r>
          </a:p>
          <a:p>
            <a:r>
              <a:t>Typical first steps: split by event or by repeating instrument, then reshape. REDCapDM's rd_split does this for you; in base R use subset().</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REDCapDM (CRAN, version 1.0.1, 2026) reads data by API or from exported files, transforms it (labels, checkboxes, branching logic), and builds query reports that can be sent to the sites and compared over time.</a:t>
            </a:r>
          </a:p>
          <a:p>
            <a:r>
              <a:t>rd_query finds values that meet an expression; rd_event lists records missing an event; rd_export writes an Excel query report; check_queries compares two reports to see what was resolved.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REDCapSync (CRAN, Brandon Rose, The Coding Docs; supported by the R Consortium) keeps a local, standardised copy of a REDCap project. On each sync it reads the REDCap log and re-downloads only records that changed.</a:t>
            </a:r>
          </a:p>
          <a:p>
            <a:r>
              <a:t>RosyREDCap is a Shiny app on top of REDCapSync projects for exploratory analysis: switch projects, de-identify, make quick plots. It is not on CRAN yet, and its documentation says it is not yet suited to multi-arm or very large projects, so for TBCARE use it for a first look only.</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Putting it together: REDCap is the single source of truth. Scripts read it through the API, check it, link it and produce the analysis dataset. Re-running the scripts gives the same result, which is what reproducibility means and what the DMP promises.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course-work page runs R in the browser (webR) on the simulated TBCARE data, so students can see the output of each step before running it against REDCap: what redcap_read_oneshot returns, missing visits, data quality checks, record linkage and a plot.</a:t>
            </a:r>
          </a:p>
          <a:p>
            <a:r>
              <a:t>No installation and no token needed: the browser examples read the simulated files; the downloadable scripts use REDCapR, REDCapDM and REDCapSync against your practice project.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0.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19.png"/><Relationship Id="rId7"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39.png"/><Relationship Id="rId5"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6.png"/><Relationship Id="rId7"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48.png"/><Relationship Id="rId5"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51.png"/><Relationship Id="rId5" Type="http://schemas.openxmlformats.org/officeDocument/2006/relationships/image" Target="../media/image9.png"/><Relationship Id="rId6" Type="http://schemas.openxmlformats.org/officeDocument/2006/relationships/image" Target="../media/image52.png"/><Relationship Id="rId7"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53.png"/><Relationship Id="rId5"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4.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0.png"/><Relationship Id="rId14" Type="http://schemas.openxmlformats.org/officeDocument/2006/relationships/image" Target="../media/image24.png"/><Relationship Id="rId15"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1.png"/><Relationship Id="rId4" Type="http://schemas.openxmlformats.org/officeDocument/2006/relationships/image" Target="../media/image48.png"/><Relationship Id="rId5" Type="http://schemas.openxmlformats.org/officeDocument/2006/relationships/image" Target="../media/image62.png"/><Relationship Id="rId6"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3.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5.png"/><Relationship Id="rId4" Type="http://schemas.openxmlformats.org/officeDocument/2006/relationships/image" Target="../media/image34.png"/><Relationship Id="rId5" Type="http://schemas.openxmlformats.org/officeDocument/2006/relationships/image" Target="../media/image45.png"/><Relationship Id="rId6"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66.png"/><Relationship Id="rId6" Type="http://schemas.openxmlformats.org/officeDocument/2006/relationships/image" Target="../media/image5.png"/><Relationship Id="rId7" Type="http://schemas.openxmlformats.org/officeDocument/2006/relationships/image" Target="../media/image67.png"/><Relationship Id="rId8"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62.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49.png"/><Relationship Id="rId10" Type="http://schemas.openxmlformats.org/officeDocument/2006/relationships/image" Target="../media/image73.png"/><Relationship Id="rId11"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74.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7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6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50.png"/><Relationship Id="rId5" Type="http://schemas.openxmlformats.org/officeDocument/2006/relationships/image" Target="../media/image4.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71600"/>
            <a:ext cx="10058400" cy="365760"/>
          </a:xfrm>
          <a:prstGeom prst="rect">
            <a:avLst/>
          </a:prstGeom>
          <a:noFill/>
        </p:spPr>
        <p:txBody>
          <a:bodyPr wrap="square" lIns="0" tIns="0" rIns="0" bIns="0" anchor="t"/>
          <a:lstStyle/>
          <a:p>
            <a:pPr algn="l">
              <a:spcAft>
                <a:spcPts val="600"/>
              </a:spcAft>
            </a:pPr>
            <a:r>
              <a:rPr sz="1600" b="0" i="0">
                <a:solidFill>
                  <a:srgbClr val="41464C"/>
                </a:solidFill>
                <a:latin typeface="Arial"/>
              </a:rPr>
              <a:t>Master of Epidemiology  ·  Research Data Management  ·  2026–27</a:t>
            </a:r>
          </a:p>
        </p:txBody>
      </p:sp>
      <p:sp>
        <p:nvSpPr>
          <p:cNvPr id="6" name="TextBox 5"/>
          <p:cNvSpPr txBox="1"/>
          <p:nvPr/>
        </p:nvSpPr>
        <p:spPr>
          <a:xfrm>
            <a:off x="548640" y="1920240"/>
            <a:ext cx="10515600" cy="914400"/>
          </a:xfrm>
          <a:prstGeom prst="rect">
            <a:avLst/>
          </a:prstGeom>
          <a:noFill/>
        </p:spPr>
        <p:txBody>
          <a:bodyPr wrap="square" lIns="0" tIns="0" rIns="0" bIns="0" anchor="t"/>
          <a:lstStyle/>
          <a:p>
            <a:pPr algn="l">
              <a:spcAft>
                <a:spcPts val="600"/>
              </a:spcAft>
            </a:pPr>
            <a:r>
              <a:rPr sz="4800" b="1" i="0">
                <a:solidFill>
                  <a:srgbClr val="C8102E"/>
                </a:solidFill>
                <a:latin typeface="Arial"/>
              </a:rPr>
              <a:t>REDCap training</a:t>
            </a:r>
          </a:p>
        </p:txBody>
      </p:sp>
      <p:sp>
        <p:nvSpPr>
          <p:cNvPr id="7" name="TextBox 6"/>
          <p:cNvSpPr txBox="1"/>
          <p:nvPr/>
        </p:nvSpPr>
        <p:spPr>
          <a:xfrm>
            <a:off x="548640" y="2834640"/>
            <a:ext cx="7040880" cy="822960"/>
          </a:xfrm>
          <a:prstGeom prst="rect">
            <a:avLst/>
          </a:prstGeom>
          <a:noFill/>
        </p:spPr>
        <p:txBody>
          <a:bodyPr wrap="square" lIns="0" tIns="0" rIns="0" bIns="0" anchor="t"/>
          <a:lstStyle/>
          <a:p>
            <a:pPr algn="l">
              <a:spcAft>
                <a:spcPts val="600"/>
              </a:spcAft>
            </a:pPr>
            <a:r>
              <a:rPr sz="2200" b="0" i="0">
                <a:solidFill>
                  <a:srgbClr val="41464C"/>
                </a:solidFill>
                <a:latin typeface="Arial"/>
              </a:rPr>
              <a:t>From your first instrument to a clean, de-identified export</a:t>
            </a:r>
          </a:p>
        </p:txBody>
      </p:sp>
      <p:cxnSp>
        <p:nvCxnSpPr>
          <p:cNvPr id="8" name="Connector 7"/>
          <p:cNvCxnSpPr/>
          <p:nvPr/>
        </p:nvCxnSpPr>
        <p:spPr>
          <a:xfrm>
            <a:off x="566928" y="3749039"/>
            <a:ext cx="629107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3931920"/>
            <a:ext cx="7040880" cy="822960"/>
          </a:xfrm>
          <a:prstGeom prst="rect">
            <a:avLst/>
          </a:prstGeom>
          <a:noFill/>
        </p:spPr>
        <p:txBody>
          <a:bodyPr wrap="square" lIns="0" tIns="0" rIns="0" bIns="0" anchor="t"/>
          <a:lstStyle/>
          <a:p>
            <a:pPr algn="l">
              <a:spcAft>
                <a:spcPts val="600"/>
              </a:spcAft>
            </a:pPr>
            <a:r>
              <a:rPr sz="1700" b="0" i="0">
                <a:solidFill>
                  <a:srgbClr val="222222"/>
                </a:solidFill>
                <a:latin typeface="Arial"/>
              </a:rPr>
              <a:t>Bernard Osangir  &amp;  Tafadzwa Maseko</a:t>
            </a:r>
          </a:p>
          <a:p>
            <a:pPr algn="l">
              <a:spcAft>
                <a:spcPts val="600"/>
              </a:spcAft>
            </a:pPr>
            <a:r>
              <a:rPr sz="1400" b="0" i="0">
                <a:solidFill>
                  <a:srgbClr val="62676D"/>
                </a:solidFill>
                <a:latin typeface="Arial"/>
              </a:rPr>
              <a:t>Based on the official REDCap training videos, projectredcap.org</a:t>
            </a:r>
          </a:p>
        </p:txBody>
      </p:sp>
      <p:pic>
        <p:nvPicPr>
          <p:cNvPr id="10" name="Picture 9" descr="logo.jpeg"/>
          <p:cNvPicPr>
            <a:picLocks noChangeAspect="1"/>
          </p:cNvPicPr>
          <p:nvPr/>
        </p:nvPicPr>
        <p:blipFill>
          <a:blip r:embed="rId3"/>
          <a:stretch>
            <a:fillRect/>
          </a:stretch>
        </p:blipFill>
        <p:spPr>
          <a:xfrm>
            <a:off x="457200" y="5120640"/>
            <a:ext cx="2743200" cy="12710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Learning objectives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a:t>
            </a:r>
          </a:p>
        </p:txBody>
      </p:sp>
      <p:sp>
        <p:nvSpPr>
          <p:cNvPr id="8" name="TextBox 7"/>
          <p:cNvSpPr txBox="1"/>
          <p:nvPr/>
        </p:nvSpPr>
        <p:spPr>
          <a:xfrm>
            <a:off x="548640" y="1417320"/>
            <a:ext cx="10058400" cy="365760"/>
          </a:xfrm>
          <a:prstGeom prst="rect">
            <a:avLst/>
          </a:prstGeom>
          <a:noFill/>
        </p:spPr>
        <p:txBody>
          <a:bodyPr wrap="square" lIns="0" tIns="0" rIns="0" bIns="0" anchor="t"/>
          <a:lstStyle/>
          <a:p>
            <a:pPr algn="l">
              <a:spcAft>
                <a:spcPts val="600"/>
              </a:spcAft>
            </a:pPr>
            <a:r>
              <a:rPr sz="1800" b="0" i="0">
                <a:solidFill>
                  <a:srgbClr val="222222"/>
                </a:solidFill>
                <a:latin typeface="Arial"/>
              </a:rPr>
              <a:t>By the end of this session you can:</a:t>
            </a:r>
          </a:p>
        </p:txBody>
      </p:sp>
      <p:pic>
        <p:nvPicPr>
          <p:cNvPr id="9" name="Picture 8" descr="F0E3_1E88C8.png"/>
          <p:cNvPicPr>
            <a:picLocks noChangeAspect="1"/>
          </p:cNvPicPr>
          <p:nvPr/>
        </p:nvPicPr>
        <p:blipFill>
          <a:blip r:embed="rId3"/>
          <a:stretch>
            <a:fillRect/>
          </a:stretch>
        </p:blipFill>
        <p:spPr>
          <a:xfrm>
            <a:off x="731520" y="2057400"/>
            <a:ext cx="457200" cy="457200"/>
          </a:xfrm>
          <a:prstGeom prst="rect">
            <a:avLst/>
          </a:prstGeom>
        </p:spPr>
      </p:pic>
      <p:sp>
        <p:nvSpPr>
          <p:cNvPr id="10" name="TextBox 9"/>
          <p:cNvSpPr txBox="1"/>
          <p:nvPr/>
        </p:nvSpPr>
        <p:spPr>
          <a:xfrm>
            <a:off x="1371600" y="2075688"/>
            <a:ext cx="9875520" cy="749808"/>
          </a:xfrm>
          <a:prstGeom prst="rect">
            <a:avLst/>
          </a:prstGeom>
          <a:noFill/>
        </p:spPr>
        <p:txBody>
          <a:bodyPr wrap="square" lIns="0" tIns="0" rIns="0" bIns="0" anchor="t"/>
          <a:lstStyle/>
          <a:p>
            <a:pPr algn="l">
              <a:spcAft>
                <a:spcPts val="600"/>
              </a:spcAft>
            </a:pPr>
            <a:r>
              <a:rPr sz="1800" b="1" i="0">
                <a:solidFill>
                  <a:srgbClr val="1E88C8"/>
                </a:solidFill>
                <a:latin typeface="Arial"/>
              </a:rPr>
              <a:t>Build</a:t>
            </a:r>
            <a:r>
              <a:rPr sz="1800" b="0" i="0">
                <a:solidFill>
                  <a:srgbClr val="222222"/>
                </a:solidFill>
                <a:latin typeface="Arial"/>
              </a:rPr>
              <a:t>  instruments in the Online Designer and with a data dictionary</a:t>
            </a:r>
          </a:p>
        </p:txBody>
      </p:sp>
      <p:pic>
        <p:nvPicPr>
          <p:cNvPr id="11" name="Picture 10" descr="E9D5_1E88C8.png"/>
          <p:cNvPicPr>
            <a:picLocks noChangeAspect="1"/>
          </p:cNvPicPr>
          <p:nvPr/>
        </p:nvPicPr>
        <p:blipFill>
          <a:blip r:embed="rId4"/>
          <a:stretch>
            <a:fillRect/>
          </a:stretch>
        </p:blipFill>
        <p:spPr>
          <a:xfrm>
            <a:off x="731520" y="2807208"/>
            <a:ext cx="457200" cy="457200"/>
          </a:xfrm>
          <a:prstGeom prst="rect">
            <a:avLst/>
          </a:prstGeom>
        </p:spPr>
      </p:pic>
      <p:sp>
        <p:nvSpPr>
          <p:cNvPr id="12" name="TextBox 11"/>
          <p:cNvSpPr txBox="1"/>
          <p:nvPr/>
        </p:nvSpPr>
        <p:spPr>
          <a:xfrm>
            <a:off x="1371600" y="2825496"/>
            <a:ext cx="9875520" cy="749808"/>
          </a:xfrm>
          <a:prstGeom prst="rect">
            <a:avLst/>
          </a:prstGeom>
          <a:noFill/>
        </p:spPr>
        <p:txBody>
          <a:bodyPr wrap="square" lIns="0" tIns="0" rIns="0" bIns="0" anchor="t"/>
          <a:lstStyle/>
          <a:p>
            <a:pPr algn="l">
              <a:spcAft>
                <a:spcPts val="600"/>
              </a:spcAft>
            </a:pPr>
            <a:r>
              <a:rPr sz="1800" b="1" i="0">
                <a:solidFill>
                  <a:srgbClr val="1E88C8"/>
                </a:solidFill>
                <a:latin typeface="Arial"/>
              </a:rPr>
              <a:t>Validate</a:t>
            </a:r>
            <a:r>
              <a:rPr sz="1800" b="0" i="0">
                <a:solidFill>
                  <a:srgbClr val="222222"/>
                </a:solidFill>
                <a:latin typeface="Arial"/>
              </a:rPr>
              <a:t>  data at entry: field types, ranges, branching logic, calculations</a:t>
            </a:r>
          </a:p>
        </p:txBody>
      </p:sp>
      <p:pic>
        <p:nvPicPr>
          <p:cNvPr id="13" name="Picture 12" descr="E787_1E88C8.png"/>
          <p:cNvPicPr>
            <a:picLocks noChangeAspect="1"/>
          </p:cNvPicPr>
          <p:nvPr/>
        </p:nvPicPr>
        <p:blipFill>
          <a:blip r:embed="rId5"/>
          <a:stretch>
            <a:fillRect/>
          </a:stretch>
        </p:blipFill>
        <p:spPr>
          <a:xfrm>
            <a:off x="731520" y="3557015"/>
            <a:ext cx="457200" cy="457200"/>
          </a:xfrm>
          <a:prstGeom prst="rect">
            <a:avLst/>
          </a:prstGeom>
        </p:spPr>
      </p:pic>
      <p:sp>
        <p:nvSpPr>
          <p:cNvPr id="14" name="TextBox 13"/>
          <p:cNvSpPr txBox="1"/>
          <p:nvPr/>
        </p:nvSpPr>
        <p:spPr>
          <a:xfrm>
            <a:off x="1371600" y="3575303"/>
            <a:ext cx="9875520" cy="749808"/>
          </a:xfrm>
          <a:prstGeom prst="rect">
            <a:avLst/>
          </a:prstGeom>
          <a:noFill/>
        </p:spPr>
        <p:txBody>
          <a:bodyPr wrap="square" lIns="0" tIns="0" rIns="0" bIns="0" anchor="t"/>
          <a:lstStyle/>
          <a:p>
            <a:pPr algn="l">
              <a:spcAft>
                <a:spcPts val="600"/>
              </a:spcAft>
            </a:pPr>
            <a:r>
              <a:rPr sz="1800" b="1" i="0">
                <a:solidFill>
                  <a:srgbClr val="1E88C8"/>
                </a:solidFill>
                <a:latin typeface="Arial"/>
              </a:rPr>
              <a:t>Choose</a:t>
            </a:r>
            <a:r>
              <a:rPr sz="1800" b="0" i="0">
                <a:solidFill>
                  <a:srgbClr val="222222"/>
                </a:solidFill>
                <a:latin typeface="Arial"/>
              </a:rPr>
              <a:t>  the right project type, and set up events and repeating forms</a:t>
            </a:r>
          </a:p>
        </p:txBody>
      </p:sp>
      <p:pic>
        <p:nvPicPr>
          <p:cNvPr id="15" name="Picture 14" descr="E716_1E88C8.png"/>
          <p:cNvPicPr>
            <a:picLocks noChangeAspect="1"/>
          </p:cNvPicPr>
          <p:nvPr/>
        </p:nvPicPr>
        <p:blipFill>
          <a:blip r:embed="rId6"/>
          <a:stretch>
            <a:fillRect/>
          </a:stretch>
        </p:blipFill>
        <p:spPr>
          <a:xfrm>
            <a:off x="731520" y="4306824"/>
            <a:ext cx="457200" cy="457200"/>
          </a:xfrm>
          <a:prstGeom prst="rect">
            <a:avLst/>
          </a:prstGeom>
        </p:spPr>
      </p:pic>
      <p:sp>
        <p:nvSpPr>
          <p:cNvPr id="16" name="TextBox 15"/>
          <p:cNvSpPr txBox="1"/>
          <p:nvPr/>
        </p:nvSpPr>
        <p:spPr>
          <a:xfrm>
            <a:off x="1371600" y="4325112"/>
            <a:ext cx="9875520" cy="749808"/>
          </a:xfrm>
          <a:prstGeom prst="rect">
            <a:avLst/>
          </a:prstGeom>
          <a:noFill/>
        </p:spPr>
        <p:txBody>
          <a:bodyPr wrap="square" lIns="0" tIns="0" rIns="0" bIns="0" anchor="t"/>
          <a:lstStyle/>
          <a:p>
            <a:pPr algn="l">
              <a:spcAft>
                <a:spcPts val="600"/>
              </a:spcAft>
            </a:pPr>
            <a:r>
              <a:rPr sz="1800" b="1" i="0">
                <a:solidFill>
                  <a:srgbClr val="1E88C8"/>
                </a:solidFill>
                <a:latin typeface="Arial"/>
              </a:rPr>
              <a:t>Run</a:t>
            </a:r>
            <a:r>
              <a:rPr sz="1800" b="0" i="0">
                <a:solidFill>
                  <a:srgbClr val="222222"/>
                </a:solidFill>
                <a:latin typeface="Arial"/>
              </a:rPr>
              <a:t>  a multi-site project with Data Access Groups, queries and locking</a:t>
            </a:r>
          </a:p>
        </p:txBody>
      </p:sp>
      <p:pic>
        <p:nvPicPr>
          <p:cNvPr id="17" name="Picture 16" descr="E896_1E88C8.png"/>
          <p:cNvPicPr>
            <a:picLocks noChangeAspect="1"/>
          </p:cNvPicPr>
          <p:nvPr/>
        </p:nvPicPr>
        <p:blipFill>
          <a:blip r:embed="rId7"/>
          <a:stretch>
            <a:fillRect/>
          </a:stretch>
        </p:blipFill>
        <p:spPr>
          <a:xfrm>
            <a:off x="731520" y="5056631"/>
            <a:ext cx="457200" cy="457200"/>
          </a:xfrm>
          <a:prstGeom prst="rect">
            <a:avLst/>
          </a:prstGeom>
        </p:spPr>
      </p:pic>
      <p:sp>
        <p:nvSpPr>
          <p:cNvPr id="18" name="TextBox 17"/>
          <p:cNvSpPr txBox="1"/>
          <p:nvPr/>
        </p:nvSpPr>
        <p:spPr>
          <a:xfrm>
            <a:off x="1371600" y="5074919"/>
            <a:ext cx="9875520" cy="749808"/>
          </a:xfrm>
          <a:prstGeom prst="rect">
            <a:avLst/>
          </a:prstGeom>
          <a:noFill/>
        </p:spPr>
        <p:txBody>
          <a:bodyPr wrap="square" lIns="0" tIns="0" rIns="0" bIns="0" anchor="t"/>
          <a:lstStyle/>
          <a:p>
            <a:pPr algn="l">
              <a:spcAft>
                <a:spcPts val="600"/>
              </a:spcAft>
            </a:pPr>
            <a:r>
              <a:rPr sz="1800" b="1" i="0">
                <a:solidFill>
                  <a:srgbClr val="1E88C8"/>
                </a:solidFill>
                <a:latin typeface="Arial"/>
              </a:rPr>
              <a:t>Export</a:t>
            </a:r>
            <a:r>
              <a:rPr sz="1800" b="0" i="0">
                <a:solidFill>
                  <a:srgbClr val="222222"/>
                </a:solidFill>
                <a:latin typeface="Arial"/>
              </a:rPr>
              <a:t>  data to R or Stata without identifiers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Six topics, then a hands-on lab</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a:t>
            </a:r>
          </a:p>
        </p:txBody>
      </p:sp>
      <p:sp>
        <p:nvSpPr>
          <p:cNvPr id="8" name="Oval 7"/>
          <p:cNvSpPr/>
          <p:nvPr/>
        </p:nvSpPr>
        <p:spPr>
          <a:xfrm>
            <a:off x="731520" y="1463040"/>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371600" y="1417320"/>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Getting started</a:t>
            </a:r>
          </a:p>
        </p:txBody>
      </p:sp>
      <p:cxnSp>
        <p:nvCxnSpPr>
          <p:cNvPr id="10" name="Connector 9"/>
          <p:cNvCxnSpPr/>
          <p:nvPr/>
        </p:nvCxnSpPr>
        <p:spPr>
          <a:xfrm>
            <a:off x="1371600" y="2057400"/>
            <a:ext cx="667512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31520" y="2176272"/>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2" name="TextBox 11"/>
          <p:cNvSpPr txBox="1"/>
          <p:nvPr/>
        </p:nvSpPr>
        <p:spPr>
          <a:xfrm>
            <a:off x="1371600" y="2130552"/>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Building instruments</a:t>
            </a:r>
          </a:p>
        </p:txBody>
      </p:sp>
      <p:cxnSp>
        <p:nvCxnSpPr>
          <p:cNvPr id="13" name="Connector 12"/>
          <p:cNvCxnSpPr/>
          <p:nvPr/>
        </p:nvCxnSpPr>
        <p:spPr>
          <a:xfrm>
            <a:off x="1371600" y="2770632"/>
            <a:ext cx="667512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31520" y="2889504"/>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3</a:t>
            </a:r>
          </a:p>
        </p:txBody>
      </p:sp>
      <p:sp>
        <p:nvSpPr>
          <p:cNvPr id="15" name="TextBox 14"/>
          <p:cNvSpPr txBox="1"/>
          <p:nvPr/>
        </p:nvSpPr>
        <p:spPr>
          <a:xfrm>
            <a:off x="1371600" y="2843784"/>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Choosing a project type</a:t>
            </a:r>
          </a:p>
        </p:txBody>
      </p:sp>
      <p:cxnSp>
        <p:nvCxnSpPr>
          <p:cNvPr id="16" name="Connector 15"/>
          <p:cNvCxnSpPr/>
          <p:nvPr/>
        </p:nvCxnSpPr>
        <p:spPr>
          <a:xfrm>
            <a:off x="1371600" y="3483864"/>
            <a:ext cx="667512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31520" y="3602735"/>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4</a:t>
            </a:r>
          </a:p>
        </p:txBody>
      </p:sp>
      <p:sp>
        <p:nvSpPr>
          <p:cNvPr id="18" name="TextBox 17"/>
          <p:cNvSpPr txBox="1"/>
          <p:nvPr/>
        </p:nvSpPr>
        <p:spPr>
          <a:xfrm>
            <a:off x="1371600" y="3557015"/>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Longitudinal and repeating data</a:t>
            </a:r>
          </a:p>
        </p:txBody>
      </p:sp>
      <p:cxnSp>
        <p:nvCxnSpPr>
          <p:cNvPr id="19" name="Connector 18"/>
          <p:cNvCxnSpPr/>
          <p:nvPr/>
        </p:nvCxnSpPr>
        <p:spPr>
          <a:xfrm>
            <a:off x="1371600" y="4197096"/>
            <a:ext cx="667512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31520" y="4315968"/>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5</a:t>
            </a:r>
          </a:p>
        </p:txBody>
      </p:sp>
      <p:sp>
        <p:nvSpPr>
          <p:cNvPr id="21" name="TextBox 20"/>
          <p:cNvSpPr txBox="1"/>
          <p:nvPr/>
        </p:nvSpPr>
        <p:spPr>
          <a:xfrm>
            <a:off x="1371600" y="4270248"/>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Data entry, quality and multi-site work</a:t>
            </a:r>
          </a:p>
        </p:txBody>
      </p:sp>
      <p:cxnSp>
        <p:nvCxnSpPr>
          <p:cNvPr id="22" name="Connector 21"/>
          <p:cNvCxnSpPr/>
          <p:nvPr/>
        </p:nvCxnSpPr>
        <p:spPr>
          <a:xfrm>
            <a:off x="1371600" y="4910328"/>
            <a:ext cx="6675120" cy="0"/>
          </a:xfrm>
          <a:prstGeom prst="line">
            <a:avLst/>
          </a:prstGeom>
          <a:ln w="9525">
            <a:solidFill>
              <a:srgbClr val="C9CED3"/>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1520" y="5029200"/>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6</a:t>
            </a:r>
          </a:p>
        </p:txBody>
      </p:sp>
      <p:sp>
        <p:nvSpPr>
          <p:cNvPr id="24" name="TextBox 23"/>
          <p:cNvSpPr txBox="1"/>
          <p:nvPr/>
        </p:nvSpPr>
        <p:spPr>
          <a:xfrm>
            <a:off x="1371600" y="4983480"/>
            <a:ext cx="6858000" cy="548640"/>
          </a:xfrm>
          <a:prstGeom prst="rect">
            <a:avLst/>
          </a:prstGeom>
          <a:noFill/>
        </p:spPr>
        <p:txBody>
          <a:bodyPr wrap="square" lIns="0" tIns="0" rIns="0" bIns="0" anchor="ctr"/>
          <a:lstStyle/>
          <a:p>
            <a:pPr algn="l">
              <a:spcAft>
                <a:spcPts val="600"/>
              </a:spcAft>
            </a:pPr>
            <a:r>
              <a:rPr sz="2000" b="0" i="0">
                <a:solidFill>
                  <a:srgbClr val="222222"/>
                </a:solidFill>
                <a:latin typeface="Arial"/>
              </a:rPr>
              <a:t>Users, exports and going live</a:t>
            </a:r>
          </a:p>
        </p:txBody>
      </p:sp>
      <p:sp>
        <p:nvSpPr>
          <p:cNvPr id="25" name="Oval 24"/>
          <p:cNvSpPr/>
          <p:nvPr/>
        </p:nvSpPr>
        <p:spPr>
          <a:xfrm>
            <a:off x="731520" y="5742431"/>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L</a:t>
            </a:r>
          </a:p>
        </p:txBody>
      </p:sp>
      <p:sp>
        <p:nvSpPr>
          <p:cNvPr id="26" name="TextBox 25"/>
          <p:cNvSpPr txBox="1"/>
          <p:nvPr/>
        </p:nvSpPr>
        <p:spPr>
          <a:xfrm>
            <a:off x="1371600" y="5696712"/>
            <a:ext cx="6858000" cy="548640"/>
          </a:xfrm>
          <a:prstGeom prst="rect">
            <a:avLst/>
          </a:prstGeom>
          <a:noFill/>
        </p:spPr>
        <p:txBody>
          <a:bodyPr wrap="square" lIns="0" tIns="0" rIns="0" bIns="0" anchor="ctr"/>
          <a:lstStyle/>
          <a:p>
            <a:pPr algn="l">
              <a:spcAft>
                <a:spcPts val="600"/>
              </a:spcAft>
            </a:pPr>
            <a:r>
              <a:rPr sz="2000" b="1" i="0">
                <a:solidFill>
                  <a:srgbClr val="C8102E"/>
                </a:solidFill>
                <a:latin typeface="Arial"/>
              </a:rPr>
              <a:t>Hands-on lab: build TBCARE</a:t>
            </a:r>
          </a:p>
        </p:txBody>
      </p:sp>
      <p:sp>
        <p:nvSpPr>
          <p:cNvPr id="27" name="Rectangle 26"/>
          <p:cNvSpPr/>
          <p:nvPr/>
        </p:nvSpPr>
        <p:spPr>
          <a:xfrm>
            <a:off x="8778240" y="1417320"/>
            <a:ext cx="286207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E7F8_FFFFFF.png"/>
          <p:cNvPicPr>
            <a:picLocks noChangeAspect="1"/>
          </p:cNvPicPr>
          <p:nvPr/>
        </p:nvPicPr>
        <p:blipFill>
          <a:blip r:embed="rId3"/>
          <a:stretch>
            <a:fillRect/>
          </a:stretch>
        </p:blipFill>
        <p:spPr>
          <a:xfrm>
            <a:off x="8887967" y="1481328"/>
            <a:ext cx="329184" cy="329184"/>
          </a:xfrm>
          <a:prstGeom prst="rect">
            <a:avLst/>
          </a:prstGeom>
        </p:spPr>
      </p:pic>
      <p:sp>
        <p:nvSpPr>
          <p:cNvPr id="29" name="TextBox 28"/>
          <p:cNvSpPr txBox="1"/>
          <p:nvPr/>
        </p:nvSpPr>
        <p:spPr>
          <a:xfrm>
            <a:off x="9326880" y="1417320"/>
            <a:ext cx="2221992" cy="457200"/>
          </a:xfrm>
          <a:prstGeom prst="rect">
            <a:avLst/>
          </a:prstGeom>
          <a:noFill/>
        </p:spPr>
        <p:txBody>
          <a:bodyPr wrap="square" lIns="0" tIns="0" rIns="0" bIns="0" anchor="ctr"/>
          <a:lstStyle/>
          <a:p>
            <a:pPr algn="l">
              <a:spcAft>
                <a:spcPts val="600"/>
              </a:spcAft>
            </a:pPr>
            <a:r>
              <a:rPr sz="1500" b="1" i="0">
                <a:solidFill>
                  <a:srgbClr val="FFFFFF"/>
                </a:solidFill>
                <a:latin typeface="Arial"/>
              </a:rPr>
              <a:t>You need</a:t>
            </a:r>
          </a:p>
        </p:txBody>
      </p:sp>
      <p:sp>
        <p:nvSpPr>
          <p:cNvPr id="30" name="Rectangle 29"/>
          <p:cNvSpPr/>
          <p:nvPr/>
        </p:nvSpPr>
        <p:spPr>
          <a:xfrm>
            <a:off x="8778240" y="1874519"/>
            <a:ext cx="2862072" cy="265176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15400" y="1984248"/>
            <a:ext cx="2587752" cy="2468880"/>
          </a:xfrm>
          <a:prstGeom prst="rect">
            <a:avLst/>
          </a:prstGeom>
          <a:noFill/>
        </p:spPr>
        <p:txBody>
          <a:bodyPr wrap="square" lIns="0" tIns="0" rIns="0" bIns="0" anchor="t"/>
          <a:lstStyle/>
          <a:p>
            <a:pPr algn="l">
              <a:spcAft>
                <a:spcPts val="400"/>
              </a:spcAft>
            </a:pPr>
            <a:r>
              <a:rPr sz="1500" b="0" i="0">
                <a:solidFill>
                  <a:srgbClr val="222222"/>
                </a:solidFill>
                <a:latin typeface="Arial"/>
              </a:rPr>
              <a:t>A laptop</a:t>
            </a:r>
          </a:p>
          <a:p>
            <a:pPr algn="l">
              <a:spcAft>
                <a:spcPts val="400"/>
              </a:spcAft>
            </a:pPr>
            <a:r>
              <a:rPr sz="1500" b="0" i="0">
                <a:solidFill>
                  <a:srgbClr val="222222"/>
                </a:solidFill>
                <a:latin typeface="Arial"/>
              </a:rPr>
              <a:t>Your REDCap login</a:t>
            </a:r>
          </a:p>
          <a:p>
            <a:pPr algn="l">
              <a:spcAft>
                <a:spcPts val="400"/>
              </a:spcAft>
            </a:pPr>
            <a:r>
              <a:rPr sz="1500" b="0" i="0">
                <a:solidFill>
                  <a:srgbClr val="222222"/>
                </a:solidFill>
                <a:latin typeface="Arial"/>
              </a:rPr>
              <a:t>The TBCARE case study (Part 2)</a:t>
            </a:r>
          </a:p>
          <a:p>
            <a:pPr algn="l">
              <a:spcAft>
                <a:spcPts val="400"/>
              </a:spcAft>
            </a:pPr>
            <a:r>
              <a:rPr sz="1500" b="1" i="0">
                <a:solidFill>
                  <a:srgbClr val="C8102E"/>
                </a:solidFill>
                <a:latin typeface="Arial"/>
              </a:rPr>
              <a:t>Fake data only</a:t>
            </a:r>
          </a:p>
        </p:txBody>
      </p:sp>
      <p:sp>
        <p:nvSpPr>
          <p:cNvPr id="32" name="TextBox 31"/>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official REDCap videos, and where they fit today</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a:t>
            </a:r>
          </a:p>
        </p:txBody>
      </p:sp>
      <p:graphicFrame>
        <p:nvGraphicFramePr>
          <p:cNvPr id="8" name="Table 7"/>
          <p:cNvGraphicFramePr>
            <a:graphicFrameLocks noGrp="1"/>
          </p:cNvGraphicFramePr>
          <p:nvPr/>
        </p:nvGraphicFramePr>
        <p:xfrm>
          <a:off x="548640" y="1417320"/>
          <a:ext cx="11091671" cy="384048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gridCol w="1033271">
                  <a:extLst>
                    <a:ext uri="{9D8B030D-6E8A-4147-A177-3AD203B41FA5}">
                      <a16:colId xmlns:a16="http://schemas.microsoft.com/office/drawing/2014/main" val="20002"/>
                    </a:ext>
                  </a:extLst>
                </a:gridCol>
              </a:tblGrid>
              <a:tr h="411480">
                <a:tc>
                  <a:txBody>
                    <a:bodyPr/>
                    <a:lstStyle/>
                    <a:p>
                      <a:pPr algn="l">
                        <a:spcAft>
                          <a:spcPts val="0"/>
                        </a:spcAft>
                      </a:pPr>
                      <a:r>
                        <a:rPr sz="1300" b="1" i="0">
                          <a:solidFill>
                            <a:srgbClr val="FFFFFF"/>
                          </a:solidFill>
                          <a:latin typeface="Arial"/>
                        </a:rPr>
                        <a:t>Video set</a:t>
                      </a:r>
                    </a:p>
                  </a:txBody>
                  <a:tcPr marT="36576" marB="36576" anchor="ctr">
                    <a:solidFill>
                      <a:srgbClr val="41464C"/>
                    </a:solidFill>
                  </a:tcPr>
                </a:tc>
                <a:tc>
                  <a:txBody>
                    <a:bodyPr/>
                    <a:lstStyle/>
                    <a:p>
                      <a:pPr algn="l">
                        <a:spcAft>
                          <a:spcPts val="0"/>
                        </a:spcAft>
                      </a:pPr>
                      <a:r>
                        <a:rPr sz="1300" b="1" i="0">
                          <a:solidFill>
                            <a:srgbClr val="FFFFFF"/>
                          </a:solidFill>
                          <a:latin typeface="Arial"/>
                        </a:rPr>
                        <a:t>Videos (minutes)</a:t>
                      </a:r>
                    </a:p>
                  </a:txBody>
                  <a:tcPr marT="36576" marB="36576" anchor="ctr">
                    <a:solidFill>
                      <a:srgbClr val="41464C"/>
                    </a:solidFill>
                  </a:tcPr>
                </a:tc>
                <a:tc>
                  <a:txBody>
                    <a:bodyPr/>
                    <a:lstStyle/>
                    <a:p>
                      <a:pPr algn="ctr">
                        <a:spcAft>
                          <a:spcPts val="0"/>
                        </a:spcAft>
                      </a:pPr>
                      <a:r>
                        <a:rPr sz="1300" b="1" i="0">
                          <a:solidFill>
                            <a:srgbClr val="FFFFFF"/>
                          </a:solidFill>
                          <a:latin typeface="Arial"/>
                        </a:rPr>
                        <a:t>Topic</a:t>
                      </a:r>
                    </a:p>
                  </a:txBody>
                  <a:tcPr marT="36576" marB="36576" anchor="ctr">
                    <a:solidFill>
                      <a:srgbClr val="41464C"/>
                    </a:solidFill>
                  </a:tcPr>
                </a:tc>
                <a:extLst>
                  <a:ext uri="{0D108BD9-81ED-4DB2-BD59-A6C34878D82A}">
                    <a16:rowId xmlns:a16="http://schemas.microsoft.com/office/drawing/2014/main" val="10000"/>
                  </a:ext>
                </a:extLst>
              </a:tr>
              <a:tr h="548640">
                <a:tc>
                  <a:txBody>
                    <a:bodyPr/>
                    <a:lstStyle/>
                    <a:p>
                      <a:pPr algn="l">
                        <a:spcAft>
                          <a:spcPts val="0"/>
                        </a:spcAft>
                      </a:pPr>
                      <a:r>
                        <a:rPr sz="1300" b="1" i="0">
                          <a:solidFill>
                            <a:srgbClr val="222222"/>
                          </a:solidFill>
                          <a:latin typeface="Arial"/>
                        </a:rPr>
                        <a:t>Introductory overviews</a:t>
                      </a:r>
                    </a:p>
                  </a:txBody>
                  <a:tcPr marT="36576" marB="36576" anchor="ctr">
                    <a:solidFill>
                      <a:srgbClr val="FFFFFF"/>
                    </a:solidFill>
                  </a:tcPr>
                </a:tc>
                <a:tc>
                  <a:txBody>
                    <a:bodyPr/>
                    <a:lstStyle/>
                    <a:p>
                      <a:pPr algn="l">
                        <a:spcAft>
                          <a:spcPts val="0"/>
                        </a:spcAft>
                      </a:pPr>
                      <a:r>
                        <a:rPr sz="1300" b="0" i="0">
                          <a:solidFill>
                            <a:srgbClr val="222222"/>
                          </a:solidFill>
                          <a:latin typeface="Arial"/>
                        </a:rPr>
                        <a:t>Brief overview (7)  ·  Detailed overview (14)</a:t>
                      </a:r>
                    </a:p>
                  </a:txBody>
                  <a:tcPr marT="36576" marB="36576" anchor="ctr">
                    <a:solidFill>
                      <a:srgbClr val="FFFFFF"/>
                    </a:solidFill>
                  </a:tcPr>
                </a:tc>
                <a:tc>
                  <a:txBody>
                    <a:bodyPr/>
                    <a:lstStyle/>
                    <a:p>
                      <a:pPr algn="ctr">
                        <a:spcAft>
                          <a:spcPts val="0"/>
                        </a:spcAft>
                      </a:pPr>
                      <a:r>
                        <a:rPr sz="1300" b="0" i="0">
                          <a:solidFill>
                            <a:srgbClr val="222222"/>
                          </a:solidFill>
                          <a:latin typeface="Arial"/>
                        </a:rPr>
                        <a:t>1</a:t>
                      </a:r>
                    </a:p>
                  </a:txBody>
                  <a:tcPr marT="36576" marB="36576" anchor="ctr">
                    <a:solidFill>
                      <a:srgbClr val="FFFFFF"/>
                    </a:solidFill>
                  </a:tcPr>
                </a:tc>
                <a:extLst>
                  <a:ext uri="{0D108BD9-81ED-4DB2-BD59-A6C34878D82A}">
                    <a16:rowId xmlns:a16="http://schemas.microsoft.com/office/drawing/2014/main" val="10001"/>
                  </a:ext>
                </a:extLst>
              </a:tr>
              <a:tr h="822960">
                <a:tc>
                  <a:txBody>
                    <a:bodyPr/>
                    <a:lstStyle/>
                    <a:p>
                      <a:pPr algn="l">
                        <a:spcAft>
                          <a:spcPts val="0"/>
                        </a:spcAft>
                      </a:pPr>
                      <a:r>
                        <a:rPr sz="1300" b="1" i="0">
                          <a:solidFill>
                            <a:srgbClr val="222222"/>
                          </a:solidFill>
                          <a:latin typeface="Arial"/>
                        </a:rPr>
                        <a:t>Basic features</a:t>
                      </a:r>
                    </a:p>
                  </a:txBody>
                  <a:tcPr marT="36576" marB="36576" anchor="ctr">
                    <a:solidFill>
                      <a:srgbClr val="F2F4F6"/>
                    </a:solidFill>
                  </a:tcPr>
                </a:tc>
                <a:tc>
                  <a:txBody>
                    <a:bodyPr/>
                    <a:lstStyle/>
                    <a:p>
                      <a:pPr algn="l">
                        <a:spcAft>
                          <a:spcPts val="0"/>
                        </a:spcAft>
                      </a:pPr>
                      <a:r>
                        <a:rPr sz="1300" b="0" i="0">
                          <a:solidFill>
                            <a:srgbClr val="222222"/>
                          </a:solidFill>
                          <a:latin typeface="Arial"/>
                        </a:rPr>
                        <a:t>Instrument development (6)  ·  Online Designer (5)  ·  Data Dictionary (10)  ·  Basic data entry (19)  ·  Applications overview (16)</a:t>
                      </a:r>
                    </a:p>
                  </a:txBody>
                  <a:tcPr marT="36576" marB="36576" anchor="ctr">
                    <a:solidFill>
                      <a:srgbClr val="F2F4F6"/>
                    </a:solidFill>
                  </a:tcPr>
                </a:tc>
                <a:tc>
                  <a:txBody>
                    <a:bodyPr/>
                    <a:lstStyle/>
                    <a:p>
                      <a:pPr algn="ctr">
                        <a:spcAft>
                          <a:spcPts val="0"/>
                        </a:spcAft>
                      </a:pPr>
                      <a:r>
                        <a:rPr sz="1300" b="0" i="0">
                          <a:solidFill>
                            <a:srgbClr val="222222"/>
                          </a:solidFill>
                          <a:latin typeface="Arial"/>
                        </a:rPr>
                        <a:t>2, 5, 6</a:t>
                      </a:r>
                    </a:p>
                  </a:txBody>
                  <a:tcPr marT="36576" marB="36576" anchor="ctr">
                    <a:solidFill>
                      <a:srgbClr val="F2F4F6"/>
                    </a:solidFill>
                  </a:tcPr>
                </a:tc>
                <a:extLst>
                  <a:ext uri="{0D108BD9-81ED-4DB2-BD59-A6C34878D82A}">
                    <a16:rowId xmlns:a16="http://schemas.microsoft.com/office/drawing/2014/main" val="10002"/>
                  </a:ext>
                </a:extLst>
              </a:tr>
              <a:tr h="822960">
                <a:tc>
                  <a:txBody>
                    <a:bodyPr/>
                    <a:lstStyle/>
                    <a:p>
                      <a:pPr algn="l">
                        <a:spcAft>
                          <a:spcPts val="0"/>
                        </a:spcAft>
                      </a:pPr>
                      <a:r>
                        <a:rPr sz="1300" b="1" i="0">
                          <a:solidFill>
                            <a:srgbClr val="222222"/>
                          </a:solidFill>
                          <a:latin typeface="Arial"/>
                        </a:rPr>
                        <a:t>Project types</a:t>
                      </a:r>
                    </a:p>
                  </a:txBody>
                  <a:tcPr marT="36576" marB="36576" anchor="ctr">
                    <a:solidFill>
                      <a:srgbClr val="FFFFFF"/>
                    </a:solidFill>
                  </a:tcPr>
                </a:tc>
                <a:tc>
                  <a:txBody>
                    <a:bodyPr/>
                    <a:lstStyle/>
                    <a:p>
                      <a:pPr algn="l">
                        <a:spcAft>
                          <a:spcPts val="0"/>
                        </a:spcAft>
                      </a:pPr>
                      <a:r>
                        <a:rPr sz="1300" b="0" i="0">
                          <a:solidFill>
                            <a:srgbClr val="222222"/>
                          </a:solidFill>
                          <a:latin typeface="Arial"/>
                        </a:rPr>
                        <a:t>Overview (3)  ·  Traditional (3)  ·  Single survey (5)  ·  Longitudinal (3)  ·  Longitudinal + scheduling (3)  ·  Operations (2)</a:t>
                      </a:r>
                    </a:p>
                  </a:txBody>
                  <a:tcPr marT="36576" marB="36576" anchor="ctr">
                    <a:solidFill>
                      <a:srgbClr val="FFFFFF"/>
                    </a:solidFill>
                  </a:tcPr>
                </a:tc>
                <a:tc>
                  <a:txBody>
                    <a:bodyPr/>
                    <a:lstStyle/>
                    <a:p>
                      <a:pPr algn="ctr">
                        <a:spcAft>
                          <a:spcPts val="0"/>
                        </a:spcAft>
                      </a:pPr>
                      <a:r>
                        <a:rPr sz="1300" b="0" i="0">
                          <a:solidFill>
                            <a:srgbClr val="222222"/>
                          </a:solidFill>
                          <a:latin typeface="Arial"/>
                        </a:rPr>
                        <a:t>3</a:t>
                      </a:r>
                    </a:p>
                  </a:txBody>
                  <a:tcPr marT="36576" marB="36576" anchor="ctr">
                    <a:solidFill>
                      <a:srgbClr val="FFFFFF"/>
                    </a:solidFill>
                  </a:tcPr>
                </a:tc>
                <a:extLst>
                  <a:ext uri="{0D108BD9-81ED-4DB2-BD59-A6C34878D82A}">
                    <a16:rowId xmlns:a16="http://schemas.microsoft.com/office/drawing/2014/main" val="10003"/>
                  </a:ext>
                </a:extLst>
              </a:tr>
              <a:tr h="1234440">
                <a:tc>
                  <a:txBody>
                    <a:bodyPr/>
                    <a:lstStyle/>
                    <a:p>
                      <a:pPr algn="l">
                        <a:spcAft>
                          <a:spcPts val="0"/>
                        </a:spcAft>
                      </a:pPr>
                      <a:r>
                        <a:rPr sz="1300" b="1" i="0">
                          <a:solidFill>
                            <a:srgbClr val="222222"/>
                          </a:solidFill>
                          <a:latin typeface="Arial"/>
                        </a:rPr>
                        <a:t>Special topics</a:t>
                      </a:r>
                    </a:p>
                  </a:txBody>
                  <a:tcPr marT="36576" marB="36576" anchor="ctr">
                    <a:solidFill>
                      <a:srgbClr val="F2F4F6"/>
                    </a:solidFill>
                  </a:tcPr>
                </a:tc>
                <a:tc>
                  <a:txBody>
                    <a:bodyPr/>
                    <a:lstStyle/>
                    <a:p>
                      <a:pPr algn="l">
                        <a:spcAft>
                          <a:spcPts val="0"/>
                        </a:spcAft>
                      </a:pPr>
                      <a:r>
                        <a:rPr sz="1300" b="0" i="0">
                          <a:solidFill>
                            <a:srgbClr val="222222"/>
                          </a:solidFill>
                          <a:latin typeface="Arial"/>
                        </a:rPr>
                        <a:t>Field types (4)  ·  Mobile App (2)  ·  Calendar (7)  ·  Data Access Groups (7)  ·  Data queries (5)  ·  Locking records (2)  ·  Defining events (5)  ·  Designating instruments (3)  ·  Scheduling (7)  ·  Repeating instruments and events (33)</a:t>
                      </a:r>
                    </a:p>
                  </a:txBody>
                  <a:tcPr marT="36576" marB="36576" anchor="ctr">
                    <a:solidFill>
                      <a:srgbClr val="F2F4F6"/>
                    </a:solidFill>
                  </a:tcPr>
                </a:tc>
                <a:tc>
                  <a:txBody>
                    <a:bodyPr/>
                    <a:lstStyle/>
                    <a:p>
                      <a:pPr algn="ctr">
                        <a:spcAft>
                          <a:spcPts val="0"/>
                        </a:spcAft>
                      </a:pPr>
                      <a:r>
                        <a:rPr sz="1300" b="0" i="0">
                          <a:solidFill>
                            <a:srgbClr val="222222"/>
                          </a:solidFill>
                          <a:latin typeface="Arial"/>
                        </a:rPr>
                        <a:t>2, 4, 5</a:t>
                      </a:r>
                    </a:p>
                  </a:txBody>
                  <a:tcPr marT="36576" marB="36576" anchor="ctr">
                    <a:solidFill>
                      <a:srgbClr val="F2F4F6"/>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548640" y="544068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44068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768_1E88C8.png"/>
          <p:cNvPicPr>
            <a:picLocks noChangeAspect="1"/>
          </p:cNvPicPr>
          <p:nvPr/>
        </p:nvPicPr>
        <p:blipFill>
          <a:blip r:embed="rId3"/>
          <a:stretch>
            <a:fillRect/>
          </a:stretch>
        </p:blipFill>
        <p:spPr>
          <a:xfrm>
            <a:off x="777240" y="5532120"/>
            <a:ext cx="365760" cy="365760"/>
          </a:xfrm>
          <a:prstGeom prst="rect">
            <a:avLst/>
          </a:prstGeom>
        </p:spPr>
      </p:pic>
      <p:sp>
        <p:nvSpPr>
          <p:cNvPr id="12" name="TextBox 11"/>
          <p:cNvSpPr txBox="1"/>
          <p:nvPr/>
        </p:nvSpPr>
        <p:spPr>
          <a:xfrm>
            <a:off x="1280160" y="544068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Before the lab, watch the </a:t>
            </a:r>
            <a:r>
              <a:rPr sz="1500" b="1" i="0">
                <a:solidFill>
                  <a:srgbClr val="1E88C8"/>
                </a:solidFill>
                <a:latin typeface="Arial"/>
              </a:rPr>
              <a:t>two overviews</a:t>
            </a:r>
            <a:r>
              <a:rPr sz="1500" b="0" i="0">
                <a:solidFill>
                  <a:srgbClr val="222222"/>
                </a:solidFill>
                <a:latin typeface="Arial"/>
              </a:rPr>
              <a:t> (21 min). Videos may show an older REDCap version.</a:t>
            </a:r>
          </a:p>
        </p:txBody>
      </p:sp>
      <p:sp>
        <p:nvSpPr>
          <p:cNvPr id="13" name="TextBox 12"/>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5</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Rectangle 7"/>
          <p:cNvSpPr/>
          <p:nvPr/>
        </p:nvSpPr>
        <p:spPr>
          <a:xfrm>
            <a:off x="548640" y="1143000"/>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43000"/>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234440"/>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11" name="TextBox 10"/>
          <p:cNvSpPr txBox="1"/>
          <p:nvPr/>
        </p:nvSpPr>
        <p:spPr>
          <a:xfrm>
            <a:off x="1417320" y="1197864"/>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Getting started</a:t>
            </a:r>
          </a:p>
        </p:txBody>
      </p:sp>
      <p:sp>
        <p:nvSpPr>
          <p:cNvPr id="12" name="Oval 11"/>
          <p:cNvSpPr/>
          <p:nvPr/>
        </p:nvSpPr>
        <p:spPr>
          <a:xfrm>
            <a:off x="777240" y="1984248"/>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2</a:t>
            </a:r>
          </a:p>
        </p:txBody>
      </p:sp>
      <p:sp>
        <p:nvSpPr>
          <p:cNvPr id="13" name="TextBox 12"/>
          <p:cNvSpPr txBox="1"/>
          <p:nvPr/>
        </p:nvSpPr>
        <p:spPr>
          <a:xfrm>
            <a:off x="1417320" y="1947672"/>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Building instruments</a:t>
            </a:r>
          </a:p>
        </p:txBody>
      </p:sp>
      <p:sp>
        <p:nvSpPr>
          <p:cNvPr id="14" name="Oval 13"/>
          <p:cNvSpPr/>
          <p:nvPr/>
        </p:nvSpPr>
        <p:spPr>
          <a:xfrm>
            <a:off x="777240" y="2734056"/>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3</a:t>
            </a:r>
          </a:p>
        </p:txBody>
      </p:sp>
      <p:sp>
        <p:nvSpPr>
          <p:cNvPr id="15" name="TextBox 14"/>
          <p:cNvSpPr txBox="1"/>
          <p:nvPr/>
        </p:nvSpPr>
        <p:spPr>
          <a:xfrm>
            <a:off x="1417320" y="2697480"/>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Choosing a project type</a:t>
            </a:r>
          </a:p>
        </p:txBody>
      </p:sp>
      <p:sp>
        <p:nvSpPr>
          <p:cNvPr id="16" name="Oval 15"/>
          <p:cNvSpPr/>
          <p:nvPr/>
        </p:nvSpPr>
        <p:spPr>
          <a:xfrm>
            <a:off x="777240" y="3483864"/>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4</a:t>
            </a:r>
          </a:p>
        </p:txBody>
      </p:sp>
      <p:sp>
        <p:nvSpPr>
          <p:cNvPr id="17" name="TextBox 16"/>
          <p:cNvSpPr txBox="1"/>
          <p:nvPr/>
        </p:nvSpPr>
        <p:spPr>
          <a:xfrm>
            <a:off x="1417320" y="3447288"/>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Longitudinal and repeating data</a:t>
            </a:r>
          </a:p>
        </p:txBody>
      </p:sp>
      <p:sp>
        <p:nvSpPr>
          <p:cNvPr id="18" name="Oval 17"/>
          <p:cNvSpPr/>
          <p:nvPr/>
        </p:nvSpPr>
        <p:spPr>
          <a:xfrm>
            <a:off x="777240" y="4233672"/>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5</a:t>
            </a:r>
          </a:p>
        </p:txBody>
      </p:sp>
      <p:sp>
        <p:nvSpPr>
          <p:cNvPr id="19" name="TextBox 18"/>
          <p:cNvSpPr txBox="1"/>
          <p:nvPr/>
        </p:nvSpPr>
        <p:spPr>
          <a:xfrm>
            <a:off x="1417320" y="4197096"/>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Data entry, quality and multi-site work</a:t>
            </a:r>
          </a:p>
        </p:txBody>
      </p:sp>
      <p:sp>
        <p:nvSpPr>
          <p:cNvPr id="20" name="Oval 19"/>
          <p:cNvSpPr/>
          <p:nvPr/>
        </p:nvSpPr>
        <p:spPr>
          <a:xfrm>
            <a:off x="777240" y="4983479"/>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1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Getting started</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What REDCap is, and how it supports your DMP</a:t>
            </a:r>
          </a:p>
          <a:p>
            <a:pPr marL="256032" indent="-256032" algn="l">
              <a:spcAft>
                <a:spcPts val="800"/>
              </a:spcAft>
              <a:buClr>
                <a:srgbClr val="1E88C8"/>
              </a:buClr>
              <a:buSzPct val="75000"/>
              <a:buFont typeface="Arial"/>
              <a:buChar char="■"/>
            </a:pPr>
            <a:r>
              <a:rPr sz="1700" b="0" i="0">
                <a:solidFill>
                  <a:srgbClr val="222222"/>
                </a:solidFill>
                <a:latin typeface="Arial"/>
              </a:rPr>
              <a:t>The project lifecycle: development to production</a:t>
            </a:r>
          </a:p>
          <a:p>
            <a:pPr marL="256032" indent="-256032" algn="l">
              <a:spcAft>
                <a:spcPts val="800"/>
              </a:spcAft>
              <a:buClr>
                <a:srgbClr val="1E88C8"/>
              </a:buClr>
              <a:buSzPct val="75000"/>
              <a:buFont typeface="Arial"/>
              <a:buChar char="■"/>
            </a:pPr>
            <a:r>
              <a:rPr sz="1700" b="0" i="0">
                <a:solidFill>
                  <a:srgbClr val="222222"/>
                </a:solidFill>
                <a:latin typeface="Arial"/>
              </a:rPr>
              <a:t>Creating a project</a:t>
            </a:r>
          </a:p>
          <a:p>
            <a:pPr marL="256032" indent="-256032" algn="l">
              <a:spcAft>
                <a:spcPts val="800"/>
              </a:spcAft>
              <a:buClr>
                <a:srgbClr val="1E88C8"/>
              </a:buClr>
              <a:buSzPct val="75000"/>
              <a:buFont typeface="Arial"/>
              <a:buChar char="■"/>
            </a:pPr>
            <a:r>
              <a:rPr sz="1700" b="0" i="0">
                <a:solidFill>
                  <a:srgbClr val="222222"/>
                </a:solidFill>
                <a:latin typeface="Arial"/>
              </a:rPr>
              <a:t>The Project Setup checklist</a:t>
            </a:r>
          </a:p>
        </p:txBody>
      </p:sp>
      <p:sp>
        <p:nvSpPr>
          <p:cNvPr id="27" name="TextBox 2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DMP: Data Management Plan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What is REDCap?</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1 of 6: Getting started</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6</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Brief overview of REDCap (7 min)</a:t>
            </a:r>
          </a:p>
        </p:txBody>
      </p:sp>
      <p:sp>
        <p:nvSpPr>
          <p:cNvPr id="10" name="TextBox 9"/>
          <p:cNvSpPr txBox="1"/>
          <p:nvPr/>
        </p:nvSpPr>
        <p:spPr>
          <a:xfrm>
            <a:off x="548640" y="1463040"/>
            <a:ext cx="1554480" cy="640080"/>
          </a:xfrm>
          <a:prstGeom prst="rect">
            <a:avLst/>
          </a:prstGeom>
          <a:noFill/>
        </p:spPr>
        <p:txBody>
          <a:bodyPr wrap="square" lIns="0" tIns="0" rIns="0" bIns="0" anchor="t"/>
          <a:lstStyle/>
          <a:p>
            <a:pPr algn="l">
              <a:spcAft>
                <a:spcPts val="600"/>
              </a:spcAft>
            </a:pPr>
            <a:r>
              <a:rPr sz="2800" b="1" i="0">
                <a:solidFill>
                  <a:srgbClr val="C8102E"/>
                </a:solidFill>
                <a:latin typeface="Arial"/>
              </a:rPr>
              <a:t>8,400+</a:t>
            </a:r>
          </a:p>
        </p:txBody>
      </p:sp>
      <p:sp>
        <p:nvSpPr>
          <p:cNvPr id="11" name="TextBox 10"/>
          <p:cNvSpPr txBox="1"/>
          <p:nvPr/>
        </p:nvSpPr>
        <p:spPr>
          <a:xfrm>
            <a:off x="548640" y="2121408"/>
            <a:ext cx="1554480" cy="640080"/>
          </a:xfrm>
          <a:prstGeom prst="rect">
            <a:avLst/>
          </a:prstGeom>
          <a:noFill/>
        </p:spPr>
        <p:txBody>
          <a:bodyPr wrap="square" lIns="0" tIns="0" rIns="0" bIns="0" anchor="t"/>
          <a:lstStyle/>
          <a:p>
            <a:pPr algn="l">
              <a:spcAft>
                <a:spcPts val="600"/>
              </a:spcAft>
            </a:pPr>
            <a:r>
              <a:rPr sz="1300" b="0" i="0">
                <a:solidFill>
                  <a:srgbClr val="222222"/>
                </a:solidFill>
                <a:latin typeface="Arial"/>
              </a:rPr>
              <a:t>institutions</a:t>
            </a:r>
          </a:p>
        </p:txBody>
      </p:sp>
      <p:sp>
        <p:nvSpPr>
          <p:cNvPr id="12" name="TextBox 11"/>
          <p:cNvSpPr txBox="1"/>
          <p:nvPr/>
        </p:nvSpPr>
        <p:spPr>
          <a:xfrm>
            <a:off x="2148840" y="1463040"/>
            <a:ext cx="1554480" cy="640080"/>
          </a:xfrm>
          <a:prstGeom prst="rect">
            <a:avLst/>
          </a:prstGeom>
          <a:noFill/>
        </p:spPr>
        <p:txBody>
          <a:bodyPr wrap="square" lIns="0" tIns="0" rIns="0" bIns="0" anchor="t"/>
          <a:lstStyle/>
          <a:p>
            <a:pPr algn="l">
              <a:spcAft>
                <a:spcPts val="600"/>
              </a:spcAft>
            </a:pPr>
            <a:r>
              <a:rPr sz="2800" b="1" i="0">
                <a:solidFill>
                  <a:srgbClr val="1E88C8"/>
                </a:solidFill>
                <a:latin typeface="Arial"/>
              </a:rPr>
              <a:t>166</a:t>
            </a:r>
          </a:p>
        </p:txBody>
      </p:sp>
      <p:sp>
        <p:nvSpPr>
          <p:cNvPr id="13" name="TextBox 12"/>
          <p:cNvSpPr txBox="1"/>
          <p:nvPr/>
        </p:nvSpPr>
        <p:spPr>
          <a:xfrm>
            <a:off x="2148840" y="2121408"/>
            <a:ext cx="1554480" cy="640080"/>
          </a:xfrm>
          <a:prstGeom prst="rect">
            <a:avLst/>
          </a:prstGeom>
          <a:noFill/>
        </p:spPr>
        <p:txBody>
          <a:bodyPr wrap="square" lIns="0" tIns="0" rIns="0" bIns="0" anchor="t"/>
          <a:lstStyle/>
          <a:p>
            <a:pPr algn="l">
              <a:spcAft>
                <a:spcPts val="600"/>
              </a:spcAft>
            </a:pPr>
            <a:r>
              <a:rPr sz="1300" b="0" i="0">
                <a:solidFill>
                  <a:srgbClr val="222222"/>
                </a:solidFill>
                <a:latin typeface="Arial"/>
              </a:rPr>
              <a:t>countries</a:t>
            </a:r>
          </a:p>
        </p:txBody>
      </p:sp>
      <p:sp>
        <p:nvSpPr>
          <p:cNvPr id="14" name="TextBox 13"/>
          <p:cNvSpPr txBox="1"/>
          <p:nvPr/>
        </p:nvSpPr>
        <p:spPr>
          <a:xfrm>
            <a:off x="3749039" y="1463040"/>
            <a:ext cx="1554480" cy="640080"/>
          </a:xfrm>
          <a:prstGeom prst="rect">
            <a:avLst/>
          </a:prstGeom>
          <a:noFill/>
        </p:spPr>
        <p:txBody>
          <a:bodyPr wrap="square" lIns="0" tIns="0" rIns="0" bIns="0" anchor="t"/>
          <a:lstStyle/>
          <a:p>
            <a:pPr algn="l">
              <a:spcAft>
                <a:spcPts val="600"/>
              </a:spcAft>
            </a:pPr>
            <a:r>
              <a:rPr sz="2800" b="1" i="0">
                <a:solidFill>
                  <a:srgbClr val="1E88C8"/>
                </a:solidFill>
                <a:latin typeface="Arial"/>
              </a:rPr>
              <a:t>2.8 M</a:t>
            </a:r>
          </a:p>
        </p:txBody>
      </p:sp>
      <p:sp>
        <p:nvSpPr>
          <p:cNvPr id="15" name="TextBox 14"/>
          <p:cNvSpPr txBox="1"/>
          <p:nvPr/>
        </p:nvSpPr>
        <p:spPr>
          <a:xfrm>
            <a:off x="3749039" y="2121408"/>
            <a:ext cx="1554480" cy="640080"/>
          </a:xfrm>
          <a:prstGeom prst="rect">
            <a:avLst/>
          </a:prstGeom>
          <a:noFill/>
        </p:spPr>
        <p:txBody>
          <a:bodyPr wrap="square" lIns="0" tIns="0" rIns="0" bIns="0" anchor="t"/>
          <a:lstStyle/>
          <a:p>
            <a:pPr algn="l">
              <a:spcAft>
                <a:spcPts val="600"/>
              </a:spcAft>
            </a:pPr>
            <a:r>
              <a:rPr sz="1300" b="0" i="0">
                <a:solidFill>
                  <a:srgbClr val="222222"/>
                </a:solidFill>
                <a:latin typeface="Arial"/>
              </a:rPr>
              <a:t>projects</a:t>
            </a:r>
          </a:p>
        </p:txBody>
      </p:sp>
      <p:sp>
        <p:nvSpPr>
          <p:cNvPr id="16" name="TextBox 15"/>
          <p:cNvSpPr txBox="1"/>
          <p:nvPr/>
        </p:nvSpPr>
        <p:spPr>
          <a:xfrm>
            <a:off x="5349240" y="1463040"/>
            <a:ext cx="1554480" cy="640080"/>
          </a:xfrm>
          <a:prstGeom prst="rect">
            <a:avLst/>
          </a:prstGeom>
          <a:noFill/>
        </p:spPr>
        <p:txBody>
          <a:bodyPr wrap="square" lIns="0" tIns="0" rIns="0" bIns="0" anchor="t"/>
          <a:lstStyle/>
          <a:p>
            <a:pPr algn="l">
              <a:spcAft>
                <a:spcPts val="600"/>
              </a:spcAft>
            </a:pPr>
            <a:r>
              <a:rPr sz="2800" b="1" i="0">
                <a:solidFill>
                  <a:srgbClr val="1E88C8"/>
                </a:solidFill>
                <a:latin typeface="Arial"/>
              </a:rPr>
              <a:t>4.6 M</a:t>
            </a:r>
          </a:p>
        </p:txBody>
      </p:sp>
      <p:sp>
        <p:nvSpPr>
          <p:cNvPr id="17" name="TextBox 16"/>
          <p:cNvSpPr txBox="1"/>
          <p:nvPr/>
        </p:nvSpPr>
        <p:spPr>
          <a:xfrm>
            <a:off x="5349240" y="2121408"/>
            <a:ext cx="1554480" cy="640080"/>
          </a:xfrm>
          <a:prstGeom prst="rect">
            <a:avLst/>
          </a:prstGeom>
          <a:noFill/>
        </p:spPr>
        <p:txBody>
          <a:bodyPr wrap="square" lIns="0" tIns="0" rIns="0" bIns="0" anchor="t"/>
          <a:lstStyle/>
          <a:p>
            <a:pPr algn="l">
              <a:spcAft>
                <a:spcPts val="600"/>
              </a:spcAft>
            </a:pPr>
            <a:r>
              <a:rPr sz="1300" b="0" i="0">
                <a:solidFill>
                  <a:srgbClr val="222222"/>
                </a:solidFill>
                <a:latin typeface="Arial"/>
              </a:rPr>
              <a:t>users</a:t>
            </a:r>
          </a:p>
        </p:txBody>
      </p:sp>
      <p:sp>
        <p:nvSpPr>
          <p:cNvPr id="18" name="TextBox 17"/>
          <p:cNvSpPr txBox="1"/>
          <p:nvPr/>
        </p:nvSpPr>
        <p:spPr>
          <a:xfrm>
            <a:off x="548640" y="2743200"/>
            <a:ext cx="6217920" cy="914400"/>
          </a:xfrm>
          <a:prstGeom prst="rect">
            <a:avLst/>
          </a:prstGeom>
          <a:noFill/>
        </p:spPr>
        <p:txBody>
          <a:bodyPr wrap="square" lIns="0" tIns="0" rIns="0" bIns="0" anchor="t"/>
          <a:lstStyle/>
          <a:p>
            <a:pPr algn="l">
              <a:spcAft>
                <a:spcPts val="600"/>
              </a:spcAft>
            </a:pPr>
            <a:r>
              <a:rPr sz="1700" b="0" i="0">
                <a:solidFill>
                  <a:srgbClr val="222222"/>
                </a:solidFill>
                <a:latin typeface="Arial"/>
              </a:rPr>
              <a:t>A secure web application for </a:t>
            </a:r>
            <a:r>
              <a:rPr sz="1700" b="1" i="0">
                <a:solidFill>
                  <a:srgbClr val="222222"/>
                </a:solidFill>
                <a:latin typeface="Arial"/>
              </a:rPr>
              <a:t>surveys and databases</a:t>
            </a:r>
            <a:r>
              <a:rPr sz="1700" b="0" i="0">
                <a:solidFill>
                  <a:srgbClr val="222222"/>
                </a:solidFill>
                <a:latin typeface="Arial"/>
              </a:rPr>
              <a:t>. Free for non-profits; </a:t>
            </a:r>
            <a:r>
              <a:rPr sz="1700" b="1" i="0">
                <a:solidFill>
                  <a:srgbClr val="2E7D32"/>
                </a:solidFill>
                <a:latin typeface="Arial"/>
              </a:rPr>
              <a:t>hosted by your own institution</a:t>
            </a:r>
            <a:r>
              <a:rPr sz="1700" b="0" i="0">
                <a:solidFill>
                  <a:srgbClr val="222222"/>
                </a:solidFill>
                <a:latin typeface="Arial"/>
              </a:rPr>
              <a:t>.</a:t>
            </a:r>
          </a:p>
        </p:txBody>
      </p:sp>
      <p:pic>
        <p:nvPicPr>
          <p:cNvPr id="19" name="Picture 18" descr="E72E_1E88C8.png"/>
          <p:cNvPicPr>
            <a:picLocks noChangeAspect="1"/>
          </p:cNvPicPr>
          <p:nvPr/>
        </p:nvPicPr>
        <p:blipFill>
          <a:blip r:embed="rId4"/>
          <a:stretch>
            <a:fillRect/>
          </a:stretch>
        </p:blipFill>
        <p:spPr>
          <a:xfrm>
            <a:off x="548640" y="3840480"/>
            <a:ext cx="411480" cy="411480"/>
          </a:xfrm>
          <a:prstGeom prst="rect">
            <a:avLst/>
          </a:prstGeom>
        </p:spPr>
      </p:pic>
      <p:sp>
        <p:nvSpPr>
          <p:cNvPr id="20" name="TextBox 19"/>
          <p:cNvSpPr txBox="1"/>
          <p:nvPr/>
        </p:nvSpPr>
        <p:spPr>
          <a:xfrm>
            <a:off x="1051560" y="380390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Secure</a:t>
            </a:r>
          </a:p>
          <a:p>
            <a:pPr algn="l">
              <a:spcAft>
                <a:spcPts val="600"/>
              </a:spcAft>
            </a:pPr>
            <a:r>
              <a:rPr sz="1100" b="0" i="0">
                <a:solidFill>
                  <a:srgbClr val="62676D"/>
                </a:solidFill>
                <a:latin typeface="Arial"/>
              </a:rPr>
              <a:t>audit trail, user rights</a:t>
            </a:r>
          </a:p>
        </p:txBody>
      </p:sp>
      <p:pic>
        <p:nvPicPr>
          <p:cNvPr id="21" name="Picture 20" descr="F0E3_1E88C8.png"/>
          <p:cNvPicPr>
            <a:picLocks noChangeAspect="1"/>
          </p:cNvPicPr>
          <p:nvPr/>
        </p:nvPicPr>
        <p:blipFill>
          <a:blip r:embed="rId5"/>
          <a:stretch>
            <a:fillRect/>
          </a:stretch>
        </p:blipFill>
        <p:spPr>
          <a:xfrm>
            <a:off x="2651760" y="3840480"/>
            <a:ext cx="411480" cy="411480"/>
          </a:xfrm>
          <a:prstGeom prst="rect">
            <a:avLst/>
          </a:prstGeom>
        </p:spPr>
      </p:pic>
      <p:sp>
        <p:nvSpPr>
          <p:cNvPr id="22" name="TextBox 21"/>
          <p:cNvSpPr txBox="1"/>
          <p:nvPr/>
        </p:nvSpPr>
        <p:spPr>
          <a:xfrm>
            <a:off x="3154680" y="380390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Forms and surveys</a:t>
            </a:r>
          </a:p>
          <a:p>
            <a:pPr algn="l">
              <a:spcAft>
                <a:spcPts val="600"/>
              </a:spcAft>
            </a:pPr>
            <a:r>
              <a:rPr sz="1100" b="0" i="0">
                <a:solidFill>
                  <a:srgbClr val="62676D"/>
                </a:solidFill>
                <a:latin typeface="Arial"/>
              </a:rPr>
              <a:t>no programming</a:t>
            </a:r>
          </a:p>
        </p:txBody>
      </p:sp>
      <p:pic>
        <p:nvPicPr>
          <p:cNvPr id="23" name="Picture 22" descr="E787_1E88C8.png"/>
          <p:cNvPicPr>
            <a:picLocks noChangeAspect="1"/>
          </p:cNvPicPr>
          <p:nvPr/>
        </p:nvPicPr>
        <p:blipFill>
          <a:blip r:embed="rId6"/>
          <a:stretch>
            <a:fillRect/>
          </a:stretch>
        </p:blipFill>
        <p:spPr>
          <a:xfrm>
            <a:off x="4754879" y="3840480"/>
            <a:ext cx="411480" cy="411480"/>
          </a:xfrm>
          <a:prstGeom prst="rect">
            <a:avLst/>
          </a:prstGeom>
        </p:spPr>
      </p:pic>
      <p:sp>
        <p:nvSpPr>
          <p:cNvPr id="24" name="TextBox 23"/>
          <p:cNvSpPr txBox="1"/>
          <p:nvPr/>
        </p:nvSpPr>
        <p:spPr>
          <a:xfrm>
            <a:off x="5257799" y="380390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Longitudinal</a:t>
            </a:r>
          </a:p>
          <a:p>
            <a:pPr algn="l">
              <a:spcAft>
                <a:spcPts val="600"/>
              </a:spcAft>
            </a:pPr>
            <a:r>
              <a:rPr sz="1100" b="0" i="0">
                <a:solidFill>
                  <a:srgbClr val="62676D"/>
                </a:solidFill>
                <a:latin typeface="Arial"/>
              </a:rPr>
              <a:t>events, repeating forms</a:t>
            </a:r>
          </a:p>
        </p:txBody>
      </p:sp>
      <p:pic>
        <p:nvPicPr>
          <p:cNvPr id="25" name="Picture 24" descr="E716_1E88C8.png"/>
          <p:cNvPicPr>
            <a:picLocks noChangeAspect="1"/>
          </p:cNvPicPr>
          <p:nvPr/>
        </p:nvPicPr>
        <p:blipFill>
          <a:blip r:embed="rId7"/>
          <a:stretch>
            <a:fillRect/>
          </a:stretch>
        </p:blipFill>
        <p:spPr>
          <a:xfrm>
            <a:off x="548640" y="4800600"/>
            <a:ext cx="411480" cy="411480"/>
          </a:xfrm>
          <a:prstGeom prst="rect">
            <a:avLst/>
          </a:prstGeom>
        </p:spPr>
      </p:pic>
      <p:sp>
        <p:nvSpPr>
          <p:cNvPr id="26" name="TextBox 25"/>
          <p:cNvSpPr txBox="1"/>
          <p:nvPr/>
        </p:nvSpPr>
        <p:spPr>
          <a:xfrm>
            <a:off x="1051560" y="476402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Multi-site</a:t>
            </a:r>
          </a:p>
          <a:p>
            <a:pPr algn="l">
              <a:spcAft>
                <a:spcPts val="600"/>
              </a:spcAft>
            </a:pPr>
            <a:r>
              <a:rPr sz="1100" b="0" i="0">
                <a:solidFill>
                  <a:srgbClr val="62676D"/>
                </a:solidFill>
                <a:latin typeface="Arial"/>
              </a:rPr>
              <a:t>Data Access Groups</a:t>
            </a:r>
          </a:p>
        </p:txBody>
      </p:sp>
      <p:pic>
        <p:nvPicPr>
          <p:cNvPr id="27" name="Picture 26" descr="E8EA_1E88C8.png"/>
          <p:cNvPicPr>
            <a:picLocks noChangeAspect="1"/>
          </p:cNvPicPr>
          <p:nvPr/>
        </p:nvPicPr>
        <p:blipFill>
          <a:blip r:embed="rId8"/>
          <a:stretch>
            <a:fillRect/>
          </a:stretch>
        </p:blipFill>
        <p:spPr>
          <a:xfrm>
            <a:off x="2651760" y="4800600"/>
            <a:ext cx="411480" cy="411480"/>
          </a:xfrm>
          <a:prstGeom prst="rect">
            <a:avLst/>
          </a:prstGeom>
        </p:spPr>
      </p:pic>
      <p:sp>
        <p:nvSpPr>
          <p:cNvPr id="28" name="TextBox 27"/>
          <p:cNvSpPr txBox="1"/>
          <p:nvPr/>
        </p:nvSpPr>
        <p:spPr>
          <a:xfrm>
            <a:off x="3154680" y="476402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Offline</a:t>
            </a:r>
          </a:p>
          <a:p>
            <a:pPr algn="l">
              <a:spcAft>
                <a:spcPts val="600"/>
              </a:spcAft>
            </a:pPr>
            <a:r>
              <a:rPr sz="1100" b="0" i="0">
                <a:solidFill>
                  <a:srgbClr val="62676D"/>
                </a:solidFill>
                <a:latin typeface="Arial"/>
              </a:rPr>
              <a:t>Mobile App, MyCap</a:t>
            </a:r>
          </a:p>
        </p:txBody>
      </p:sp>
      <p:pic>
        <p:nvPicPr>
          <p:cNvPr id="29" name="Picture 28" descr="E943_1E88C8.png"/>
          <p:cNvPicPr>
            <a:picLocks noChangeAspect="1"/>
          </p:cNvPicPr>
          <p:nvPr/>
        </p:nvPicPr>
        <p:blipFill>
          <a:blip r:embed="rId9"/>
          <a:stretch>
            <a:fillRect/>
          </a:stretch>
        </p:blipFill>
        <p:spPr>
          <a:xfrm>
            <a:off x="4754879" y="4800600"/>
            <a:ext cx="411480" cy="411480"/>
          </a:xfrm>
          <a:prstGeom prst="rect">
            <a:avLst/>
          </a:prstGeom>
        </p:spPr>
      </p:pic>
      <p:sp>
        <p:nvSpPr>
          <p:cNvPr id="30" name="TextBox 29"/>
          <p:cNvSpPr txBox="1"/>
          <p:nvPr/>
        </p:nvSpPr>
        <p:spPr>
          <a:xfrm>
            <a:off x="5257799" y="4764024"/>
            <a:ext cx="1600200" cy="868680"/>
          </a:xfrm>
          <a:prstGeom prst="rect">
            <a:avLst/>
          </a:prstGeom>
          <a:noFill/>
        </p:spPr>
        <p:txBody>
          <a:bodyPr wrap="square" lIns="0" tIns="0" rIns="0" bIns="0" anchor="t"/>
          <a:lstStyle/>
          <a:p>
            <a:pPr algn="l">
              <a:spcAft>
                <a:spcPts val="0"/>
              </a:spcAft>
            </a:pPr>
            <a:r>
              <a:rPr sz="1300" b="1" i="0">
                <a:solidFill>
                  <a:srgbClr val="41464C"/>
                </a:solidFill>
                <a:latin typeface="Arial"/>
              </a:rPr>
              <a:t>Exports</a:t>
            </a:r>
          </a:p>
          <a:p>
            <a:pPr algn="l">
              <a:spcAft>
                <a:spcPts val="600"/>
              </a:spcAft>
            </a:pPr>
            <a:r>
              <a:rPr sz="1100" b="0" i="0">
                <a:solidFill>
                  <a:srgbClr val="62676D"/>
                </a:solidFill>
                <a:latin typeface="Arial"/>
              </a:rPr>
              <a:t>R, Stata, SPSS, SAS, API</a:t>
            </a:r>
          </a:p>
        </p:txBody>
      </p:sp>
      <p:sp>
        <p:nvSpPr>
          <p:cNvPr id="31" name="Rectangle 30"/>
          <p:cNvSpPr/>
          <p:nvPr/>
        </p:nvSpPr>
        <p:spPr>
          <a:xfrm>
            <a:off x="7040880" y="1463040"/>
            <a:ext cx="4599432" cy="429768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040880" y="1463040"/>
            <a:ext cx="4599432"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50608" y="1463040"/>
            <a:ext cx="4379976"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34" name="TextBox 33"/>
          <p:cNvSpPr txBox="1"/>
          <p:nvPr/>
        </p:nvSpPr>
        <p:spPr>
          <a:xfrm>
            <a:off x="7955279" y="1463040"/>
            <a:ext cx="3593592" cy="329184"/>
          </a:xfrm>
          <a:prstGeom prst="rect">
            <a:avLst/>
          </a:prstGeom>
          <a:noFill/>
        </p:spPr>
        <p:txBody>
          <a:bodyPr wrap="square" lIns="0" tIns="0" rIns="0" bIns="0" anchor="ctr"/>
          <a:lstStyle/>
          <a:p>
            <a:pPr algn="r">
              <a:spcAft>
                <a:spcPts val="600"/>
              </a:spcAft>
            </a:pPr>
            <a:r>
              <a:rPr sz="900" b="0" i="0">
                <a:solidFill>
                  <a:srgbClr val="F3D9DC"/>
                </a:solidFill>
                <a:latin typeface="Arial"/>
              </a:rPr>
              <a:t>My Projects</a:t>
            </a:r>
          </a:p>
        </p:txBody>
      </p:sp>
      <p:graphicFrame>
        <p:nvGraphicFramePr>
          <p:cNvPr id="35" name="Table 34"/>
          <p:cNvGraphicFramePr>
            <a:graphicFrameLocks noGrp="1"/>
          </p:cNvGraphicFramePr>
          <p:nvPr/>
        </p:nvGraphicFramePr>
        <p:xfrm>
          <a:off x="7178040" y="2011680"/>
          <a:ext cx="4325112" cy="192024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tblGrid>
              <a:tr h="384048">
                <a:tc>
                  <a:txBody>
                    <a:bodyPr/>
                    <a:lstStyle/>
                    <a:p>
                      <a:pPr algn="l">
                        <a:spcAft>
                          <a:spcPts val="0"/>
                        </a:spcAft>
                      </a:pPr>
                      <a:r>
                        <a:rPr sz="1000" b="1" i="0">
                          <a:solidFill>
                            <a:srgbClr val="FFFFFF"/>
                          </a:solidFill>
                          <a:latin typeface="Arial"/>
                        </a:rPr>
                        <a:t>Project title</a:t>
                      </a:r>
                    </a:p>
                  </a:txBody>
                  <a:tcPr marT="36576" marB="36576" anchor="ctr">
                    <a:solidFill>
                      <a:srgbClr val="8496B0"/>
                    </a:solidFill>
                  </a:tcPr>
                </a:tc>
                <a:tc>
                  <a:txBody>
                    <a:bodyPr/>
                    <a:lstStyle/>
                    <a:p>
                      <a:pPr algn="l">
                        <a:spcAft>
                          <a:spcPts val="0"/>
                        </a:spcAft>
                      </a:pPr>
                      <a:r>
                        <a:rPr sz="1000" b="1" i="0">
                          <a:solidFill>
                            <a:srgbClr val="FFFFFF"/>
                          </a:solidFill>
                          <a:latin typeface="Arial"/>
                        </a:rPr>
                        <a:t>Status</a:t>
                      </a:r>
                    </a:p>
                  </a:txBody>
                  <a:tcPr marT="36576" marB="36576" anchor="ctr">
                    <a:solidFill>
                      <a:srgbClr val="8496B0"/>
                    </a:solidFill>
                  </a:tcPr>
                </a:tc>
                <a:tc>
                  <a:txBody>
                    <a:bodyPr/>
                    <a:lstStyle/>
                    <a:p>
                      <a:pPr algn="l">
                        <a:spcAft>
                          <a:spcPts val="0"/>
                        </a:spcAft>
                      </a:pPr>
                      <a:r>
                        <a:rPr sz="1000" b="1" i="0">
                          <a:solidFill>
                            <a:srgbClr val="FFFFFF"/>
                          </a:solidFill>
                          <a:latin typeface="Arial"/>
                        </a:rPr>
                        <a:t>Records</a:t>
                      </a:r>
                    </a:p>
                  </a:txBody>
                  <a:tcPr marT="36576" marB="36576" anchor="ctr">
                    <a:solidFill>
                      <a:srgbClr val="8496B0"/>
                    </a:solidFill>
                  </a:tcPr>
                </a:tc>
                <a:extLst>
                  <a:ext uri="{0D108BD9-81ED-4DB2-BD59-A6C34878D82A}">
                    <a16:rowId xmlns:a16="http://schemas.microsoft.com/office/drawing/2014/main" val="10000"/>
                  </a:ext>
                </a:extLst>
              </a:tr>
              <a:tr h="384048">
                <a:tc>
                  <a:txBody>
                    <a:bodyPr/>
                    <a:lstStyle/>
                    <a:p>
                      <a:pPr algn="l">
                        <a:spcAft>
                          <a:spcPts val="0"/>
                        </a:spcAft>
                      </a:pPr>
                      <a:r>
                        <a:rPr sz="1000" b="0" i="0">
                          <a:solidFill>
                            <a:srgbClr val="222222"/>
                          </a:solidFill>
                          <a:latin typeface="Arial"/>
                        </a:rPr>
                        <a:t>TBCARE cohort</a:t>
                      </a:r>
                    </a:p>
                  </a:txBody>
                  <a:tcPr marT="36576" marB="36576" anchor="ctr">
                    <a:solidFill>
                      <a:srgbClr val="FFFFFF"/>
                    </a:solidFill>
                  </a:tcPr>
                </a:tc>
                <a:tc>
                  <a:txBody>
                    <a:bodyPr/>
                    <a:lstStyle/>
                    <a:p>
                      <a:pPr algn="l">
                        <a:spcAft>
                          <a:spcPts val="0"/>
                        </a:spcAft>
                      </a:pPr>
                      <a:r>
                        <a:rPr sz="1000" b="1" i="0">
                          <a:solidFill>
                            <a:srgbClr val="B26A00"/>
                          </a:solidFill>
                          <a:latin typeface="Arial"/>
                        </a:rPr>
                        <a:t>Development</a:t>
                      </a:r>
                    </a:p>
                  </a:txBody>
                  <a:tcPr marT="36576" marB="36576" anchor="ctr">
                    <a:solidFill>
                      <a:srgbClr val="FFFFFF"/>
                    </a:solidFill>
                  </a:tcPr>
                </a:tc>
                <a:tc>
                  <a:txBody>
                    <a:bodyPr/>
                    <a:lstStyle/>
                    <a:p>
                      <a:pPr algn="l">
                        <a:spcAft>
                          <a:spcPts val="0"/>
                        </a:spcAft>
                      </a:pPr>
                      <a:r>
                        <a:rPr sz="1000" b="0" i="0">
                          <a:solidFill>
                            <a:srgbClr val="222222"/>
                          </a:solidFill>
                          <a:latin typeface="Arial"/>
                        </a:rPr>
                        <a:t>3</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1000" b="0" i="0">
                          <a:solidFill>
                            <a:srgbClr val="222222"/>
                          </a:solidFill>
                          <a:latin typeface="Arial"/>
                        </a:rPr>
                        <a:t>Practice project</a:t>
                      </a:r>
                    </a:p>
                  </a:txBody>
                  <a:tcPr marT="36576" marB="36576" anchor="ctr">
                    <a:solidFill>
                      <a:srgbClr val="F2F4F6"/>
                    </a:solidFill>
                  </a:tcPr>
                </a:tc>
                <a:tc>
                  <a:txBody>
                    <a:bodyPr/>
                    <a:lstStyle/>
                    <a:p>
                      <a:pPr algn="l">
                        <a:spcAft>
                          <a:spcPts val="0"/>
                        </a:spcAft>
                      </a:pPr>
                      <a:r>
                        <a:rPr sz="1000" b="1" i="0">
                          <a:solidFill>
                            <a:srgbClr val="B26A00"/>
                          </a:solidFill>
                          <a:latin typeface="Arial"/>
                        </a:rPr>
                        <a:t>Development</a:t>
                      </a:r>
                    </a:p>
                  </a:txBody>
                  <a:tcPr marT="36576" marB="36576" anchor="ctr">
                    <a:solidFill>
                      <a:srgbClr val="F2F4F6"/>
                    </a:solidFill>
                  </a:tcPr>
                </a:tc>
                <a:tc>
                  <a:txBody>
                    <a:bodyPr/>
                    <a:lstStyle/>
                    <a:p>
                      <a:pPr algn="l">
                        <a:spcAft>
                          <a:spcPts val="0"/>
                        </a:spcAft>
                      </a:pPr>
                      <a:r>
                        <a:rPr sz="1000" b="0" i="0">
                          <a:solidFill>
                            <a:srgbClr val="222222"/>
                          </a:solidFill>
                          <a:latin typeface="Arial"/>
                        </a:rPr>
                        <a:t>0</a:t>
                      </a:r>
                    </a:p>
                  </a:txBody>
                  <a:tcPr marT="36576" marB="36576" anchor="ctr">
                    <a:solidFill>
                      <a:srgbClr val="F2F4F6"/>
                    </a:solidFill>
                  </a:tcPr>
                </a:tc>
                <a:extLst>
                  <a:ext uri="{0D108BD9-81ED-4DB2-BD59-A6C34878D82A}">
                    <a16:rowId xmlns:a16="http://schemas.microsoft.com/office/drawing/2014/main" val="10002"/>
                  </a:ext>
                </a:extLst>
              </a:tr>
              <a:tr h="384048">
                <a:tc>
                  <a:txBody>
                    <a:bodyPr/>
                    <a:lstStyle/>
                    <a:p>
                      <a:pPr algn="l">
                        <a:spcAft>
                          <a:spcPts val="0"/>
                        </a:spcAft>
                      </a:pPr>
                      <a:r>
                        <a:rPr sz="1000" b="0" i="0">
                          <a:solidFill>
                            <a:srgbClr val="222222"/>
                          </a:solidFill>
                          <a:latin typeface="Arial"/>
                        </a:rPr>
                        <a:t>Malaria survey 2025</a:t>
                      </a:r>
                    </a:p>
                  </a:txBody>
                  <a:tcPr marT="36576" marB="36576" anchor="ctr">
                    <a:solidFill>
                      <a:srgbClr val="FFFFFF"/>
                    </a:solidFill>
                  </a:tcPr>
                </a:tc>
                <a:tc>
                  <a:txBody>
                    <a:bodyPr/>
                    <a:lstStyle/>
                    <a:p>
                      <a:pPr algn="l">
                        <a:spcAft>
                          <a:spcPts val="0"/>
                        </a:spcAft>
                      </a:pPr>
                      <a:r>
                        <a:rPr sz="1000" b="1" i="0">
                          <a:solidFill>
                            <a:srgbClr val="2E7D32"/>
                          </a:solidFill>
                          <a:latin typeface="Arial"/>
                        </a:rPr>
                        <a:t>Production</a:t>
                      </a:r>
                    </a:p>
                  </a:txBody>
                  <a:tcPr marT="36576" marB="36576" anchor="ctr">
                    <a:solidFill>
                      <a:srgbClr val="FFFFFF"/>
                    </a:solidFill>
                  </a:tcPr>
                </a:tc>
                <a:tc>
                  <a:txBody>
                    <a:bodyPr/>
                    <a:lstStyle/>
                    <a:p>
                      <a:pPr algn="l">
                        <a:spcAft>
                          <a:spcPts val="0"/>
                        </a:spcAft>
                      </a:pPr>
                      <a:r>
                        <a:rPr sz="1000" b="0" i="0">
                          <a:solidFill>
                            <a:srgbClr val="222222"/>
                          </a:solidFill>
                          <a:latin typeface="Arial"/>
                        </a:rPr>
                        <a:t>412</a:t>
                      </a: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pPr algn="l">
                        <a:spcAft>
                          <a:spcPts val="0"/>
                        </a:spcAft>
                      </a:pPr>
                      <a:r>
                        <a:rPr sz="1000" b="0" i="0">
                          <a:solidFill>
                            <a:srgbClr val="222222"/>
                          </a:solidFill>
                          <a:latin typeface="Arial"/>
                        </a:rPr>
                        <a:t>Old pilot</a:t>
                      </a:r>
                    </a:p>
                  </a:txBody>
                  <a:tcPr marT="36576" marB="36576" anchor="ctr">
                    <a:solidFill>
                      <a:srgbClr val="F2F4F6"/>
                    </a:solidFill>
                  </a:tcPr>
                </a:tc>
                <a:tc>
                  <a:txBody>
                    <a:bodyPr/>
                    <a:lstStyle/>
                    <a:p>
                      <a:pPr algn="l">
                        <a:spcAft>
                          <a:spcPts val="0"/>
                        </a:spcAft>
                      </a:pPr>
                      <a:r>
                        <a:rPr sz="1000" b="0" i="0">
                          <a:solidFill>
                            <a:srgbClr val="62676D"/>
                          </a:solidFill>
                          <a:latin typeface="Arial"/>
                        </a:rPr>
                        <a:t>Completed</a:t>
                      </a:r>
                    </a:p>
                  </a:txBody>
                  <a:tcPr marT="36576" marB="36576" anchor="ctr">
                    <a:solidFill>
                      <a:srgbClr val="F2F4F6"/>
                    </a:solidFill>
                  </a:tcPr>
                </a:tc>
                <a:tc>
                  <a:txBody>
                    <a:bodyPr/>
                    <a:lstStyle/>
                    <a:p>
                      <a:pPr algn="l">
                        <a:spcAft>
                          <a:spcPts val="0"/>
                        </a:spcAft>
                      </a:pPr>
                      <a:r>
                        <a:rPr sz="1000" b="0" i="0">
                          <a:solidFill>
                            <a:srgbClr val="222222"/>
                          </a:solidFill>
                          <a:latin typeface="Arial"/>
                        </a:rPr>
                        <a:t>56</a:t>
                      </a:r>
                    </a:p>
                  </a:txBody>
                  <a:tcPr marT="36576" marB="36576" anchor="ctr">
                    <a:solidFill>
                      <a:srgbClr val="F2F4F6"/>
                    </a:solidFill>
                  </a:tcPr>
                </a:tc>
                <a:extLst>
                  <a:ext uri="{0D108BD9-81ED-4DB2-BD59-A6C34878D82A}">
                    <a16:rowId xmlns:a16="http://schemas.microsoft.com/office/drawing/2014/main" val="10004"/>
                  </a:ext>
                </a:extLst>
              </a:tr>
            </a:tbl>
          </a:graphicData>
        </a:graphic>
      </p:graphicFrame>
      <p:sp>
        <p:nvSpPr>
          <p:cNvPr id="36" name="Rectangle 35"/>
          <p:cNvSpPr/>
          <p:nvPr/>
        </p:nvSpPr>
        <p:spPr>
          <a:xfrm>
            <a:off x="7178040" y="4160520"/>
            <a:ext cx="2011680" cy="3657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00" b="1" i="0">
                <a:solidFill>
                  <a:srgbClr val="FFFFFF"/>
                </a:solidFill>
                <a:latin typeface="Arial"/>
              </a:rPr>
              <a:t>+ New Project</a:t>
            </a:r>
          </a:p>
        </p:txBody>
      </p:sp>
      <p:sp>
        <p:nvSpPr>
          <p:cNvPr id="37" name="TextBox 3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SPSS: Statistical Package for the Social Sciences   ·   SAS: Statistical Analysis System   ·   API: application programming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REDCap puts your DMP into practice</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1 of 6: Getting started</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7</a:t>
            </a:r>
          </a:p>
        </p:txBody>
      </p:sp>
      <p:graphicFrame>
        <p:nvGraphicFramePr>
          <p:cNvPr id="8" name="Table 7"/>
          <p:cNvGraphicFramePr>
            <a:graphicFrameLocks noGrp="1"/>
          </p:cNvGraphicFramePr>
          <p:nvPr/>
        </p:nvGraphicFramePr>
        <p:xfrm>
          <a:off x="548640" y="1417320"/>
          <a:ext cx="11091672" cy="3401568"/>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566928">
                <a:tc>
                  <a:txBody>
                    <a:bodyPr/>
                    <a:lstStyle/>
                    <a:p>
                      <a:pPr algn="l">
                        <a:spcAft>
                          <a:spcPts val="0"/>
                        </a:spcAft>
                      </a:pPr>
                      <a:r>
                        <a:rPr sz="1400" b="1" i="0">
                          <a:solidFill>
                            <a:srgbClr val="FFFFFF"/>
                          </a:solidFill>
                          <a:latin typeface="Arial"/>
                        </a:rPr>
                        <a:t>DMP section</a:t>
                      </a:r>
                    </a:p>
                  </a:txBody>
                  <a:tcPr marT="36576" marB="36576" anchor="ctr">
                    <a:solidFill>
                      <a:srgbClr val="41464C"/>
                    </a:solidFill>
                  </a:tcPr>
                </a:tc>
                <a:tc>
                  <a:txBody>
                    <a:bodyPr/>
                    <a:lstStyle/>
                    <a:p>
                      <a:pPr algn="l">
                        <a:spcAft>
                          <a:spcPts val="0"/>
                        </a:spcAft>
                      </a:pPr>
                      <a:r>
                        <a:rPr sz="1400" b="1" i="0">
                          <a:solidFill>
                            <a:srgbClr val="FFFFFF"/>
                          </a:solidFill>
                          <a:latin typeface="Arial"/>
                        </a:rPr>
                        <a:t>What you promised</a:t>
                      </a:r>
                    </a:p>
                  </a:txBody>
                  <a:tcPr marT="36576" marB="36576" anchor="ctr">
                    <a:solidFill>
                      <a:srgbClr val="41464C"/>
                    </a:solidFill>
                  </a:tcPr>
                </a:tc>
                <a:tc>
                  <a:txBody>
                    <a:bodyPr/>
                    <a:lstStyle/>
                    <a:p>
                      <a:pPr algn="l">
                        <a:spcAft>
                          <a:spcPts val="0"/>
                        </a:spcAft>
                      </a:pPr>
                      <a:r>
                        <a:rPr sz="1400" b="1" i="0">
                          <a:solidFill>
                            <a:srgbClr val="FFFFFF"/>
                          </a:solidFill>
                          <a:latin typeface="Arial"/>
                        </a:rPr>
                        <a:t>How REDCap delivers it</a:t>
                      </a:r>
                    </a:p>
                  </a:txBody>
                  <a:tcPr marT="36576" marB="36576" anchor="ctr">
                    <a:solidFill>
                      <a:srgbClr val="41464C"/>
                    </a:solidFill>
                  </a:tcPr>
                </a:tc>
                <a:extLst>
                  <a:ext uri="{0D108BD9-81ED-4DB2-BD59-A6C34878D82A}">
                    <a16:rowId xmlns:a16="http://schemas.microsoft.com/office/drawing/2014/main" val="10000"/>
                  </a:ext>
                </a:extLst>
              </a:tr>
              <a:tr h="566928">
                <a:tc>
                  <a:txBody>
                    <a:bodyPr/>
                    <a:lstStyle/>
                    <a:p>
                      <a:pPr algn="l">
                        <a:spcAft>
                          <a:spcPts val="0"/>
                        </a:spcAft>
                      </a:pPr>
                      <a:r>
                        <a:rPr sz="1400" b="1" i="0">
                          <a:solidFill>
                            <a:srgbClr val="222222"/>
                          </a:solidFill>
                          <a:latin typeface="Arial"/>
                        </a:rPr>
                        <a:t>2  Documentation &amp; quality</a:t>
                      </a:r>
                    </a:p>
                  </a:txBody>
                  <a:tcPr marT="36576" marB="36576" anchor="ctr">
                    <a:solidFill>
                      <a:srgbClr val="FFFFFF"/>
                    </a:solidFill>
                  </a:tcPr>
                </a:tc>
                <a:tc>
                  <a:txBody>
                    <a:bodyPr/>
                    <a:lstStyle/>
                    <a:p>
                      <a:pPr algn="l">
                        <a:spcAft>
                          <a:spcPts val="0"/>
                        </a:spcAft>
                      </a:pPr>
                      <a:r>
                        <a:rPr sz="1400" b="0" i="0">
                          <a:solidFill>
                            <a:srgbClr val="222222"/>
                          </a:solidFill>
                          <a:latin typeface="Arial"/>
                        </a:rPr>
                        <a:t>A codebook; checks at entry</a:t>
                      </a:r>
                    </a:p>
                  </a:txBody>
                  <a:tcPr marT="36576" marB="36576" anchor="ctr">
                    <a:solidFill>
                      <a:srgbClr val="FFFFFF"/>
                    </a:solidFill>
                  </a:tcPr>
                </a:tc>
                <a:tc>
                  <a:txBody>
                    <a:bodyPr/>
                    <a:lstStyle/>
                    <a:p>
                      <a:pPr algn="l">
                        <a:spcAft>
                          <a:spcPts val="0"/>
                        </a:spcAft>
                      </a:pPr>
                      <a:r>
                        <a:rPr sz="1400" b="0" i="0">
                          <a:solidFill>
                            <a:srgbClr val="222222"/>
                          </a:solidFill>
                          <a:latin typeface="Arial"/>
                        </a:rPr>
                        <a:t>Data dictionary; validation; Data Quality rules; queries</a:t>
                      </a:r>
                    </a:p>
                  </a:txBody>
                  <a:tcPr marT="36576" marB="36576" anchor="ctr">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400" b="1" i="0">
                          <a:solidFill>
                            <a:srgbClr val="222222"/>
                          </a:solidFill>
                          <a:latin typeface="Arial"/>
                        </a:rPr>
                        <a:t>3  Storage &amp; backup</a:t>
                      </a:r>
                    </a:p>
                  </a:txBody>
                  <a:tcPr marT="36576" marB="36576" anchor="ctr">
                    <a:solidFill>
                      <a:srgbClr val="F2F4F6"/>
                    </a:solidFill>
                  </a:tcPr>
                </a:tc>
                <a:tc>
                  <a:txBody>
                    <a:bodyPr/>
                    <a:lstStyle/>
                    <a:p>
                      <a:pPr algn="l">
                        <a:spcAft>
                          <a:spcPts val="0"/>
                        </a:spcAft>
                      </a:pPr>
                      <a:r>
                        <a:rPr sz="1400" b="0" i="0">
                          <a:solidFill>
                            <a:srgbClr val="222222"/>
                          </a:solidFill>
                          <a:latin typeface="Arial"/>
                        </a:rPr>
                        <a:t>Secure institutional storage</a:t>
                      </a:r>
                    </a:p>
                  </a:txBody>
                  <a:tcPr marT="36576" marB="36576" anchor="ctr">
                    <a:solidFill>
                      <a:srgbClr val="F2F4F6"/>
                    </a:solidFill>
                  </a:tcPr>
                </a:tc>
                <a:tc>
                  <a:txBody>
                    <a:bodyPr/>
                    <a:lstStyle/>
                    <a:p>
                      <a:pPr algn="l">
                        <a:spcAft>
                          <a:spcPts val="0"/>
                        </a:spcAft>
                      </a:pPr>
                      <a:r>
                        <a:rPr sz="1400" b="0" i="0">
                          <a:solidFill>
                            <a:srgbClr val="222222"/>
                          </a:solidFill>
                          <a:latin typeface="Arial"/>
                        </a:rPr>
                        <a:t>Institutional server; backups by the host; user rights</a:t>
                      </a:r>
                    </a:p>
                  </a:txBody>
                  <a:tcPr marT="36576" marB="36576" anchor="ctr">
                    <a:solidFill>
                      <a:srgbClr val="F2F4F6"/>
                    </a:solidFill>
                  </a:tcPr>
                </a:tc>
                <a:extLst>
                  <a:ext uri="{0D108BD9-81ED-4DB2-BD59-A6C34878D82A}">
                    <a16:rowId xmlns:a16="http://schemas.microsoft.com/office/drawing/2014/main" val="10002"/>
                  </a:ext>
                </a:extLst>
              </a:tr>
              <a:tr h="566928">
                <a:tc>
                  <a:txBody>
                    <a:bodyPr/>
                    <a:lstStyle/>
                    <a:p>
                      <a:pPr algn="l">
                        <a:spcAft>
                          <a:spcPts val="0"/>
                        </a:spcAft>
                      </a:pPr>
                      <a:r>
                        <a:rPr sz="1400" b="1" i="0">
                          <a:solidFill>
                            <a:srgbClr val="C8102E"/>
                          </a:solidFill>
                          <a:latin typeface="Arial"/>
                        </a:rPr>
                        <a:t>4  Legal &amp; ethical</a:t>
                      </a:r>
                    </a:p>
                  </a:txBody>
                  <a:tcPr marT="36576" marB="36576" anchor="ctr">
                    <a:solidFill>
                      <a:srgbClr val="FFFFFF"/>
                    </a:solidFill>
                  </a:tcPr>
                </a:tc>
                <a:tc>
                  <a:txBody>
                    <a:bodyPr/>
                    <a:lstStyle/>
                    <a:p>
                      <a:pPr algn="l">
                        <a:spcAft>
                          <a:spcPts val="0"/>
                        </a:spcAft>
                      </a:pPr>
                      <a:r>
                        <a:rPr sz="1400" b="0" i="0">
                          <a:solidFill>
                            <a:srgbClr val="222222"/>
                          </a:solidFill>
                          <a:latin typeface="Arial"/>
                        </a:rPr>
                        <a:t>Personal data protected</a:t>
                      </a:r>
                    </a:p>
                  </a:txBody>
                  <a:tcPr marT="36576" marB="36576" anchor="ctr">
                    <a:solidFill>
                      <a:srgbClr val="FFFFFF"/>
                    </a:solidFill>
                  </a:tcPr>
                </a:tc>
                <a:tc>
                  <a:txBody>
                    <a:bodyPr/>
                    <a:lstStyle/>
                    <a:p>
                      <a:pPr algn="l">
                        <a:spcAft>
                          <a:spcPts val="0"/>
                        </a:spcAft>
                      </a:pPr>
                      <a:r>
                        <a:rPr sz="1400" b="0" i="0">
                          <a:solidFill>
                            <a:srgbClr val="222222"/>
                          </a:solidFill>
                          <a:latin typeface="Arial"/>
                        </a:rPr>
                        <a:t>Identifier flags; Data Access Groups; logging (audit trail)</a:t>
                      </a:r>
                    </a:p>
                  </a:txBody>
                  <a:tcPr marT="36576" marB="36576" anchor="ctr">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400" b="1" i="0">
                          <a:solidFill>
                            <a:srgbClr val="222222"/>
                          </a:solidFill>
                          <a:latin typeface="Arial"/>
                        </a:rPr>
                        <a:t>5  Sharing</a:t>
                      </a:r>
                    </a:p>
                  </a:txBody>
                  <a:tcPr marT="36576" marB="36576" anchor="ctr">
                    <a:solidFill>
                      <a:srgbClr val="F2F4F6"/>
                    </a:solidFill>
                  </a:tcPr>
                </a:tc>
                <a:tc>
                  <a:txBody>
                    <a:bodyPr/>
                    <a:lstStyle/>
                    <a:p>
                      <a:pPr algn="l">
                        <a:spcAft>
                          <a:spcPts val="0"/>
                        </a:spcAft>
                      </a:pPr>
                      <a:r>
                        <a:rPr sz="1400" b="0" i="0">
                          <a:solidFill>
                            <a:srgbClr val="222222"/>
                          </a:solidFill>
                          <a:latin typeface="Arial"/>
                        </a:rPr>
                        <a:t>De-identified sharing</a:t>
                      </a:r>
                    </a:p>
                  </a:txBody>
                  <a:tcPr marT="36576" marB="36576" anchor="ctr">
                    <a:solidFill>
                      <a:srgbClr val="F2F4F6"/>
                    </a:solidFill>
                  </a:tcPr>
                </a:tc>
                <a:tc>
                  <a:txBody>
                    <a:bodyPr/>
                    <a:lstStyle/>
                    <a:p>
                      <a:pPr algn="l">
                        <a:spcAft>
                          <a:spcPts val="0"/>
                        </a:spcAft>
                      </a:pPr>
                      <a:r>
                        <a:rPr sz="1400" b="0" i="0">
                          <a:solidFill>
                            <a:srgbClr val="222222"/>
                          </a:solidFill>
                          <a:latin typeface="Arial"/>
                        </a:rPr>
                        <a:t>De-identified exports: remove identifiers, shift dates, hash IDs</a:t>
                      </a:r>
                    </a:p>
                  </a:txBody>
                  <a:tcPr marT="36576" marB="36576" anchor="ctr">
                    <a:solidFill>
                      <a:srgbClr val="F2F4F6"/>
                    </a:solidFill>
                  </a:tcPr>
                </a:tc>
                <a:extLst>
                  <a:ext uri="{0D108BD9-81ED-4DB2-BD59-A6C34878D82A}">
                    <a16:rowId xmlns:a16="http://schemas.microsoft.com/office/drawing/2014/main" val="10004"/>
                  </a:ext>
                </a:extLst>
              </a:tr>
              <a:tr h="566928">
                <a:tc>
                  <a:txBody>
                    <a:bodyPr/>
                    <a:lstStyle/>
                    <a:p>
                      <a:pPr algn="l">
                        <a:spcAft>
                          <a:spcPts val="0"/>
                        </a:spcAft>
                      </a:pPr>
                      <a:r>
                        <a:rPr sz="1400" b="1" i="0">
                          <a:solidFill>
                            <a:srgbClr val="222222"/>
                          </a:solidFill>
                          <a:latin typeface="Arial"/>
                        </a:rPr>
                        <a:t>6  Responsibilities</a:t>
                      </a:r>
                    </a:p>
                  </a:txBody>
                  <a:tcPr marT="36576" marB="36576" anchor="ctr">
                    <a:solidFill>
                      <a:srgbClr val="FFFFFF"/>
                    </a:solidFill>
                  </a:tcPr>
                </a:tc>
                <a:tc>
                  <a:txBody>
                    <a:bodyPr/>
                    <a:lstStyle/>
                    <a:p>
                      <a:pPr algn="l">
                        <a:spcAft>
                          <a:spcPts val="0"/>
                        </a:spcAft>
                      </a:pPr>
                      <a:r>
                        <a:rPr sz="1400" b="0" i="0">
                          <a:solidFill>
                            <a:srgbClr val="222222"/>
                          </a:solidFill>
                          <a:latin typeface="Arial"/>
                        </a:rPr>
                        <a:t>Named roles</a:t>
                      </a:r>
                    </a:p>
                  </a:txBody>
                  <a:tcPr marT="36576" marB="36576" anchor="ctr">
                    <a:solidFill>
                      <a:srgbClr val="FFFFFF"/>
                    </a:solidFill>
                  </a:tcPr>
                </a:tc>
                <a:tc>
                  <a:txBody>
                    <a:bodyPr/>
                    <a:lstStyle/>
                    <a:p>
                      <a:pPr algn="l">
                        <a:spcAft>
                          <a:spcPts val="0"/>
                        </a:spcAft>
                      </a:pPr>
                      <a:r>
                        <a:rPr sz="1400" b="0" i="0">
                          <a:solidFill>
                            <a:srgbClr val="222222"/>
                          </a:solidFill>
                          <a:latin typeface="Arial"/>
                        </a:rPr>
                        <a:t>User roles and rights; e-signatures; locking</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548640" y="512064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12064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73E_2E7D32.png"/>
          <p:cNvPicPr>
            <a:picLocks noChangeAspect="1"/>
          </p:cNvPicPr>
          <p:nvPr/>
        </p:nvPicPr>
        <p:blipFill>
          <a:blip r:embed="rId3"/>
          <a:stretch>
            <a:fillRect/>
          </a:stretch>
        </p:blipFill>
        <p:spPr>
          <a:xfrm>
            <a:off x="777240" y="5212079"/>
            <a:ext cx="365760" cy="365760"/>
          </a:xfrm>
          <a:prstGeom prst="rect">
            <a:avLst/>
          </a:prstGeom>
        </p:spPr>
      </p:pic>
      <p:sp>
        <p:nvSpPr>
          <p:cNvPr id="12" name="TextBox 11"/>
          <p:cNvSpPr txBox="1"/>
          <p:nvPr/>
        </p:nvSpPr>
        <p:spPr>
          <a:xfrm>
            <a:off x="1280160" y="51206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In your DMP, name the </a:t>
            </a:r>
            <a:r>
              <a:rPr sz="1500" b="1" i="0">
                <a:solidFill>
                  <a:srgbClr val="1E88C8"/>
                </a:solidFill>
                <a:latin typeface="Arial"/>
              </a:rPr>
              <a:t>REDCap feature</a:t>
            </a:r>
            <a:r>
              <a:rPr sz="1500" b="0" i="0">
                <a:solidFill>
                  <a:srgbClr val="222222"/>
                </a:solidFill>
                <a:latin typeface="Arial"/>
              </a:rPr>
              <a:t>, not just “a secure database”.</a:t>
            </a:r>
          </a:p>
        </p:txBody>
      </p:sp>
      <p:sp>
        <p:nvSpPr>
          <p:cNvPr id="13" name="TextBox 12"/>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DMP: Data Management Plan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project lifecycle: test first, then go live</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1 of 6: Getting started</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8</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Detailed overview of REDCap (14 min)</a:t>
            </a:r>
          </a:p>
        </p:txBody>
      </p:sp>
      <p:sp>
        <p:nvSpPr>
          <p:cNvPr id="10" name="Pentagon 9"/>
          <p:cNvSpPr/>
          <p:nvPr/>
        </p:nvSpPr>
        <p:spPr>
          <a:xfrm>
            <a:off x="548640" y="1554480"/>
            <a:ext cx="2697480" cy="1005840"/>
          </a:xfrm>
          <a:prstGeom prst="homePlate">
            <a:avLst>
              <a:gd name="adj" fmla="val 30000"/>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554480"/>
            <a:ext cx="2011680" cy="1005840"/>
          </a:xfrm>
          <a:prstGeom prst="rect">
            <a:avLst/>
          </a:prstGeom>
          <a:noFill/>
        </p:spPr>
        <p:txBody>
          <a:bodyPr wrap="square" lIns="0" tIns="0" rIns="0" bIns="0" anchor="ctr"/>
          <a:lstStyle/>
          <a:p>
            <a:pPr algn="l">
              <a:spcAft>
                <a:spcPts val="600"/>
              </a:spcAft>
            </a:pPr>
            <a:r>
              <a:rPr sz="1700" b="1" i="0">
                <a:solidFill>
                  <a:srgbClr val="FFFFFF"/>
                </a:solidFill>
                <a:latin typeface="Arial"/>
              </a:rPr>
              <a:t>Development</a:t>
            </a:r>
          </a:p>
        </p:txBody>
      </p:sp>
      <p:sp>
        <p:nvSpPr>
          <p:cNvPr id="12" name="TextBox 11"/>
          <p:cNvSpPr txBox="1"/>
          <p:nvPr/>
        </p:nvSpPr>
        <p:spPr>
          <a:xfrm>
            <a:off x="777240" y="2697480"/>
            <a:ext cx="2377440" cy="731520"/>
          </a:xfrm>
          <a:prstGeom prst="rect">
            <a:avLst/>
          </a:prstGeom>
          <a:noFill/>
        </p:spPr>
        <p:txBody>
          <a:bodyPr wrap="square" lIns="0" tIns="0" rIns="0" bIns="0" anchor="t"/>
          <a:lstStyle/>
          <a:p>
            <a:pPr algn="l">
              <a:spcAft>
                <a:spcPts val="600"/>
              </a:spcAft>
            </a:pPr>
            <a:r>
              <a:rPr sz="1500" b="0" i="0">
                <a:solidFill>
                  <a:srgbClr val="222222"/>
                </a:solidFill>
                <a:latin typeface="Arial"/>
              </a:rPr>
              <a:t>Build and test with fake data</a:t>
            </a:r>
          </a:p>
        </p:txBody>
      </p:sp>
      <p:sp>
        <p:nvSpPr>
          <p:cNvPr id="13" name="Chevron 12"/>
          <p:cNvSpPr/>
          <p:nvPr/>
        </p:nvSpPr>
        <p:spPr>
          <a:xfrm>
            <a:off x="3346704" y="1554480"/>
            <a:ext cx="2697480" cy="1005840"/>
          </a:xfrm>
          <a:prstGeom prst="chevron">
            <a:avLst>
              <a:gd name="adj" fmla="val 3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58184" y="1554480"/>
            <a:ext cx="2011680" cy="1005840"/>
          </a:xfrm>
          <a:prstGeom prst="rect">
            <a:avLst/>
          </a:prstGeom>
          <a:noFill/>
        </p:spPr>
        <p:txBody>
          <a:bodyPr wrap="square" lIns="0" tIns="0" rIns="0" bIns="0" anchor="ctr"/>
          <a:lstStyle/>
          <a:p>
            <a:pPr algn="l">
              <a:spcAft>
                <a:spcPts val="600"/>
              </a:spcAft>
            </a:pPr>
            <a:r>
              <a:rPr sz="1700" b="1" i="0">
                <a:solidFill>
                  <a:srgbClr val="FFFFFF"/>
                </a:solidFill>
                <a:latin typeface="Arial"/>
              </a:rPr>
              <a:t>Production</a:t>
            </a:r>
          </a:p>
        </p:txBody>
      </p:sp>
      <p:sp>
        <p:nvSpPr>
          <p:cNvPr id="15" name="TextBox 14"/>
          <p:cNvSpPr txBox="1"/>
          <p:nvPr/>
        </p:nvSpPr>
        <p:spPr>
          <a:xfrm>
            <a:off x="3575304" y="2697480"/>
            <a:ext cx="2377440" cy="731520"/>
          </a:xfrm>
          <a:prstGeom prst="rect">
            <a:avLst/>
          </a:prstGeom>
          <a:noFill/>
        </p:spPr>
        <p:txBody>
          <a:bodyPr wrap="square" lIns="0" tIns="0" rIns="0" bIns="0" anchor="t"/>
          <a:lstStyle/>
          <a:p>
            <a:pPr algn="l">
              <a:spcAft>
                <a:spcPts val="600"/>
              </a:spcAft>
            </a:pPr>
            <a:r>
              <a:rPr sz="1500" b="0" i="0">
                <a:solidFill>
                  <a:srgbClr val="222222"/>
                </a:solidFill>
                <a:latin typeface="Arial"/>
              </a:rPr>
              <a:t>Real data; changes via Draft Mode</a:t>
            </a:r>
          </a:p>
        </p:txBody>
      </p:sp>
      <p:sp>
        <p:nvSpPr>
          <p:cNvPr id="16" name="Chevron 15"/>
          <p:cNvSpPr/>
          <p:nvPr/>
        </p:nvSpPr>
        <p:spPr>
          <a:xfrm>
            <a:off x="6144768" y="1554480"/>
            <a:ext cx="2697480" cy="1005840"/>
          </a:xfrm>
          <a:prstGeom prst="chevron">
            <a:avLst>
              <a:gd name="adj" fmla="val 30000"/>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56248" y="1554480"/>
            <a:ext cx="2011680" cy="1005840"/>
          </a:xfrm>
          <a:prstGeom prst="rect">
            <a:avLst/>
          </a:prstGeom>
          <a:noFill/>
        </p:spPr>
        <p:txBody>
          <a:bodyPr wrap="square" lIns="0" tIns="0" rIns="0" bIns="0" anchor="ctr"/>
          <a:lstStyle/>
          <a:p>
            <a:pPr algn="l">
              <a:spcAft>
                <a:spcPts val="600"/>
              </a:spcAft>
            </a:pPr>
            <a:r>
              <a:rPr sz="1700" b="1" i="0">
                <a:solidFill>
                  <a:srgbClr val="FFFFFF"/>
                </a:solidFill>
                <a:latin typeface="Arial"/>
              </a:rPr>
              <a:t>Analysis / Cleanup</a:t>
            </a:r>
          </a:p>
        </p:txBody>
      </p:sp>
      <p:sp>
        <p:nvSpPr>
          <p:cNvPr id="18" name="TextBox 17"/>
          <p:cNvSpPr txBox="1"/>
          <p:nvPr/>
        </p:nvSpPr>
        <p:spPr>
          <a:xfrm>
            <a:off x="6373368" y="2697480"/>
            <a:ext cx="2377440" cy="731520"/>
          </a:xfrm>
          <a:prstGeom prst="rect">
            <a:avLst/>
          </a:prstGeom>
          <a:noFill/>
        </p:spPr>
        <p:txBody>
          <a:bodyPr wrap="square" lIns="0" tIns="0" rIns="0" bIns="0" anchor="t"/>
          <a:lstStyle/>
          <a:p>
            <a:pPr algn="l">
              <a:spcAft>
                <a:spcPts val="600"/>
              </a:spcAft>
            </a:pPr>
            <a:r>
              <a:rPr sz="1500" b="0" i="0">
                <a:solidFill>
                  <a:srgbClr val="222222"/>
                </a:solidFill>
                <a:latin typeface="Arial"/>
              </a:rPr>
              <a:t>Collection done; clean and export</a:t>
            </a:r>
          </a:p>
        </p:txBody>
      </p:sp>
      <p:sp>
        <p:nvSpPr>
          <p:cNvPr id="19" name="Chevron 18"/>
          <p:cNvSpPr/>
          <p:nvPr/>
        </p:nvSpPr>
        <p:spPr>
          <a:xfrm>
            <a:off x="8942832" y="1554480"/>
            <a:ext cx="2697480" cy="1005840"/>
          </a:xfrm>
          <a:prstGeom prst="chevron">
            <a:avLst>
              <a:gd name="adj" fmla="val 30000"/>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54311" y="1554480"/>
            <a:ext cx="2011680" cy="1005840"/>
          </a:xfrm>
          <a:prstGeom prst="rect">
            <a:avLst/>
          </a:prstGeom>
          <a:noFill/>
        </p:spPr>
        <p:txBody>
          <a:bodyPr wrap="square" lIns="0" tIns="0" rIns="0" bIns="0" anchor="ctr"/>
          <a:lstStyle/>
          <a:p>
            <a:pPr algn="l">
              <a:spcAft>
                <a:spcPts val="600"/>
              </a:spcAft>
            </a:pPr>
            <a:r>
              <a:rPr sz="1700" b="1" i="0">
                <a:solidFill>
                  <a:srgbClr val="FFFFFF"/>
                </a:solidFill>
                <a:latin typeface="Arial"/>
              </a:rPr>
              <a:t>Completed</a:t>
            </a:r>
          </a:p>
        </p:txBody>
      </p:sp>
      <p:sp>
        <p:nvSpPr>
          <p:cNvPr id="21" name="TextBox 20"/>
          <p:cNvSpPr txBox="1"/>
          <p:nvPr/>
        </p:nvSpPr>
        <p:spPr>
          <a:xfrm>
            <a:off x="9171432" y="2697480"/>
            <a:ext cx="2377440" cy="731520"/>
          </a:xfrm>
          <a:prstGeom prst="rect">
            <a:avLst/>
          </a:prstGeom>
          <a:noFill/>
        </p:spPr>
        <p:txBody>
          <a:bodyPr wrap="square" lIns="0" tIns="0" rIns="0" bIns="0" anchor="t"/>
          <a:lstStyle/>
          <a:p>
            <a:pPr algn="l">
              <a:spcAft>
                <a:spcPts val="600"/>
              </a:spcAft>
            </a:pPr>
            <a:r>
              <a:rPr sz="1500" b="0" i="0">
                <a:solidFill>
                  <a:srgbClr val="222222"/>
                </a:solidFill>
                <a:latin typeface="Arial"/>
              </a:rPr>
              <a:t>Read-only archive</a:t>
            </a:r>
          </a:p>
        </p:txBody>
      </p:sp>
      <p:sp>
        <p:nvSpPr>
          <p:cNvPr id="22" name="Rectangle 21"/>
          <p:cNvSpPr/>
          <p:nvPr/>
        </p:nvSpPr>
        <p:spPr>
          <a:xfrm>
            <a:off x="548640" y="3749039"/>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3749039"/>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E7BA_C8102E.png"/>
          <p:cNvPicPr>
            <a:picLocks noChangeAspect="1"/>
          </p:cNvPicPr>
          <p:nvPr/>
        </p:nvPicPr>
        <p:blipFill>
          <a:blip r:embed="rId4"/>
          <a:stretch>
            <a:fillRect/>
          </a:stretch>
        </p:blipFill>
        <p:spPr>
          <a:xfrm>
            <a:off x="777240" y="3840479"/>
            <a:ext cx="365760" cy="365760"/>
          </a:xfrm>
          <a:prstGeom prst="rect">
            <a:avLst/>
          </a:prstGeom>
        </p:spPr>
      </p:pic>
      <p:sp>
        <p:nvSpPr>
          <p:cNvPr id="25" name="TextBox 24"/>
          <p:cNvSpPr txBox="1"/>
          <p:nvPr/>
        </p:nvSpPr>
        <p:spPr>
          <a:xfrm>
            <a:off x="1280160" y="3749039"/>
            <a:ext cx="10268712" cy="548640"/>
          </a:xfrm>
          <a:prstGeom prst="rect">
            <a:avLst/>
          </a:prstGeom>
          <a:noFill/>
        </p:spPr>
        <p:txBody>
          <a:bodyPr wrap="square" lIns="0" tIns="0" rIns="0" bIns="0" anchor="ctr"/>
          <a:lstStyle/>
          <a:p>
            <a:pPr algn="l">
              <a:spcAft>
                <a:spcPts val="600"/>
              </a:spcAft>
            </a:pPr>
            <a:r>
              <a:rPr sz="1500" b="1" i="0">
                <a:solidFill>
                  <a:srgbClr val="C8102E"/>
                </a:solidFill>
                <a:latin typeface="Arial"/>
              </a:rPr>
              <a:t>Never enter real data in Development.</a:t>
            </a:r>
            <a:r>
              <a:rPr sz="1500" b="0" i="0">
                <a:solidFill>
                  <a:srgbClr val="222222"/>
                </a:solidFill>
                <a:latin typeface="Arial"/>
              </a:rPr>
              <a:t> Changes in Production can damage collected data.</a:t>
            </a:r>
          </a:p>
        </p:txBody>
      </p:sp>
      <p:sp>
        <p:nvSpPr>
          <p:cNvPr id="26" name="Rectangle 25"/>
          <p:cNvSpPr/>
          <p:nvPr/>
        </p:nvSpPr>
        <p:spPr>
          <a:xfrm>
            <a:off x="548640" y="452628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452628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E73E_2E7D32.png"/>
          <p:cNvPicPr>
            <a:picLocks noChangeAspect="1"/>
          </p:cNvPicPr>
          <p:nvPr/>
        </p:nvPicPr>
        <p:blipFill>
          <a:blip r:embed="rId5"/>
          <a:stretch>
            <a:fillRect/>
          </a:stretch>
        </p:blipFill>
        <p:spPr>
          <a:xfrm>
            <a:off x="777240" y="4617720"/>
            <a:ext cx="365760" cy="365760"/>
          </a:xfrm>
          <a:prstGeom prst="rect">
            <a:avLst/>
          </a:prstGeom>
        </p:spPr>
      </p:pic>
      <p:sp>
        <p:nvSpPr>
          <p:cNvPr id="29" name="TextBox 28"/>
          <p:cNvSpPr txBox="1"/>
          <p:nvPr/>
        </p:nvSpPr>
        <p:spPr>
          <a:xfrm>
            <a:off x="1280160" y="452628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Test every field and branch with a colleague </a:t>
            </a:r>
            <a:r>
              <a:rPr sz="1500" b="1" i="0">
                <a:solidFill>
                  <a:srgbClr val="2E7D32"/>
                </a:solidFill>
                <a:latin typeface="Arial"/>
              </a:rPr>
              <a:t>before</a:t>
            </a:r>
            <a:r>
              <a:rPr sz="1500" b="0" i="0">
                <a:solidFill>
                  <a:srgbClr val="222222"/>
                </a:solidFill>
                <a:latin typeface="Arial"/>
              </a:rPr>
              <a:t> you move to Production.</a:t>
            </a:r>
          </a:p>
        </p:txBody>
      </p:sp>
      <p:sp>
        <p:nvSpPr>
          <p:cNvPr id="30" name="TextBox 29"/>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Creating a project</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1 of 6: Getting started</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9</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Detailed overview of REDCap (14 min)</a:t>
            </a:r>
          </a:p>
        </p:txBody>
      </p:sp>
      <p:sp>
        <p:nvSpPr>
          <p:cNvPr id="10" name="Rectangle 9"/>
          <p:cNvSpPr/>
          <p:nvPr/>
        </p:nvSpPr>
        <p:spPr>
          <a:xfrm>
            <a:off x="548640" y="1417320"/>
            <a:ext cx="6035040" cy="448056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603504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5815583"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5029200" cy="329184"/>
          </a:xfrm>
          <a:prstGeom prst="rect">
            <a:avLst/>
          </a:prstGeom>
          <a:noFill/>
        </p:spPr>
        <p:txBody>
          <a:bodyPr wrap="square" lIns="0" tIns="0" rIns="0" bIns="0" anchor="ctr"/>
          <a:lstStyle/>
          <a:p>
            <a:pPr algn="r">
              <a:spcAft>
                <a:spcPts val="600"/>
              </a:spcAft>
            </a:pPr>
            <a:r>
              <a:rPr sz="900" b="0" i="0">
                <a:solidFill>
                  <a:srgbClr val="F3D9DC"/>
                </a:solidFill>
                <a:latin typeface="Arial"/>
              </a:rPr>
              <a:t>Create New Project</a:t>
            </a:r>
          </a:p>
        </p:txBody>
      </p:sp>
      <p:sp>
        <p:nvSpPr>
          <p:cNvPr id="14" name="TextBox 13"/>
          <p:cNvSpPr txBox="1"/>
          <p:nvPr/>
        </p:nvSpPr>
        <p:spPr>
          <a:xfrm>
            <a:off x="685800" y="1965960"/>
            <a:ext cx="2592324" cy="292608"/>
          </a:xfrm>
          <a:prstGeom prst="rect">
            <a:avLst/>
          </a:prstGeom>
          <a:noFill/>
        </p:spPr>
        <p:txBody>
          <a:bodyPr wrap="square" lIns="0" tIns="0" rIns="0" bIns="0" anchor="ctr"/>
          <a:lstStyle/>
          <a:p>
            <a:pPr algn="l">
              <a:spcAft>
                <a:spcPts val="600"/>
              </a:spcAft>
            </a:pPr>
            <a:r>
              <a:rPr sz="900" b="0" i="0">
                <a:solidFill>
                  <a:srgbClr val="222222"/>
                </a:solidFill>
                <a:latin typeface="Arial"/>
              </a:rPr>
              <a:t>Project title *</a:t>
            </a:r>
          </a:p>
        </p:txBody>
      </p:sp>
      <p:sp>
        <p:nvSpPr>
          <p:cNvPr id="15" name="Rectangle 14"/>
          <p:cNvSpPr/>
          <p:nvPr/>
        </p:nvSpPr>
        <p:spPr>
          <a:xfrm>
            <a:off x="3393338" y="2002536"/>
            <a:ext cx="288036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39058" y="2002536"/>
            <a:ext cx="2880360" cy="228600"/>
          </a:xfrm>
          <a:prstGeom prst="rect">
            <a:avLst/>
          </a:prstGeom>
          <a:noFill/>
        </p:spPr>
        <p:txBody>
          <a:bodyPr wrap="square" lIns="0" tIns="0" rIns="0" bIns="0" anchor="ctr"/>
          <a:lstStyle/>
          <a:p>
            <a:pPr algn="l">
              <a:spcAft>
                <a:spcPts val="600"/>
              </a:spcAft>
            </a:pPr>
            <a:r>
              <a:rPr sz="850" b="0" i="0">
                <a:solidFill>
                  <a:srgbClr val="222222"/>
                </a:solidFill>
                <a:latin typeface="Arial"/>
              </a:rPr>
              <a:t>TBCARE practice – group 3</a:t>
            </a:r>
          </a:p>
        </p:txBody>
      </p:sp>
      <p:sp>
        <p:nvSpPr>
          <p:cNvPr id="17" name="TextBox 16"/>
          <p:cNvSpPr txBox="1"/>
          <p:nvPr/>
        </p:nvSpPr>
        <p:spPr>
          <a:xfrm>
            <a:off x="685800" y="2423160"/>
            <a:ext cx="2592324" cy="292608"/>
          </a:xfrm>
          <a:prstGeom prst="rect">
            <a:avLst/>
          </a:prstGeom>
          <a:noFill/>
        </p:spPr>
        <p:txBody>
          <a:bodyPr wrap="square" lIns="0" tIns="0" rIns="0" bIns="0" anchor="ctr"/>
          <a:lstStyle/>
          <a:p>
            <a:pPr algn="l">
              <a:spcAft>
                <a:spcPts val="600"/>
              </a:spcAft>
            </a:pPr>
            <a:r>
              <a:rPr sz="900" b="0" i="0">
                <a:solidFill>
                  <a:srgbClr val="222222"/>
                </a:solidFill>
                <a:latin typeface="Arial"/>
              </a:rPr>
              <a:t>Purpose *</a:t>
            </a:r>
          </a:p>
        </p:txBody>
      </p:sp>
      <p:sp>
        <p:nvSpPr>
          <p:cNvPr id="18" name="Oval 17"/>
          <p:cNvSpPr/>
          <p:nvPr/>
        </p:nvSpPr>
        <p:spPr>
          <a:xfrm>
            <a:off x="3393338" y="2514600"/>
            <a:ext cx="118872" cy="118872"/>
          </a:xfrm>
          <a:prstGeom prst="ellipse">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48786" y="244144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Practice / Just for fun</a:t>
            </a:r>
          </a:p>
        </p:txBody>
      </p:sp>
      <p:sp>
        <p:nvSpPr>
          <p:cNvPr id="20" name="Oval 19"/>
          <p:cNvSpPr/>
          <p:nvPr/>
        </p:nvSpPr>
        <p:spPr>
          <a:xfrm>
            <a:off x="5244998" y="2514600"/>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00446" y="244144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Research</a:t>
            </a:r>
          </a:p>
        </p:txBody>
      </p:sp>
      <p:sp>
        <p:nvSpPr>
          <p:cNvPr id="22" name="TextBox 21"/>
          <p:cNvSpPr txBox="1"/>
          <p:nvPr/>
        </p:nvSpPr>
        <p:spPr>
          <a:xfrm>
            <a:off x="685800" y="2971800"/>
            <a:ext cx="5760720" cy="274320"/>
          </a:xfrm>
          <a:prstGeom prst="rect">
            <a:avLst/>
          </a:prstGeom>
          <a:noFill/>
        </p:spPr>
        <p:txBody>
          <a:bodyPr wrap="square" lIns="0" tIns="0" rIns="0" bIns="0" anchor="t"/>
          <a:lstStyle/>
          <a:p>
            <a:pPr algn="l">
              <a:spcAft>
                <a:spcPts val="600"/>
              </a:spcAft>
            </a:pPr>
            <a:r>
              <a:rPr sz="900" b="1" i="0">
                <a:solidFill>
                  <a:srgbClr val="41464C"/>
                </a:solidFill>
                <a:latin typeface="Arial"/>
              </a:rPr>
              <a:t>Start project from:</a:t>
            </a:r>
          </a:p>
        </p:txBody>
      </p:sp>
      <p:sp>
        <p:nvSpPr>
          <p:cNvPr id="23" name="Oval 22"/>
          <p:cNvSpPr/>
          <p:nvPr/>
        </p:nvSpPr>
        <p:spPr>
          <a:xfrm>
            <a:off x="777240" y="3355848"/>
            <a:ext cx="118872" cy="118872"/>
          </a:xfrm>
          <a:prstGeom prst="ellipse">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3264408"/>
            <a:ext cx="5394959" cy="274320"/>
          </a:xfrm>
          <a:prstGeom prst="rect">
            <a:avLst/>
          </a:prstGeom>
          <a:noFill/>
        </p:spPr>
        <p:txBody>
          <a:bodyPr wrap="square" lIns="0" tIns="0" rIns="0" bIns="0" anchor="ctr"/>
          <a:lstStyle/>
          <a:p>
            <a:pPr algn="l">
              <a:spcAft>
                <a:spcPts val="600"/>
              </a:spcAft>
            </a:pPr>
            <a:r>
              <a:rPr sz="900" b="0" i="0">
                <a:solidFill>
                  <a:srgbClr val="222222"/>
                </a:solidFill>
                <a:latin typeface="Arial"/>
              </a:rPr>
              <a:t>Empty project (blank slate)</a:t>
            </a:r>
          </a:p>
        </p:txBody>
      </p:sp>
      <p:sp>
        <p:nvSpPr>
          <p:cNvPr id="25" name="Oval 24"/>
          <p:cNvSpPr/>
          <p:nvPr/>
        </p:nvSpPr>
        <p:spPr>
          <a:xfrm>
            <a:off x="777240" y="3703320"/>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3611879"/>
            <a:ext cx="5394959" cy="274320"/>
          </a:xfrm>
          <a:prstGeom prst="rect">
            <a:avLst/>
          </a:prstGeom>
          <a:noFill/>
        </p:spPr>
        <p:txBody>
          <a:bodyPr wrap="square" lIns="0" tIns="0" rIns="0" bIns="0" anchor="ctr"/>
          <a:lstStyle/>
          <a:p>
            <a:pPr algn="l">
              <a:spcAft>
                <a:spcPts val="600"/>
              </a:spcAft>
            </a:pPr>
            <a:r>
              <a:rPr sz="900" b="0" i="0">
                <a:solidFill>
                  <a:srgbClr val="222222"/>
                </a:solidFill>
                <a:latin typeface="Arial"/>
              </a:rPr>
              <a:t>Template (use one of the templates)</a:t>
            </a:r>
          </a:p>
        </p:txBody>
      </p:sp>
      <p:sp>
        <p:nvSpPr>
          <p:cNvPr id="27" name="Oval 26"/>
          <p:cNvSpPr/>
          <p:nvPr/>
        </p:nvSpPr>
        <p:spPr>
          <a:xfrm>
            <a:off x="777240" y="4050791"/>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 y="3959352"/>
            <a:ext cx="5394959" cy="274320"/>
          </a:xfrm>
          <a:prstGeom prst="rect">
            <a:avLst/>
          </a:prstGeom>
          <a:noFill/>
        </p:spPr>
        <p:txBody>
          <a:bodyPr wrap="square" lIns="0" tIns="0" rIns="0" bIns="0" anchor="ctr"/>
          <a:lstStyle/>
          <a:p>
            <a:pPr algn="l">
              <a:spcAft>
                <a:spcPts val="600"/>
              </a:spcAft>
            </a:pPr>
            <a:r>
              <a:rPr sz="900" b="0" i="0">
                <a:solidFill>
                  <a:srgbClr val="222222"/>
                </a:solidFill>
                <a:latin typeface="Arial"/>
              </a:rPr>
              <a:t>Upload a REDCap project XML file</a:t>
            </a:r>
          </a:p>
        </p:txBody>
      </p:sp>
      <p:sp>
        <p:nvSpPr>
          <p:cNvPr id="29" name="Rectangle 28"/>
          <p:cNvSpPr/>
          <p:nvPr/>
        </p:nvSpPr>
        <p:spPr>
          <a:xfrm>
            <a:off x="685800" y="4526279"/>
            <a:ext cx="1463040" cy="34747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00" b="1" i="0">
                <a:solidFill>
                  <a:srgbClr val="FFFFFF"/>
                </a:solidFill>
                <a:latin typeface="Arial"/>
              </a:rPr>
              <a:t>Create Project</a:t>
            </a:r>
          </a:p>
        </p:txBody>
      </p:sp>
      <p:pic>
        <p:nvPicPr>
          <p:cNvPr id="30" name="Picture 29" descr="E710_1E88C8.png"/>
          <p:cNvPicPr>
            <a:picLocks noChangeAspect="1"/>
          </p:cNvPicPr>
          <p:nvPr/>
        </p:nvPicPr>
        <p:blipFill>
          <a:blip r:embed="rId4"/>
          <a:stretch>
            <a:fillRect/>
          </a:stretch>
        </p:blipFill>
        <p:spPr>
          <a:xfrm>
            <a:off x="6949440" y="1554480"/>
            <a:ext cx="457200" cy="457200"/>
          </a:xfrm>
          <a:prstGeom prst="rect">
            <a:avLst/>
          </a:prstGeom>
        </p:spPr>
      </p:pic>
      <p:sp>
        <p:nvSpPr>
          <p:cNvPr id="31" name="TextBox 30"/>
          <p:cNvSpPr txBox="1"/>
          <p:nvPr/>
        </p:nvSpPr>
        <p:spPr>
          <a:xfrm>
            <a:off x="7589519" y="1572768"/>
            <a:ext cx="4023359" cy="914400"/>
          </a:xfrm>
          <a:prstGeom prst="rect">
            <a:avLst/>
          </a:prstGeom>
          <a:noFill/>
        </p:spPr>
        <p:txBody>
          <a:bodyPr wrap="square" lIns="0" tIns="0" rIns="0" bIns="0" anchor="t"/>
          <a:lstStyle/>
          <a:p>
            <a:pPr algn="l">
              <a:spcAft>
                <a:spcPts val="600"/>
              </a:spcAft>
            </a:pPr>
            <a:r>
              <a:rPr sz="1600" b="1" i="0">
                <a:solidFill>
                  <a:srgbClr val="222222"/>
                </a:solidFill>
                <a:latin typeface="Arial"/>
              </a:rPr>
              <a:t>Empty</a:t>
            </a:r>
            <a:r>
              <a:rPr sz="1600" b="0" i="0">
                <a:solidFill>
                  <a:srgbClr val="222222"/>
                </a:solidFill>
                <a:latin typeface="Arial"/>
              </a:rPr>
              <a:t>  build from scratch</a:t>
            </a:r>
          </a:p>
        </p:txBody>
      </p:sp>
      <p:pic>
        <p:nvPicPr>
          <p:cNvPr id="32" name="Picture 31" descr="E8A5_1E88C8.png"/>
          <p:cNvPicPr>
            <a:picLocks noChangeAspect="1"/>
          </p:cNvPicPr>
          <p:nvPr/>
        </p:nvPicPr>
        <p:blipFill>
          <a:blip r:embed="rId5"/>
          <a:stretch>
            <a:fillRect/>
          </a:stretch>
        </p:blipFill>
        <p:spPr>
          <a:xfrm>
            <a:off x="6949440" y="2468880"/>
            <a:ext cx="457200" cy="457200"/>
          </a:xfrm>
          <a:prstGeom prst="rect">
            <a:avLst/>
          </a:prstGeom>
        </p:spPr>
      </p:pic>
      <p:sp>
        <p:nvSpPr>
          <p:cNvPr id="33" name="TextBox 32"/>
          <p:cNvSpPr txBox="1"/>
          <p:nvPr/>
        </p:nvSpPr>
        <p:spPr>
          <a:xfrm>
            <a:off x="7589519" y="2487168"/>
            <a:ext cx="4023359" cy="914400"/>
          </a:xfrm>
          <a:prstGeom prst="rect">
            <a:avLst/>
          </a:prstGeom>
          <a:noFill/>
        </p:spPr>
        <p:txBody>
          <a:bodyPr wrap="square" lIns="0" tIns="0" rIns="0" bIns="0" anchor="t"/>
          <a:lstStyle/>
          <a:p>
            <a:pPr algn="l">
              <a:spcAft>
                <a:spcPts val="600"/>
              </a:spcAft>
            </a:pPr>
            <a:r>
              <a:rPr sz="1600" b="1" i="0">
                <a:solidFill>
                  <a:srgbClr val="222222"/>
                </a:solidFill>
                <a:latin typeface="Arial"/>
              </a:rPr>
              <a:t>Template</a:t>
            </a:r>
            <a:r>
              <a:rPr sz="1600" b="0" i="0">
                <a:solidFill>
                  <a:srgbClr val="222222"/>
                </a:solidFill>
                <a:latin typeface="Arial"/>
              </a:rPr>
              <a:t>  start from an example</a:t>
            </a:r>
          </a:p>
        </p:txBody>
      </p:sp>
      <p:pic>
        <p:nvPicPr>
          <p:cNvPr id="34" name="Picture 33" descr="E898_1E88C8.png"/>
          <p:cNvPicPr>
            <a:picLocks noChangeAspect="1"/>
          </p:cNvPicPr>
          <p:nvPr/>
        </p:nvPicPr>
        <p:blipFill>
          <a:blip r:embed="rId6"/>
          <a:stretch>
            <a:fillRect/>
          </a:stretch>
        </p:blipFill>
        <p:spPr>
          <a:xfrm>
            <a:off x="6949440" y="3383280"/>
            <a:ext cx="457200" cy="457200"/>
          </a:xfrm>
          <a:prstGeom prst="rect">
            <a:avLst/>
          </a:prstGeom>
        </p:spPr>
      </p:pic>
      <p:sp>
        <p:nvSpPr>
          <p:cNvPr id="35" name="TextBox 34"/>
          <p:cNvSpPr txBox="1"/>
          <p:nvPr/>
        </p:nvSpPr>
        <p:spPr>
          <a:xfrm>
            <a:off x="7589519" y="3401568"/>
            <a:ext cx="4023359" cy="914400"/>
          </a:xfrm>
          <a:prstGeom prst="rect">
            <a:avLst/>
          </a:prstGeom>
          <a:noFill/>
        </p:spPr>
        <p:txBody>
          <a:bodyPr wrap="square" lIns="0" tIns="0" rIns="0" bIns="0" anchor="t"/>
          <a:lstStyle/>
          <a:p>
            <a:pPr algn="l">
              <a:spcAft>
                <a:spcPts val="600"/>
              </a:spcAft>
            </a:pPr>
            <a:r>
              <a:rPr sz="1600" b="1" i="0">
                <a:solidFill>
                  <a:srgbClr val="222222"/>
                </a:solidFill>
                <a:latin typeface="Arial"/>
              </a:rPr>
              <a:t>XML upload</a:t>
            </a:r>
            <a:r>
              <a:rPr sz="1600" b="0" i="0">
                <a:solidFill>
                  <a:srgbClr val="222222"/>
                </a:solidFill>
                <a:latin typeface="Arial"/>
              </a:rPr>
              <a:t>  copy a whole project design</a:t>
            </a:r>
          </a:p>
        </p:txBody>
      </p:sp>
      <p:sp>
        <p:nvSpPr>
          <p:cNvPr id="36" name="Rectangle 35"/>
          <p:cNvSpPr/>
          <p:nvPr/>
        </p:nvSpPr>
        <p:spPr>
          <a:xfrm>
            <a:off x="6949440" y="4754880"/>
            <a:ext cx="4690872" cy="73152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949440" y="4754880"/>
            <a:ext cx="73152" cy="73152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946_1E88C8.png"/>
          <p:cNvPicPr>
            <a:picLocks noChangeAspect="1"/>
          </p:cNvPicPr>
          <p:nvPr/>
        </p:nvPicPr>
        <p:blipFill>
          <a:blip r:embed="rId7"/>
          <a:stretch>
            <a:fillRect/>
          </a:stretch>
        </p:blipFill>
        <p:spPr>
          <a:xfrm>
            <a:off x="7178040" y="4937760"/>
            <a:ext cx="365760" cy="365760"/>
          </a:xfrm>
          <a:prstGeom prst="rect">
            <a:avLst/>
          </a:prstGeom>
        </p:spPr>
      </p:pic>
      <p:sp>
        <p:nvSpPr>
          <p:cNvPr id="39" name="TextBox 38"/>
          <p:cNvSpPr txBox="1"/>
          <p:nvPr/>
        </p:nvSpPr>
        <p:spPr>
          <a:xfrm>
            <a:off x="7680960" y="4754880"/>
            <a:ext cx="3867912" cy="731520"/>
          </a:xfrm>
          <a:prstGeom prst="rect">
            <a:avLst/>
          </a:prstGeom>
          <a:noFill/>
        </p:spPr>
        <p:txBody>
          <a:bodyPr wrap="square" lIns="0" tIns="0" rIns="0" bIns="0" anchor="ctr"/>
          <a:lstStyle/>
          <a:p>
            <a:pPr algn="l">
              <a:spcAft>
                <a:spcPts val="600"/>
              </a:spcAft>
            </a:pPr>
            <a:r>
              <a:rPr sz="1500" b="0" i="0">
                <a:solidFill>
                  <a:srgbClr val="222222"/>
                </a:solidFill>
                <a:latin typeface="Arial"/>
              </a:rPr>
              <a:t>For this course, purpose = </a:t>
            </a:r>
            <a:r>
              <a:rPr sz="1500" b="1" i="0">
                <a:solidFill>
                  <a:srgbClr val="1E88C8"/>
                </a:solidFill>
                <a:latin typeface="Arial"/>
              </a:rPr>
              <a:t>Practice / Just for fun</a:t>
            </a:r>
            <a:r>
              <a:rPr sz="1500" b="0" i="0">
                <a:solidFill>
                  <a:srgbClr val="222222"/>
                </a:solidFill>
                <a:latin typeface="Arial"/>
              </a:rPr>
              <a:t>.</a:t>
            </a:r>
          </a:p>
        </p:txBody>
      </p:sp>
      <p:sp>
        <p:nvSpPr>
          <p:cNvPr id="40" name="TextBox 39"/>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XML: Extensible Markup Language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Project Setup page is your checklist</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1 of 6: Getting started</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10</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Detailed overview of REDCap (14 min)</a:t>
            </a:r>
          </a:p>
        </p:txBody>
      </p:sp>
      <p:pic>
        <p:nvPicPr>
          <p:cNvPr id="10" name="Picture 9" descr="E73E_2E7D32.png"/>
          <p:cNvPicPr>
            <a:picLocks noChangeAspect="1"/>
          </p:cNvPicPr>
          <p:nvPr/>
        </p:nvPicPr>
        <p:blipFill>
          <a:blip r:embed="rId4"/>
          <a:stretch>
            <a:fillRect/>
          </a:stretch>
        </p:blipFill>
        <p:spPr>
          <a:xfrm>
            <a:off x="640080" y="1463040"/>
            <a:ext cx="384048" cy="384048"/>
          </a:xfrm>
          <a:prstGeom prst="rect">
            <a:avLst/>
          </a:prstGeom>
        </p:spPr>
      </p:pic>
      <p:sp>
        <p:nvSpPr>
          <p:cNvPr id="11" name="TextBox 10"/>
          <p:cNvSpPr txBox="1"/>
          <p:nvPr/>
        </p:nvSpPr>
        <p:spPr>
          <a:xfrm>
            <a:off x="1188720" y="1435608"/>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Main project settings</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surveys? longitudinal?</a:t>
            </a:r>
          </a:p>
        </p:txBody>
      </p:sp>
      <p:pic>
        <p:nvPicPr>
          <p:cNvPr id="12" name="Picture 11" descr="E73E_2E7D32.png"/>
          <p:cNvPicPr>
            <a:picLocks noChangeAspect="1"/>
          </p:cNvPicPr>
          <p:nvPr/>
        </p:nvPicPr>
        <p:blipFill>
          <a:blip r:embed="rId4"/>
          <a:stretch>
            <a:fillRect/>
          </a:stretch>
        </p:blipFill>
        <p:spPr>
          <a:xfrm>
            <a:off x="640080" y="2084832"/>
            <a:ext cx="384048" cy="384048"/>
          </a:xfrm>
          <a:prstGeom prst="rect">
            <a:avLst/>
          </a:prstGeom>
        </p:spPr>
      </p:pic>
      <p:sp>
        <p:nvSpPr>
          <p:cNvPr id="13" name="TextBox 12"/>
          <p:cNvSpPr txBox="1"/>
          <p:nvPr/>
        </p:nvSpPr>
        <p:spPr>
          <a:xfrm>
            <a:off x="1188720" y="2057400"/>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Design your instruments</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Online Designer or Data Dictionary</a:t>
            </a:r>
          </a:p>
        </p:txBody>
      </p:sp>
      <p:pic>
        <p:nvPicPr>
          <p:cNvPr id="14" name="Picture 13" descr="EA3F_A3A9AF.png"/>
          <p:cNvPicPr>
            <a:picLocks noChangeAspect="1"/>
          </p:cNvPicPr>
          <p:nvPr/>
        </p:nvPicPr>
        <p:blipFill>
          <a:blip r:embed="rId5"/>
          <a:stretch>
            <a:fillRect/>
          </a:stretch>
        </p:blipFill>
        <p:spPr>
          <a:xfrm>
            <a:off x="640080" y="2706624"/>
            <a:ext cx="384048" cy="384048"/>
          </a:xfrm>
          <a:prstGeom prst="rect">
            <a:avLst/>
          </a:prstGeom>
        </p:spPr>
      </p:pic>
      <p:sp>
        <p:nvSpPr>
          <p:cNvPr id="15" name="TextBox 14"/>
          <p:cNvSpPr txBox="1"/>
          <p:nvPr/>
        </p:nvSpPr>
        <p:spPr>
          <a:xfrm>
            <a:off x="1188720" y="2679192"/>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Define events (longitudinal)</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and designate instruments</a:t>
            </a:r>
          </a:p>
        </p:txBody>
      </p:sp>
      <p:pic>
        <p:nvPicPr>
          <p:cNvPr id="16" name="Picture 15" descr="EA3F_A3A9AF.png"/>
          <p:cNvPicPr>
            <a:picLocks noChangeAspect="1"/>
          </p:cNvPicPr>
          <p:nvPr/>
        </p:nvPicPr>
        <p:blipFill>
          <a:blip r:embed="rId5"/>
          <a:stretch>
            <a:fillRect/>
          </a:stretch>
        </p:blipFill>
        <p:spPr>
          <a:xfrm>
            <a:off x="640080" y="3328416"/>
            <a:ext cx="384048" cy="384048"/>
          </a:xfrm>
          <a:prstGeom prst="rect">
            <a:avLst/>
          </a:prstGeom>
        </p:spPr>
      </p:pic>
      <p:sp>
        <p:nvSpPr>
          <p:cNvPr id="17" name="TextBox 16"/>
          <p:cNvSpPr txBox="1"/>
          <p:nvPr/>
        </p:nvSpPr>
        <p:spPr>
          <a:xfrm>
            <a:off x="1188720" y="3300984"/>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Optional modules</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repeating, auto-numbering, scheduling, queries</a:t>
            </a:r>
          </a:p>
        </p:txBody>
      </p:sp>
      <p:pic>
        <p:nvPicPr>
          <p:cNvPr id="18" name="Picture 17" descr="EA3F_A3A9AF.png"/>
          <p:cNvPicPr>
            <a:picLocks noChangeAspect="1"/>
          </p:cNvPicPr>
          <p:nvPr/>
        </p:nvPicPr>
        <p:blipFill>
          <a:blip r:embed="rId5"/>
          <a:stretch>
            <a:fillRect/>
          </a:stretch>
        </p:blipFill>
        <p:spPr>
          <a:xfrm>
            <a:off x="640080" y="3950208"/>
            <a:ext cx="384048" cy="384048"/>
          </a:xfrm>
          <a:prstGeom prst="rect">
            <a:avLst/>
          </a:prstGeom>
        </p:spPr>
      </p:pic>
      <p:sp>
        <p:nvSpPr>
          <p:cNvPr id="19" name="TextBox 18"/>
          <p:cNvSpPr txBox="1"/>
          <p:nvPr/>
        </p:nvSpPr>
        <p:spPr>
          <a:xfrm>
            <a:off x="1188720" y="3922776"/>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User rights and DAGs</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who sees what</a:t>
            </a:r>
          </a:p>
        </p:txBody>
      </p:sp>
      <p:pic>
        <p:nvPicPr>
          <p:cNvPr id="20" name="Picture 19" descr="EA3F_A3A9AF.png"/>
          <p:cNvPicPr>
            <a:picLocks noChangeAspect="1"/>
          </p:cNvPicPr>
          <p:nvPr/>
        </p:nvPicPr>
        <p:blipFill>
          <a:blip r:embed="rId5"/>
          <a:stretch>
            <a:fillRect/>
          </a:stretch>
        </p:blipFill>
        <p:spPr>
          <a:xfrm>
            <a:off x="640080" y="4572000"/>
            <a:ext cx="384048" cy="384048"/>
          </a:xfrm>
          <a:prstGeom prst="rect">
            <a:avLst/>
          </a:prstGeom>
        </p:spPr>
      </p:pic>
      <p:sp>
        <p:nvSpPr>
          <p:cNvPr id="21" name="TextBox 20"/>
          <p:cNvSpPr txBox="1"/>
          <p:nvPr/>
        </p:nvSpPr>
        <p:spPr>
          <a:xfrm>
            <a:off x="1188720" y="4544568"/>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Test</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with fake records</a:t>
            </a:r>
          </a:p>
        </p:txBody>
      </p:sp>
      <p:pic>
        <p:nvPicPr>
          <p:cNvPr id="22" name="Picture 21" descr="EA3F_A3A9AF.png"/>
          <p:cNvPicPr>
            <a:picLocks noChangeAspect="1"/>
          </p:cNvPicPr>
          <p:nvPr/>
        </p:nvPicPr>
        <p:blipFill>
          <a:blip r:embed="rId5"/>
          <a:stretch>
            <a:fillRect/>
          </a:stretch>
        </p:blipFill>
        <p:spPr>
          <a:xfrm>
            <a:off x="640080" y="5193792"/>
            <a:ext cx="384048" cy="384048"/>
          </a:xfrm>
          <a:prstGeom prst="rect">
            <a:avLst/>
          </a:prstGeom>
        </p:spPr>
      </p:pic>
      <p:sp>
        <p:nvSpPr>
          <p:cNvPr id="23" name="TextBox 22"/>
          <p:cNvSpPr txBox="1"/>
          <p:nvPr/>
        </p:nvSpPr>
        <p:spPr>
          <a:xfrm>
            <a:off x="1188720" y="5166359"/>
            <a:ext cx="6400800" cy="502920"/>
          </a:xfrm>
          <a:prstGeom prst="rect">
            <a:avLst/>
          </a:prstGeom>
          <a:noFill/>
        </p:spPr>
        <p:txBody>
          <a:bodyPr wrap="square" lIns="0" tIns="0" rIns="0" bIns="0" anchor="ctr"/>
          <a:lstStyle/>
          <a:p>
            <a:pPr algn="l">
              <a:spcAft>
                <a:spcPts val="600"/>
              </a:spcAft>
            </a:pPr>
            <a:r>
              <a:rPr sz="1600" b="1" i="0">
                <a:solidFill>
                  <a:srgbClr val="222222"/>
                </a:solidFill>
                <a:latin typeface="Arial"/>
              </a:rPr>
              <a:t>Move to Production</a:t>
            </a:r>
            <a:r>
              <a:rPr sz="1600" b="0" i="0">
                <a:solidFill>
                  <a:srgbClr val="222222"/>
                </a:solidFill>
                <a:latin typeface="Arial"/>
              </a:rPr>
              <a:t>  </a:t>
            </a:r>
            <a:r>
              <a:rPr sz="1600" b="1" i="0">
                <a:solidFill>
                  <a:srgbClr val="41464C"/>
                </a:solidFill>
                <a:latin typeface="Arial"/>
              </a:rPr>
              <a:t>·</a:t>
            </a:r>
            <a:r>
              <a:rPr sz="1600" b="0" i="0">
                <a:solidFill>
                  <a:srgbClr val="222222"/>
                </a:solidFill>
                <a:latin typeface="Arial"/>
              </a:rPr>
              <a:t>  after testing</a:t>
            </a:r>
          </a:p>
        </p:txBody>
      </p:sp>
      <p:sp>
        <p:nvSpPr>
          <p:cNvPr id="24" name="Rectangle 23"/>
          <p:cNvSpPr/>
          <p:nvPr/>
        </p:nvSpPr>
        <p:spPr>
          <a:xfrm>
            <a:off x="8229600" y="1463040"/>
            <a:ext cx="3410712"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713_FFFFFF.png"/>
          <p:cNvPicPr>
            <a:picLocks noChangeAspect="1"/>
          </p:cNvPicPr>
          <p:nvPr/>
        </p:nvPicPr>
        <p:blipFill>
          <a:blip r:embed="rId6"/>
          <a:stretch>
            <a:fillRect/>
          </a:stretch>
        </p:blipFill>
        <p:spPr>
          <a:xfrm>
            <a:off x="8339327" y="1527048"/>
            <a:ext cx="329184" cy="329184"/>
          </a:xfrm>
          <a:prstGeom prst="rect">
            <a:avLst/>
          </a:prstGeom>
        </p:spPr>
      </p:pic>
      <p:sp>
        <p:nvSpPr>
          <p:cNvPr id="26" name="TextBox 25"/>
          <p:cNvSpPr txBox="1"/>
          <p:nvPr/>
        </p:nvSpPr>
        <p:spPr>
          <a:xfrm>
            <a:off x="8778240" y="1463040"/>
            <a:ext cx="2770632" cy="457200"/>
          </a:xfrm>
          <a:prstGeom prst="rect">
            <a:avLst/>
          </a:prstGeom>
          <a:noFill/>
        </p:spPr>
        <p:txBody>
          <a:bodyPr wrap="square" lIns="0" tIns="0" rIns="0" bIns="0" anchor="ctr"/>
          <a:lstStyle/>
          <a:p>
            <a:pPr algn="l">
              <a:spcAft>
                <a:spcPts val="600"/>
              </a:spcAft>
            </a:pPr>
            <a:r>
              <a:rPr sz="1500" b="1" i="0">
                <a:solidFill>
                  <a:srgbClr val="FFFFFF"/>
                </a:solidFill>
                <a:latin typeface="Arial"/>
              </a:rPr>
              <a:t>Two switches first</a:t>
            </a:r>
          </a:p>
        </p:txBody>
      </p:sp>
      <p:sp>
        <p:nvSpPr>
          <p:cNvPr id="27" name="Rectangle 26"/>
          <p:cNvSpPr/>
          <p:nvPr/>
        </p:nvSpPr>
        <p:spPr>
          <a:xfrm>
            <a:off x="8229600" y="1920240"/>
            <a:ext cx="3410712" cy="228600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60" y="2029968"/>
            <a:ext cx="3136392" cy="2103120"/>
          </a:xfrm>
          <a:prstGeom prst="rect">
            <a:avLst/>
          </a:prstGeom>
          <a:noFill/>
        </p:spPr>
        <p:txBody>
          <a:bodyPr wrap="square" lIns="0" tIns="0" rIns="0" bIns="0" anchor="t"/>
          <a:lstStyle/>
          <a:p>
            <a:pPr algn="l">
              <a:spcAft>
                <a:spcPts val="400"/>
              </a:spcAft>
            </a:pPr>
            <a:r>
              <a:rPr sz="1500" b="0" i="0">
                <a:solidFill>
                  <a:srgbClr val="222222"/>
                </a:solidFill>
                <a:latin typeface="Arial"/>
              </a:rPr>
              <a:t>Use </a:t>
            </a:r>
            <a:r>
              <a:rPr sz="1500" b="1" i="0">
                <a:solidFill>
                  <a:srgbClr val="222222"/>
                </a:solidFill>
                <a:latin typeface="Arial"/>
              </a:rPr>
              <a:t>surveys</a:t>
            </a:r>
            <a:r>
              <a:rPr sz="1500" b="0" i="0">
                <a:solidFill>
                  <a:srgbClr val="222222"/>
                </a:solidFill>
                <a:latin typeface="Arial"/>
              </a:rPr>
              <a:t>?</a:t>
            </a:r>
          </a:p>
          <a:p>
            <a:pPr algn="l">
              <a:spcAft>
                <a:spcPts val="400"/>
              </a:spcAft>
            </a:pPr>
            <a:r>
              <a:rPr sz="1500" b="0" i="0">
                <a:solidFill>
                  <a:srgbClr val="222222"/>
                </a:solidFill>
                <a:latin typeface="Arial"/>
              </a:rPr>
              <a:t>Use </a:t>
            </a:r>
            <a:r>
              <a:rPr sz="1500" b="1" i="0">
                <a:solidFill>
                  <a:srgbClr val="222222"/>
                </a:solidFill>
                <a:latin typeface="Arial"/>
              </a:rPr>
              <a:t>longitudinal</a:t>
            </a:r>
            <a:r>
              <a:rPr sz="1500" b="0" i="0">
                <a:solidFill>
                  <a:srgbClr val="222222"/>
                </a:solidFill>
                <a:latin typeface="Arial"/>
              </a:rPr>
              <a:t> events?</a:t>
            </a:r>
          </a:p>
          <a:p>
            <a:pPr algn="l">
              <a:spcAft>
                <a:spcPts val="400"/>
              </a:spcAft>
            </a:pPr>
            <a:r>
              <a:rPr sz="1500" b="0" i="0">
                <a:solidFill>
                  <a:srgbClr val="222222"/>
                </a:solidFill>
                <a:latin typeface="Arial"/>
              </a:rPr>
              <a:t>They change the whole project</a:t>
            </a:r>
          </a:p>
        </p:txBody>
      </p:sp>
      <p:sp>
        <p:nvSpPr>
          <p:cNvPr id="29" name="TextBox 28"/>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11</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Oval 7"/>
          <p:cNvSpPr/>
          <p:nvPr/>
        </p:nvSpPr>
        <p:spPr>
          <a:xfrm>
            <a:off x="777240" y="1234440"/>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417320" y="1197864"/>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Getting started</a:t>
            </a:r>
          </a:p>
        </p:txBody>
      </p:sp>
      <p:sp>
        <p:nvSpPr>
          <p:cNvPr id="10" name="Rectangle 9"/>
          <p:cNvSpPr/>
          <p:nvPr/>
        </p:nvSpPr>
        <p:spPr>
          <a:xfrm>
            <a:off x="548640" y="1892807"/>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892807"/>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1984248"/>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3" name="TextBox 12"/>
          <p:cNvSpPr txBox="1"/>
          <p:nvPr/>
        </p:nvSpPr>
        <p:spPr>
          <a:xfrm>
            <a:off x="1417320" y="1947672"/>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Building instruments</a:t>
            </a:r>
          </a:p>
        </p:txBody>
      </p:sp>
      <p:sp>
        <p:nvSpPr>
          <p:cNvPr id="14" name="Oval 13"/>
          <p:cNvSpPr/>
          <p:nvPr/>
        </p:nvSpPr>
        <p:spPr>
          <a:xfrm>
            <a:off x="777240" y="2734056"/>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3</a:t>
            </a:r>
          </a:p>
        </p:txBody>
      </p:sp>
      <p:sp>
        <p:nvSpPr>
          <p:cNvPr id="15" name="TextBox 14"/>
          <p:cNvSpPr txBox="1"/>
          <p:nvPr/>
        </p:nvSpPr>
        <p:spPr>
          <a:xfrm>
            <a:off x="1417320" y="2697480"/>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Choosing a project type</a:t>
            </a:r>
          </a:p>
        </p:txBody>
      </p:sp>
      <p:sp>
        <p:nvSpPr>
          <p:cNvPr id="16" name="Oval 15"/>
          <p:cNvSpPr/>
          <p:nvPr/>
        </p:nvSpPr>
        <p:spPr>
          <a:xfrm>
            <a:off x="777240" y="3483864"/>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4</a:t>
            </a:r>
          </a:p>
        </p:txBody>
      </p:sp>
      <p:sp>
        <p:nvSpPr>
          <p:cNvPr id="17" name="TextBox 16"/>
          <p:cNvSpPr txBox="1"/>
          <p:nvPr/>
        </p:nvSpPr>
        <p:spPr>
          <a:xfrm>
            <a:off x="1417320" y="3447288"/>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Longitudinal and repeating data</a:t>
            </a:r>
          </a:p>
        </p:txBody>
      </p:sp>
      <p:sp>
        <p:nvSpPr>
          <p:cNvPr id="18" name="Oval 17"/>
          <p:cNvSpPr/>
          <p:nvPr/>
        </p:nvSpPr>
        <p:spPr>
          <a:xfrm>
            <a:off x="777240" y="4233672"/>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5</a:t>
            </a:r>
          </a:p>
        </p:txBody>
      </p:sp>
      <p:sp>
        <p:nvSpPr>
          <p:cNvPr id="19" name="TextBox 18"/>
          <p:cNvSpPr txBox="1"/>
          <p:nvPr/>
        </p:nvSpPr>
        <p:spPr>
          <a:xfrm>
            <a:off x="1417320" y="4197096"/>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Data entry, quality and multi-site work</a:t>
            </a:r>
          </a:p>
        </p:txBody>
      </p:sp>
      <p:sp>
        <p:nvSpPr>
          <p:cNvPr id="20" name="Oval 19"/>
          <p:cNvSpPr/>
          <p:nvPr/>
        </p:nvSpPr>
        <p:spPr>
          <a:xfrm>
            <a:off x="777240" y="4983479"/>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2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Building instruments</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Records, instruments and fields</a:t>
            </a:r>
          </a:p>
          <a:p>
            <a:pPr marL="256032" indent="-256032" algn="l">
              <a:spcAft>
                <a:spcPts val="800"/>
              </a:spcAft>
              <a:buClr>
                <a:srgbClr val="1E88C8"/>
              </a:buClr>
              <a:buSzPct val="75000"/>
              <a:buFont typeface="Arial"/>
              <a:buChar char="■"/>
            </a:pPr>
            <a:r>
              <a:rPr sz="1700" b="0" i="0">
                <a:solidFill>
                  <a:srgbClr val="222222"/>
                </a:solidFill>
                <a:latin typeface="Arial"/>
              </a:rPr>
              <a:t>The Online Designer</a:t>
            </a:r>
          </a:p>
          <a:p>
            <a:pPr marL="256032" indent="-256032" algn="l">
              <a:spcAft>
                <a:spcPts val="800"/>
              </a:spcAft>
              <a:buClr>
                <a:srgbClr val="1E88C8"/>
              </a:buClr>
              <a:buSzPct val="75000"/>
              <a:buFont typeface="Arial"/>
              <a:buChar char="■"/>
            </a:pPr>
            <a:r>
              <a:rPr sz="1700" b="0" i="0">
                <a:solidFill>
                  <a:srgbClr val="222222"/>
                </a:solidFill>
                <a:latin typeface="Arial"/>
              </a:rPr>
              <a:t>The data dictionary (CSV)</a:t>
            </a:r>
          </a:p>
          <a:p>
            <a:pPr marL="256032" indent="-256032" algn="l">
              <a:spcAft>
                <a:spcPts val="800"/>
              </a:spcAft>
              <a:buClr>
                <a:srgbClr val="1E88C8"/>
              </a:buClr>
              <a:buSzPct val="75000"/>
              <a:buFont typeface="Arial"/>
              <a:buChar char="■"/>
            </a:pPr>
            <a:r>
              <a:rPr sz="1700" b="0" i="0">
                <a:solidFill>
                  <a:srgbClr val="222222"/>
                </a:solidFill>
                <a:latin typeface="Arial"/>
              </a:rPr>
              <a:t>Field types and validation</a:t>
            </a:r>
          </a:p>
          <a:p>
            <a:pPr marL="256032" indent="-256032" algn="l">
              <a:spcAft>
                <a:spcPts val="800"/>
              </a:spcAft>
              <a:buClr>
                <a:srgbClr val="1E88C8"/>
              </a:buClr>
              <a:buSzPct val="75000"/>
              <a:buFont typeface="Arial"/>
              <a:buChar char="■"/>
            </a:pPr>
            <a:r>
              <a:rPr sz="1700" b="0" i="0">
                <a:solidFill>
                  <a:srgbClr val="222222"/>
                </a:solidFill>
                <a:latin typeface="Arial"/>
              </a:rPr>
              <a:t>Branching logic, calculations, action tags</a:t>
            </a:r>
          </a:p>
          <a:p>
            <a:pPr marL="256032" indent="-256032" algn="l">
              <a:spcAft>
                <a:spcPts val="800"/>
              </a:spcAft>
              <a:buClr>
                <a:srgbClr val="1E88C8"/>
              </a:buClr>
              <a:buSzPct val="75000"/>
              <a:buFont typeface="Arial"/>
              <a:buChar char="■"/>
            </a:pPr>
            <a:r>
              <a:rPr sz="1700" b="0" i="0">
                <a:solidFill>
                  <a:srgbClr val="222222"/>
                </a:solidFill>
                <a:latin typeface="Arial"/>
              </a:rPr>
              <a:t>Design rules</a:t>
            </a:r>
          </a:p>
        </p:txBody>
      </p:sp>
      <p:sp>
        <p:nvSpPr>
          <p:cNvPr id="27" name="TextBox 2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CSV: comma-separated values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Records, instruments and fields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12</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Introduction to instrument development (6 min)</a:t>
            </a:r>
          </a:p>
        </p:txBody>
      </p:sp>
      <p:sp>
        <p:nvSpPr>
          <p:cNvPr id="10" name="Rectangle 9"/>
          <p:cNvSpPr/>
          <p:nvPr/>
        </p:nvSpPr>
        <p:spPr>
          <a:xfrm>
            <a:off x="548640" y="1463040"/>
            <a:ext cx="6035040" cy="41148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536192"/>
            <a:ext cx="4572000" cy="320040"/>
          </a:xfrm>
          <a:prstGeom prst="rect">
            <a:avLst/>
          </a:prstGeom>
          <a:noFill/>
        </p:spPr>
        <p:txBody>
          <a:bodyPr wrap="square" lIns="0" tIns="0" rIns="0" bIns="0" anchor="t"/>
          <a:lstStyle/>
          <a:p>
            <a:pPr algn="l">
              <a:spcAft>
                <a:spcPts val="600"/>
              </a:spcAft>
            </a:pPr>
            <a:r>
              <a:rPr sz="1200" b="1" i="0">
                <a:solidFill>
                  <a:srgbClr val="41464C"/>
                </a:solidFill>
                <a:latin typeface="Arial"/>
              </a:rPr>
              <a:t>PROJECT: TBCARE</a:t>
            </a:r>
          </a:p>
        </p:txBody>
      </p:sp>
      <p:sp>
        <p:nvSpPr>
          <p:cNvPr id="12" name="Rectangle 11"/>
          <p:cNvSpPr/>
          <p:nvPr/>
        </p:nvSpPr>
        <p:spPr>
          <a:xfrm>
            <a:off x="731520" y="1965960"/>
            <a:ext cx="1783080" cy="342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1965960"/>
            <a:ext cx="178308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Enrolment</a:t>
            </a:r>
          </a:p>
        </p:txBody>
      </p:sp>
      <p:sp>
        <p:nvSpPr>
          <p:cNvPr id="14" name="TextBox 13"/>
          <p:cNvSpPr txBox="1"/>
          <p:nvPr/>
        </p:nvSpPr>
        <p:spPr>
          <a:xfrm>
            <a:off x="822960" y="2450592"/>
            <a:ext cx="1645920" cy="274320"/>
          </a:xfrm>
          <a:prstGeom prst="rect">
            <a:avLst/>
          </a:prstGeom>
          <a:noFill/>
        </p:spPr>
        <p:txBody>
          <a:bodyPr wrap="square" lIns="0" tIns="0" rIns="0" bIns="0" anchor="t"/>
          <a:lstStyle/>
          <a:p>
            <a:pPr algn="l">
              <a:spcAft>
                <a:spcPts val="600"/>
              </a:spcAft>
            </a:pPr>
            <a:r>
              <a:rPr sz="800" b="1" i="0">
                <a:solidFill>
                  <a:srgbClr val="62676D"/>
                </a:solidFill>
                <a:latin typeface="Arial"/>
              </a:rPr>
              <a:t>INSTRUMENT</a:t>
            </a:r>
          </a:p>
        </p:txBody>
      </p:sp>
      <p:sp>
        <p:nvSpPr>
          <p:cNvPr id="15" name="Rectangle 14"/>
          <p:cNvSpPr/>
          <p:nvPr/>
        </p:nvSpPr>
        <p:spPr>
          <a:xfrm>
            <a:off x="822960" y="278892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record_id</a:t>
            </a:r>
          </a:p>
        </p:txBody>
      </p:sp>
      <p:sp>
        <p:nvSpPr>
          <p:cNvPr id="16" name="Rectangle 15"/>
          <p:cNvSpPr/>
          <p:nvPr/>
        </p:nvSpPr>
        <p:spPr>
          <a:xfrm>
            <a:off x="822960" y="3291839"/>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dob</a:t>
            </a:r>
          </a:p>
        </p:txBody>
      </p:sp>
      <p:sp>
        <p:nvSpPr>
          <p:cNvPr id="17" name="Rectangle 16"/>
          <p:cNvSpPr/>
          <p:nvPr/>
        </p:nvSpPr>
        <p:spPr>
          <a:xfrm>
            <a:off x="822960" y="379476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sex</a:t>
            </a:r>
          </a:p>
        </p:txBody>
      </p:sp>
      <p:sp>
        <p:nvSpPr>
          <p:cNvPr id="18" name="Rectangle 17"/>
          <p:cNvSpPr/>
          <p:nvPr/>
        </p:nvSpPr>
        <p:spPr>
          <a:xfrm>
            <a:off x="2651760" y="1965960"/>
            <a:ext cx="1783080" cy="342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651760" y="1965960"/>
            <a:ext cx="178308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Clinical</a:t>
            </a:r>
          </a:p>
        </p:txBody>
      </p:sp>
      <p:sp>
        <p:nvSpPr>
          <p:cNvPr id="20" name="TextBox 19"/>
          <p:cNvSpPr txBox="1"/>
          <p:nvPr/>
        </p:nvSpPr>
        <p:spPr>
          <a:xfrm>
            <a:off x="2743200" y="2450592"/>
            <a:ext cx="1645920" cy="274320"/>
          </a:xfrm>
          <a:prstGeom prst="rect">
            <a:avLst/>
          </a:prstGeom>
          <a:noFill/>
        </p:spPr>
        <p:txBody>
          <a:bodyPr wrap="square" lIns="0" tIns="0" rIns="0" bIns="0" anchor="t"/>
          <a:lstStyle/>
          <a:p>
            <a:pPr algn="l">
              <a:spcAft>
                <a:spcPts val="600"/>
              </a:spcAft>
            </a:pPr>
            <a:r>
              <a:rPr sz="800" b="1" i="0">
                <a:solidFill>
                  <a:srgbClr val="62676D"/>
                </a:solidFill>
                <a:latin typeface="Arial"/>
              </a:rPr>
              <a:t>INSTRUMENT</a:t>
            </a:r>
          </a:p>
        </p:txBody>
      </p:sp>
      <p:sp>
        <p:nvSpPr>
          <p:cNvPr id="21" name="Rectangle 20"/>
          <p:cNvSpPr/>
          <p:nvPr/>
        </p:nvSpPr>
        <p:spPr>
          <a:xfrm>
            <a:off x="2743200" y="278892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weight_kg</a:t>
            </a:r>
          </a:p>
        </p:txBody>
      </p:sp>
      <p:sp>
        <p:nvSpPr>
          <p:cNvPr id="22" name="Rectangle 21"/>
          <p:cNvSpPr/>
          <p:nvPr/>
        </p:nvSpPr>
        <p:spPr>
          <a:xfrm>
            <a:off x="2743200" y="3291839"/>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height_cm</a:t>
            </a:r>
          </a:p>
        </p:txBody>
      </p:sp>
      <p:sp>
        <p:nvSpPr>
          <p:cNvPr id="23" name="Rectangle 22"/>
          <p:cNvSpPr/>
          <p:nvPr/>
        </p:nvSpPr>
        <p:spPr>
          <a:xfrm>
            <a:off x="2743200" y="379476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bmi</a:t>
            </a:r>
          </a:p>
        </p:txBody>
      </p:sp>
      <p:sp>
        <p:nvSpPr>
          <p:cNvPr id="24" name="Rectangle 23"/>
          <p:cNvSpPr/>
          <p:nvPr/>
        </p:nvSpPr>
        <p:spPr>
          <a:xfrm>
            <a:off x="4572000" y="1965960"/>
            <a:ext cx="1783080" cy="342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1965960"/>
            <a:ext cx="178308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Laboratory</a:t>
            </a:r>
          </a:p>
        </p:txBody>
      </p:sp>
      <p:sp>
        <p:nvSpPr>
          <p:cNvPr id="26" name="TextBox 25"/>
          <p:cNvSpPr txBox="1"/>
          <p:nvPr/>
        </p:nvSpPr>
        <p:spPr>
          <a:xfrm>
            <a:off x="4663440" y="2450592"/>
            <a:ext cx="1645920" cy="274320"/>
          </a:xfrm>
          <a:prstGeom prst="rect">
            <a:avLst/>
          </a:prstGeom>
          <a:noFill/>
        </p:spPr>
        <p:txBody>
          <a:bodyPr wrap="square" lIns="0" tIns="0" rIns="0" bIns="0" anchor="t"/>
          <a:lstStyle/>
          <a:p>
            <a:pPr algn="l">
              <a:spcAft>
                <a:spcPts val="600"/>
              </a:spcAft>
            </a:pPr>
            <a:r>
              <a:rPr sz="800" b="1" i="0">
                <a:solidFill>
                  <a:srgbClr val="62676D"/>
                </a:solidFill>
                <a:latin typeface="Arial"/>
              </a:rPr>
              <a:t>INSTRUMENT</a:t>
            </a:r>
          </a:p>
        </p:txBody>
      </p:sp>
      <p:sp>
        <p:nvSpPr>
          <p:cNvPr id="27" name="Rectangle 26"/>
          <p:cNvSpPr/>
          <p:nvPr/>
        </p:nvSpPr>
        <p:spPr>
          <a:xfrm>
            <a:off x="4663440" y="278892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lab_eval</a:t>
            </a:r>
          </a:p>
        </p:txBody>
      </p:sp>
      <p:sp>
        <p:nvSpPr>
          <p:cNvPr id="28" name="Rectangle 27"/>
          <p:cNvSpPr/>
          <p:nvPr/>
        </p:nvSpPr>
        <p:spPr>
          <a:xfrm>
            <a:off x="4663440" y="3291839"/>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test_type</a:t>
            </a:r>
          </a:p>
        </p:txBody>
      </p:sp>
      <p:sp>
        <p:nvSpPr>
          <p:cNvPr id="29" name="Rectangle 28"/>
          <p:cNvSpPr/>
          <p:nvPr/>
        </p:nvSpPr>
        <p:spPr>
          <a:xfrm>
            <a:off x="4663440" y="3794760"/>
            <a:ext cx="1600200" cy="38404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spcAft>
                <a:spcPts val="600"/>
              </a:spcAft>
            </a:pPr>
            <a:r>
              <a:rPr sz="1000" b="0" i="0">
                <a:solidFill>
                  <a:srgbClr val="222222"/>
                </a:solidFill>
                <a:latin typeface="Consolas"/>
              </a:rPr>
              <a:t>smear</a:t>
            </a:r>
          </a:p>
        </p:txBody>
      </p:sp>
      <p:sp>
        <p:nvSpPr>
          <p:cNvPr id="30" name="TextBox 29"/>
          <p:cNvSpPr txBox="1"/>
          <p:nvPr/>
        </p:nvSpPr>
        <p:spPr>
          <a:xfrm>
            <a:off x="731520" y="4572000"/>
            <a:ext cx="5486400" cy="548640"/>
          </a:xfrm>
          <a:prstGeom prst="rect">
            <a:avLst/>
          </a:prstGeom>
          <a:noFill/>
        </p:spPr>
        <p:txBody>
          <a:bodyPr wrap="square" lIns="0" tIns="0" rIns="0" bIns="0" anchor="t"/>
          <a:lstStyle/>
          <a:p>
            <a:pPr algn="l">
              <a:spcAft>
                <a:spcPts val="600"/>
              </a:spcAft>
            </a:pPr>
            <a:r>
              <a:rPr sz="1200" b="0" i="0">
                <a:solidFill>
                  <a:srgbClr val="62676D"/>
                </a:solidFill>
                <a:latin typeface="Arial"/>
              </a:rPr>
              <a:t>each box = one </a:t>
            </a:r>
            <a:r>
              <a:rPr sz="1200" b="1" i="0">
                <a:solidFill>
                  <a:srgbClr val="1E88C8"/>
                </a:solidFill>
                <a:latin typeface="Arial"/>
              </a:rPr>
              <a:t>field</a:t>
            </a:r>
            <a:r>
              <a:rPr sz="1200" b="0" i="0">
                <a:solidFill>
                  <a:srgbClr val="62676D"/>
                </a:solidFill>
                <a:latin typeface="Arial"/>
              </a:rPr>
              <a:t> (variable)</a:t>
            </a:r>
          </a:p>
        </p:txBody>
      </p:sp>
      <p:sp>
        <p:nvSpPr>
          <p:cNvPr id="31" name="Rectangle 30"/>
          <p:cNvSpPr/>
          <p:nvPr/>
        </p:nvSpPr>
        <p:spPr>
          <a:xfrm>
            <a:off x="6949440" y="1508760"/>
            <a:ext cx="1463040"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Record</a:t>
            </a:r>
          </a:p>
        </p:txBody>
      </p:sp>
      <p:sp>
        <p:nvSpPr>
          <p:cNvPr id="32" name="TextBox 31"/>
          <p:cNvSpPr txBox="1"/>
          <p:nvPr/>
        </p:nvSpPr>
        <p:spPr>
          <a:xfrm>
            <a:off x="8595360" y="1508760"/>
            <a:ext cx="3044952" cy="548640"/>
          </a:xfrm>
          <a:prstGeom prst="rect">
            <a:avLst/>
          </a:prstGeom>
          <a:noFill/>
        </p:spPr>
        <p:txBody>
          <a:bodyPr wrap="square" lIns="0" tIns="0" rIns="0" bIns="0" anchor="ctr"/>
          <a:lstStyle/>
          <a:p>
            <a:pPr algn="l">
              <a:spcAft>
                <a:spcPts val="600"/>
              </a:spcAft>
            </a:pPr>
            <a:r>
              <a:rPr sz="1500" b="0" i="0">
                <a:solidFill>
                  <a:srgbClr val="222222"/>
                </a:solidFill>
                <a:latin typeface="Arial"/>
              </a:rPr>
              <a:t>one participant, identified by record ID</a:t>
            </a:r>
          </a:p>
        </p:txBody>
      </p:sp>
      <p:sp>
        <p:nvSpPr>
          <p:cNvPr id="33" name="Rectangle 32"/>
          <p:cNvSpPr/>
          <p:nvPr/>
        </p:nvSpPr>
        <p:spPr>
          <a:xfrm>
            <a:off x="6949440" y="2377439"/>
            <a:ext cx="1463040" cy="54864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Instrument</a:t>
            </a:r>
          </a:p>
        </p:txBody>
      </p:sp>
      <p:sp>
        <p:nvSpPr>
          <p:cNvPr id="34" name="TextBox 33"/>
          <p:cNvSpPr txBox="1"/>
          <p:nvPr/>
        </p:nvSpPr>
        <p:spPr>
          <a:xfrm>
            <a:off x="8595360" y="2377439"/>
            <a:ext cx="3044952" cy="548640"/>
          </a:xfrm>
          <a:prstGeom prst="rect">
            <a:avLst/>
          </a:prstGeom>
          <a:noFill/>
        </p:spPr>
        <p:txBody>
          <a:bodyPr wrap="square" lIns="0" tIns="0" rIns="0" bIns="0" anchor="ctr"/>
          <a:lstStyle/>
          <a:p>
            <a:pPr algn="l">
              <a:spcAft>
                <a:spcPts val="600"/>
              </a:spcAft>
            </a:pPr>
            <a:r>
              <a:rPr sz="1500" b="0" i="0">
                <a:solidFill>
                  <a:srgbClr val="222222"/>
                </a:solidFill>
                <a:latin typeface="Arial"/>
              </a:rPr>
              <a:t>a form or a survey</a:t>
            </a:r>
          </a:p>
        </p:txBody>
      </p:sp>
      <p:sp>
        <p:nvSpPr>
          <p:cNvPr id="35" name="Rectangle 34"/>
          <p:cNvSpPr/>
          <p:nvPr/>
        </p:nvSpPr>
        <p:spPr>
          <a:xfrm>
            <a:off x="6949440" y="3246120"/>
            <a:ext cx="1463040"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Field</a:t>
            </a:r>
          </a:p>
        </p:txBody>
      </p:sp>
      <p:sp>
        <p:nvSpPr>
          <p:cNvPr id="36" name="TextBox 35"/>
          <p:cNvSpPr txBox="1"/>
          <p:nvPr/>
        </p:nvSpPr>
        <p:spPr>
          <a:xfrm>
            <a:off x="8595360" y="3246120"/>
            <a:ext cx="3044952" cy="548640"/>
          </a:xfrm>
          <a:prstGeom prst="rect">
            <a:avLst/>
          </a:prstGeom>
          <a:noFill/>
        </p:spPr>
        <p:txBody>
          <a:bodyPr wrap="square" lIns="0" tIns="0" rIns="0" bIns="0" anchor="ctr"/>
          <a:lstStyle/>
          <a:p>
            <a:pPr algn="l">
              <a:spcAft>
                <a:spcPts val="600"/>
              </a:spcAft>
            </a:pPr>
            <a:r>
              <a:rPr sz="1500" b="0" i="0">
                <a:solidFill>
                  <a:srgbClr val="222222"/>
                </a:solidFill>
                <a:latin typeface="Arial"/>
              </a:rPr>
              <a:t>one variable or question</a:t>
            </a:r>
          </a:p>
        </p:txBody>
      </p:sp>
      <p:sp>
        <p:nvSpPr>
          <p:cNvPr id="37" name="Rectangle 36"/>
          <p:cNvSpPr/>
          <p:nvPr/>
        </p:nvSpPr>
        <p:spPr>
          <a:xfrm>
            <a:off x="6949440" y="4206240"/>
            <a:ext cx="2286000"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70F_FFFFFF.png"/>
          <p:cNvPicPr>
            <a:picLocks noChangeAspect="1"/>
          </p:cNvPicPr>
          <p:nvPr/>
        </p:nvPicPr>
        <p:blipFill>
          <a:blip r:embed="rId4"/>
          <a:stretch>
            <a:fillRect/>
          </a:stretch>
        </p:blipFill>
        <p:spPr>
          <a:xfrm>
            <a:off x="7059168" y="4270248"/>
            <a:ext cx="329184" cy="329184"/>
          </a:xfrm>
          <a:prstGeom prst="rect">
            <a:avLst/>
          </a:prstGeom>
        </p:spPr>
      </p:pic>
      <p:sp>
        <p:nvSpPr>
          <p:cNvPr id="39" name="TextBox 38"/>
          <p:cNvSpPr txBox="1"/>
          <p:nvPr/>
        </p:nvSpPr>
        <p:spPr>
          <a:xfrm>
            <a:off x="7498079" y="4206240"/>
            <a:ext cx="1645920" cy="457200"/>
          </a:xfrm>
          <a:prstGeom prst="rect">
            <a:avLst/>
          </a:prstGeom>
          <a:noFill/>
        </p:spPr>
        <p:txBody>
          <a:bodyPr wrap="square" lIns="0" tIns="0" rIns="0" bIns="0" anchor="ctr"/>
          <a:lstStyle/>
          <a:p>
            <a:pPr algn="l">
              <a:spcAft>
                <a:spcPts val="600"/>
              </a:spcAft>
            </a:pPr>
            <a:r>
              <a:rPr sz="1500" b="1" i="0">
                <a:solidFill>
                  <a:srgbClr val="FFFFFF"/>
                </a:solidFill>
                <a:latin typeface="Arial"/>
              </a:rPr>
              <a:t>Online Designer</a:t>
            </a:r>
          </a:p>
        </p:txBody>
      </p:sp>
      <p:sp>
        <p:nvSpPr>
          <p:cNvPr id="40" name="Rectangle 39"/>
          <p:cNvSpPr/>
          <p:nvPr/>
        </p:nvSpPr>
        <p:spPr>
          <a:xfrm>
            <a:off x="6949440" y="4663440"/>
            <a:ext cx="2286000" cy="9144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86600" y="4773168"/>
            <a:ext cx="2011680" cy="731520"/>
          </a:xfrm>
          <a:prstGeom prst="rect">
            <a:avLst/>
          </a:prstGeom>
          <a:noFill/>
        </p:spPr>
        <p:txBody>
          <a:bodyPr wrap="square" lIns="0" tIns="0" rIns="0" bIns="0" anchor="t"/>
          <a:lstStyle/>
          <a:p>
            <a:pPr algn="l">
              <a:spcAft>
                <a:spcPts val="400"/>
              </a:spcAft>
            </a:pPr>
            <a:r>
              <a:rPr sz="1300" b="0" i="0">
                <a:solidFill>
                  <a:srgbClr val="222222"/>
                </a:solidFill>
                <a:latin typeface="Arial"/>
              </a:rPr>
              <a:t>point and click</a:t>
            </a:r>
          </a:p>
        </p:txBody>
      </p:sp>
      <p:sp>
        <p:nvSpPr>
          <p:cNvPr id="42" name="Rectangle 41"/>
          <p:cNvSpPr/>
          <p:nvPr/>
        </p:nvSpPr>
        <p:spPr>
          <a:xfrm>
            <a:off x="9354312" y="4206240"/>
            <a:ext cx="228600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E8A5_FFFFFF.png"/>
          <p:cNvPicPr>
            <a:picLocks noChangeAspect="1"/>
          </p:cNvPicPr>
          <p:nvPr/>
        </p:nvPicPr>
        <p:blipFill>
          <a:blip r:embed="rId5"/>
          <a:stretch>
            <a:fillRect/>
          </a:stretch>
        </p:blipFill>
        <p:spPr>
          <a:xfrm>
            <a:off x="9464040" y="4270248"/>
            <a:ext cx="329184" cy="329184"/>
          </a:xfrm>
          <a:prstGeom prst="rect">
            <a:avLst/>
          </a:prstGeom>
        </p:spPr>
      </p:pic>
      <p:sp>
        <p:nvSpPr>
          <p:cNvPr id="44" name="TextBox 43"/>
          <p:cNvSpPr txBox="1"/>
          <p:nvPr/>
        </p:nvSpPr>
        <p:spPr>
          <a:xfrm>
            <a:off x="9902952" y="4206240"/>
            <a:ext cx="1645920" cy="457200"/>
          </a:xfrm>
          <a:prstGeom prst="rect">
            <a:avLst/>
          </a:prstGeom>
          <a:noFill/>
        </p:spPr>
        <p:txBody>
          <a:bodyPr wrap="square" lIns="0" tIns="0" rIns="0" bIns="0" anchor="ctr"/>
          <a:lstStyle/>
          <a:p>
            <a:pPr algn="l">
              <a:spcAft>
                <a:spcPts val="600"/>
              </a:spcAft>
            </a:pPr>
            <a:r>
              <a:rPr sz="1500" b="1" i="0">
                <a:solidFill>
                  <a:srgbClr val="FFFFFF"/>
                </a:solidFill>
                <a:latin typeface="Arial"/>
              </a:rPr>
              <a:t>Data Dictionary</a:t>
            </a:r>
          </a:p>
        </p:txBody>
      </p:sp>
      <p:sp>
        <p:nvSpPr>
          <p:cNvPr id="45" name="Rectangle 44"/>
          <p:cNvSpPr/>
          <p:nvPr/>
        </p:nvSpPr>
        <p:spPr>
          <a:xfrm>
            <a:off x="9354312" y="4663440"/>
            <a:ext cx="2286000" cy="91440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91472" y="4773168"/>
            <a:ext cx="2011680" cy="731520"/>
          </a:xfrm>
          <a:prstGeom prst="rect">
            <a:avLst/>
          </a:prstGeom>
          <a:noFill/>
        </p:spPr>
        <p:txBody>
          <a:bodyPr wrap="square" lIns="0" tIns="0" rIns="0" bIns="0" anchor="t"/>
          <a:lstStyle/>
          <a:p>
            <a:pPr algn="l">
              <a:spcAft>
                <a:spcPts val="400"/>
              </a:spcAft>
            </a:pPr>
            <a:r>
              <a:rPr sz="1300" b="0" i="0">
                <a:solidFill>
                  <a:srgbClr val="222222"/>
                </a:solidFill>
                <a:latin typeface="Arial"/>
              </a:rPr>
              <a:t>CSV, one row per field</a:t>
            </a:r>
          </a:p>
        </p:txBody>
      </p:sp>
      <p:sp>
        <p:nvSpPr>
          <p:cNvPr id="47" name="TextBox 4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ID: identifier   ·   CSV: comma-separated values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Online Designer: add a field</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13</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The Online Designer (5 min)</a:t>
            </a:r>
          </a:p>
        </p:txBody>
      </p:sp>
      <p:sp>
        <p:nvSpPr>
          <p:cNvPr id="10" name="Rectangle 9"/>
          <p:cNvSpPr/>
          <p:nvPr/>
        </p:nvSpPr>
        <p:spPr>
          <a:xfrm>
            <a:off x="548640" y="1417320"/>
            <a:ext cx="6583680" cy="452628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658368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6364224"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5577840" cy="329184"/>
          </a:xfrm>
          <a:prstGeom prst="rect">
            <a:avLst/>
          </a:prstGeom>
          <a:noFill/>
        </p:spPr>
        <p:txBody>
          <a:bodyPr wrap="square" lIns="0" tIns="0" rIns="0" bIns="0" anchor="ctr"/>
          <a:lstStyle/>
          <a:p>
            <a:pPr algn="r">
              <a:spcAft>
                <a:spcPts val="600"/>
              </a:spcAft>
            </a:pPr>
            <a:r>
              <a:rPr sz="900" b="0" i="0">
                <a:solidFill>
                  <a:srgbClr val="F3D9DC"/>
                </a:solidFill>
                <a:latin typeface="Arial"/>
              </a:rPr>
              <a:t>Online Designer  ·  Add New Field</a:t>
            </a:r>
          </a:p>
        </p:txBody>
      </p:sp>
      <p:sp>
        <p:nvSpPr>
          <p:cNvPr id="14" name="TextBox 13"/>
          <p:cNvSpPr txBox="1"/>
          <p:nvPr/>
        </p:nvSpPr>
        <p:spPr>
          <a:xfrm>
            <a:off x="685800" y="1920239"/>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Field type</a:t>
            </a:r>
          </a:p>
        </p:txBody>
      </p:sp>
      <p:sp>
        <p:nvSpPr>
          <p:cNvPr id="15" name="Rectangle 14"/>
          <p:cNvSpPr/>
          <p:nvPr/>
        </p:nvSpPr>
        <p:spPr>
          <a:xfrm>
            <a:off x="3651199" y="1956815"/>
            <a:ext cx="315468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96919" y="1956815"/>
            <a:ext cx="3154680" cy="228600"/>
          </a:xfrm>
          <a:prstGeom prst="rect">
            <a:avLst/>
          </a:prstGeom>
          <a:noFill/>
        </p:spPr>
        <p:txBody>
          <a:bodyPr wrap="square" lIns="0" tIns="0" rIns="0" bIns="0" anchor="ctr"/>
          <a:lstStyle/>
          <a:p>
            <a:pPr algn="l">
              <a:spcAft>
                <a:spcPts val="600"/>
              </a:spcAft>
            </a:pPr>
            <a:r>
              <a:rPr sz="850" b="0" i="0">
                <a:solidFill>
                  <a:srgbClr val="222222"/>
                </a:solidFill>
                <a:latin typeface="Arial"/>
              </a:rPr>
              <a:t>Text Box (short text, number, date…)</a:t>
            </a:r>
          </a:p>
        </p:txBody>
      </p:sp>
      <p:sp>
        <p:nvSpPr>
          <p:cNvPr id="17" name="TextBox 16"/>
          <p:cNvSpPr txBox="1"/>
          <p:nvPr/>
        </p:nvSpPr>
        <p:spPr>
          <a:xfrm>
            <a:off x="685800" y="2331720"/>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Field label</a:t>
            </a:r>
          </a:p>
        </p:txBody>
      </p:sp>
      <p:sp>
        <p:nvSpPr>
          <p:cNvPr id="18" name="Rectangle 17"/>
          <p:cNvSpPr/>
          <p:nvPr/>
        </p:nvSpPr>
        <p:spPr>
          <a:xfrm>
            <a:off x="3651199" y="2368296"/>
            <a:ext cx="315468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96919" y="2368296"/>
            <a:ext cx="3154680" cy="228600"/>
          </a:xfrm>
          <a:prstGeom prst="rect">
            <a:avLst/>
          </a:prstGeom>
          <a:noFill/>
        </p:spPr>
        <p:txBody>
          <a:bodyPr wrap="square" lIns="0" tIns="0" rIns="0" bIns="0" anchor="ctr"/>
          <a:lstStyle/>
          <a:p>
            <a:pPr algn="l">
              <a:spcAft>
                <a:spcPts val="600"/>
              </a:spcAft>
            </a:pPr>
            <a:r>
              <a:rPr sz="850" b="0" i="0">
                <a:solidFill>
                  <a:srgbClr val="222222"/>
                </a:solidFill>
                <a:latin typeface="Arial"/>
              </a:rPr>
              <a:t>Weight (kg)</a:t>
            </a:r>
          </a:p>
        </p:txBody>
      </p:sp>
      <p:sp>
        <p:nvSpPr>
          <p:cNvPr id="20" name="TextBox 19"/>
          <p:cNvSpPr txBox="1"/>
          <p:nvPr/>
        </p:nvSpPr>
        <p:spPr>
          <a:xfrm>
            <a:off x="685800" y="2743200"/>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Variable name</a:t>
            </a:r>
          </a:p>
        </p:txBody>
      </p:sp>
      <p:sp>
        <p:nvSpPr>
          <p:cNvPr id="21" name="Rectangle 20"/>
          <p:cNvSpPr/>
          <p:nvPr/>
        </p:nvSpPr>
        <p:spPr>
          <a:xfrm>
            <a:off x="3651199" y="2779776"/>
            <a:ext cx="315468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96919" y="2779776"/>
            <a:ext cx="3154680" cy="228600"/>
          </a:xfrm>
          <a:prstGeom prst="rect">
            <a:avLst/>
          </a:prstGeom>
          <a:noFill/>
        </p:spPr>
        <p:txBody>
          <a:bodyPr wrap="square" lIns="0" tIns="0" rIns="0" bIns="0" anchor="ctr"/>
          <a:lstStyle/>
          <a:p>
            <a:pPr algn="l">
              <a:spcAft>
                <a:spcPts val="600"/>
              </a:spcAft>
            </a:pPr>
            <a:r>
              <a:rPr sz="850" b="0" i="0">
                <a:solidFill>
                  <a:srgbClr val="222222"/>
                </a:solidFill>
                <a:latin typeface="Arial"/>
              </a:rPr>
              <a:t>weight_kg</a:t>
            </a:r>
          </a:p>
        </p:txBody>
      </p:sp>
      <p:sp>
        <p:nvSpPr>
          <p:cNvPr id="23" name="TextBox 22"/>
          <p:cNvSpPr txBox="1"/>
          <p:nvPr/>
        </p:nvSpPr>
        <p:spPr>
          <a:xfrm>
            <a:off x="3651199" y="2999232"/>
            <a:ext cx="3343960" cy="201168"/>
          </a:xfrm>
          <a:prstGeom prst="rect">
            <a:avLst/>
          </a:prstGeom>
          <a:noFill/>
        </p:spPr>
        <p:txBody>
          <a:bodyPr wrap="square" lIns="0" tIns="0" rIns="0" bIns="0" anchor="t"/>
          <a:lstStyle/>
          <a:p>
            <a:pPr algn="l">
              <a:spcAft>
                <a:spcPts val="600"/>
              </a:spcAft>
            </a:pPr>
            <a:r>
              <a:rPr sz="700" b="0" i="1">
                <a:solidFill>
                  <a:srgbClr val="62676D"/>
                </a:solidFill>
                <a:latin typeface="Arial"/>
              </a:rPr>
              <a:t>lowercase letters, numbers, underscores</a:t>
            </a:r>
          </a:p>
        </p:txBody>
      </p:sp>
      <p:sp>
        <p:nvSpPr>
          <p:cNvPr id="24" name="TextBox 23"/>
          <p:cNvSpPr txBox="1"/>
          <p:nvPr/>
        </p:nvSpPr>
        <p:spPr>
          <a:xfrm>
            <a:off x="685800" y="3246120"/>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Validation</a:t>
            </a:r>
          </a:p>
        </p:txBody>
      </p:sp>
      <p:sp>
        <p:nvSpPr>
          <p:cNvPr id="25" name="Rectangle 24"/>
          <p:cNvSpPr/>
          <p:nvPr/>
        </p:nvSpPr>
        <p:spPr>
          <a:xfrm>
            <a:off x="3651199" y="3282696"/>
            <a:ext cx="315468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96919" y="3282696"/>
            <a:ext cx="3154680" cy="228600"/>
          </a:xfrm>
          <a:prstGeom prst="rect">
            <a:avLst/>
          </a:prstGeom>
          <a:noFill/>
        </p:spPr>
        <p:txBody>
          <a:bodyPr wrap="square" lIns="0" tIns="0" rIns="0" bIns="0" anchor="ctr"/>
          <a:lstStyle/>
          <a:p>
            <a:pPr algn="l">
              <a:spcAft>
                <a:spcPts val="600"/>
              </a:spcAft>
            </a:pPr>
            <a:r>
              <a:rPr sz="850" b="0" i="0">
                <a:solidFill>
                  <a:srgbClr val="222222"/>
                </a:solidFill>
                <a:latin typeface="Arial"/>
              </a:rPr>
              <a:t>Number (1 decimal place)</a:t>
            </a:r>
          </a:p>
        </p:txBody>
      </p:sp>
      <p:sp>
        <p:nvSpPr>
          <p:cNvPr id="27" name="TextBox 26"/>
          <p:cNvSpPr txBox="1"/>
          <p:nvPr/>
        </p:nvSpPr>
        <p:spPr>
          <a:xfrm>
            <a:off x="685800" y="3657600"/>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Minimum / maximum</a:t>
            </a:r>
          </a:p>
        </p:txBody>
      </p:sp>
      <p:sp>
        <p:nvSpPr>
          <p:cNvPr id="28" name="Rectangle 27"/>
          <p:cNvSpPr/>
          <p:nvPr/>
        </p:nvSpPr>
        <p:spPr>
          <a:xfrm>
            <a:off x="3651199" y="3694176"/>
            <a:ext cx="315468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96919" y="3694176"/>
            <a:ext cx="3154680" cy="228600"/>
          </a:xfrm>
          <a:prstGeom prst="rect">
            <a:avLst/>
          </a:prstGeom>
          <a:noFill/>
        </p:spPr>
        <p:txBody>
          <a:bodyPr wrap="square" lIns="0" tIns="0" rIns="0" bIns="0" anchor="ctr"/>
          <a:lstStyle/>
          <a:p>
            <a:pPr algn="l">
              <a:spcAft>
                <a:spcPts val="600"/>
              </a:spcAft>
            </a:pPr>
            <a:r>
              <a:rPr sz="850" b="0" i="0">
                <a:solidFill>
                  <a:srgbClr val="222222"/>
                </a:solidFill>
                <a:latin typeface="Arial"/>
              </a:rPr>
              <a:t>30  /  200</a:t>
            </a:r>
          </a:p>
        </p:txBody>
      </p:sp>
      <p:sp>
        <p:nvSpPr>
          <p:cNvPr id="30" name="TextBox 29"/>
          <p:cNvSpPr txBox="1"/>
          <p:nvPr/>
        </p:nvSpPr>
        <p:spPr>
          <a:xfrm>
            <a:off x="685800" y="4069079"/>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Identifier?</a:t>
            </a:r>
          </a:p>
        </p:txBody>
      </p:sp>
      <p:sp>
        <p:nvSpPr>
          <p:cNvPr id="31" name="Oval 30"/>
          <p:cNvSpPr/>
          <p:nvPr/>
        </p:nvSpPr>
        <p:spPr>
          <a:xfrm>
            <a:off x="3651199" y="4160519"/>
            <a:ext cx="118872" cy="118872"/>
          </a:xfrm>
          <a:prstGeom prst="ellipse">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06647" y="4087367"/>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No</a:t>
            </a:r>
          </a:p>
        </p:txBody>
      </p:sp>
      <p:sp>
        <p:nvSpPr>
          <p:cNvPr id="33" name="Oval 32"/>
          <p:cNvSpPr/>
          <p:nvPr/>
        </p:nvSpPr>
        <p:spPr>
          <a:xfrm>
            <a:off x="4062679" y="4160519"/>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18127" y="4087367"/>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Yes</a:t>
            </a:r>
          </a:p>
        </p:txBody>
      </p:sp>
      <p:sp>
        <p:nvSpPr>
          <p:cNvPr id="35" name="TextBox 34"/>
          <p:cNvSpPr txBox="1"/>
          <p:nvPr/>
        </p:nvSpPr>
        <p:spPr>
          <a:xfrm>
            <a:off x="685800" y="4480560"/>
            <a:ext cx="2839212" cy="292608"/>
          </a:xfrm>
          <a:prstGeom prst="rect">
            <a:avLst/>
          </a:prstGeom>
          <a:noFill/>
        </p:spPr>
        <p:txBody>
          <a:bodyPr wrap="square" lIns="0" tIns="0" rIns="0" bIns="0" anchor="ctr"/>
          <a:lstStyle/>
          <a:p>
            <a:pPr algn="l">
              <a:spcAft>
                <a:spcPts val="600"/>
              </a:spcAft>
            </a:pPr>
            <a:r>
              <a:rPr sz="900" b="0" i="0">
                <a:solidFill>
                  <a:srgbClr val="222222"/>
                </a:solidFill>
                <a:latin typeface="Arial"/>
              </a:rPr>
              <a:t>Required?</a:t>
            </a:r>
          </a:p>
        </p:txBody>
      </p:sp>
      <p:sp>
        <p:nvSpPr>
          <p:cNvPr id="36" name="Oval 35"/>
          <p:cNvSpPr/>
          <p:nvPr/>
        </p:nvSpPr>
        <p:spPr>
          <a:xfrm>
            <a:off x="3651199" y="4572000"/>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06647" y="449884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No</a:t>
            </a:r>
          </a:p>
        </p:txBody>
      </p:sp>
      <p:sp>
        <p:nvSpPr>
          <p:cNvPr id="38" name="Oval 37"/>
          <p:cNvSpPr/>
          <p:nvPr/>
        </p:nvSpPr>
        <p:spPr>
          <a:xfrm>
            <a:off x="4062679" y="4572000"/>
            <a:ext cx="118872" cy="118872"/>
          </a:xfrm>
          <a:prstGeom prst="ellipse">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18127" y="449884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Yes</a:t>
            </a:r>
          </a:p>
        </p:txBody>
      </p:sp>
      <p:sp>
        <p:nvSpPr>
          <p:cNvPr id="40" name="Rectangle 39"/>
          <p:cNvSpPr/>
          <p:nvPr/>
        </p:nvSpPr>
        <p:spPr>
          <a:xfrm>
            <a:off x="5897880" y="5029200"/>
            <a:ext cx="1097280" cy="32918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00" b="1" i="0">
                <a:solidFill>
                  <a:srgbClr val="FFFFFF"/>
                </a:solidFill>
                <a:latin typeface="Arial"/>
              </a:rPr>
              <a:t>Save</a:t>
            </a:r>
          </a:p>
        </p:txBody>
      </p:sp>
      <p:sp>
        <p:nvSpPr>
          <p:cNvPr id="41" name="TextBox 40"/>
          <p:cNvSpPr txBox="1"/>
          <p:nvPr/>
        </p:nvSpPr>
        <p:spPr>
          <a:xfrm>
            <a:off x="7498079" y="1554480"/>
            <a:ext cx="4142232" cy="2743200"/>
          </a:xfrm>
          <a:prstGeom prst="rect">
            <a:avLst/>
          </a:prstGeom>
          <a:noFill/>
        </p:spPr>
        <p:txBody>
          <a:bodyPr wrap="square" lIns="0" tIns="0" rIns="0" bIns="0" anchor="t"/>
          <a:lstStyle/>
          <a:p>
            <a:pPr marL="256032" indent="-256032" algn="l">
              <a:spcAft>
                <a:spcPts val="1000"/>
              </a:spcAft>
              <a:buClr>
                <a:srgbClr val="1E88C8"/>
              </a:buClr>
              <a:buSzPct val="75000"/>
              <a:buFont typeface="Arial"/>
              <a:buChar char="■"/>
            </a:pPr>
            <a:r>
              <a:rPr sz="1700" b="0" i="0">
                <a:solidFill>
                  <a:srgbClr val="222222"/>
                </a:solidFill>
                <a:latin typeface="Arial"/>
              </a:rPr>
              <a:t>Choose the </a:t>
            </a:r>
            <a:r>
              <a:rPr sz="1700" b="1" i="0">
                <a:solidFill>
                  <a:srgbClr val="1E88C8"/>
                </a:solidFill>
                <a:latin typeface="Arial"/>
              </a:rPr>
              <a:t>field type</a:t>
            </a:r>
          </a:p>
          <a:p>
            <a:pPr marL="256032" indent="-256032" algn="l">
              <a:spcAft>
                <a:spcPts val="1000"/>
              </a:spcAft>
              <a:buClr>
                <a:srgbClr val="1E88C8"/>
              </a:buClr>
              <a:buSzPct val="75000"/>
              <a:buFont typeface="Arial"/>
              <a:buChar char="■"/>
            </a:pPr>
            <a:r>
              <a:rPr sz="1700" b="0" i="0">
                <a:solidFill>
                  <a:srgbClr val="222222"/>
                </a:solidFill>
                <a:latin typeface="Arial"/>
              </a:rPr>
              <a:t>Short, clear </a:t>
            </a:r>
            <a:r>
              <a:rPr sz="1700" b="1" i="0">
                <a:solidFill>
                  <a:srgbClr val="1E88C8"/>
                </a:solidFill>
                <a:latin typeface="Arial"/>
              </a:rPr>
              <a:t>variable name</a:t>
            </a:r>
          </a:p>
          <a:p>
            <a:pPr marL="256032" indent="-256032" algn="l">
              <a:spcAft>
                <a:spcPts val="1000"/>
              </a:spcAft>
              <a:buClr>
                <a:srgbClr val="1E88C8"/>
              </a:buClr>
              <a:buSzPct val="75000"/>
              <a:buFont typeface="Arial"/>
              <a:buChar char="■"/>
            </a:pPr>
            <a:r>
              <a:rPr sz="1700" b="1" i="0">
                <a:solidFill>
                  <a:srgbClr val="1E88C8"/>
                </a:solidFill>
                <a:latin typeface="Arial"/>
              </a:rPr>
              <a:t>Validation</a:t>
            </a:r>
            <a:r>
              <a:rPr sz="1700" b="0" i="0">
                <a:solidFill>
                  <a:srgbClr val="222222"/>
                </a:solidFill>
                <a:latin typeface="Arial"/>
              </a:rPr>
              <a:t> with min and max</a:t>
            </a:r>
          </a:p>
          <a:p>
            <a:pPr marL="256032" indent="-256032" algn="l">
              <a:spcAft>
                <a:spcPts val="1000"/>
              </a:spcAft>
              <a:buClr>
                <a:srgbClr val="1E88C8"/>
              </a:buClr>
              <a:buSzPct val="75000"/>
              <a:buFont typeface="Arial"/>
              <a:buChar char="■"/>
            </a:pPr>
            <a:r>
              <a:rPr sz="1700" b="0" i="0">
                <a:solidFill>
                  <a:srgbClr val="222222"/>
                </a:solidFill>
                <a:latin typeface="Arial"/>
              </a:rPr>
              <a:t>Tick </a:t>
            </a:r>
            <a:r>
              <a:rPr sz="1700" b="1" i="0">
                <a:solidFill>
                  <a:srgbClr val="C8102E"/>
                </a:solidFill>
                <a:latin typeface="Arial"/>
              </a:rPr>
              <a:t>Identifier</a:t>
            </a:r>
            <a:r>
              <a:rPr sz="1700" b="0" i="0">
                <a:solidFill>
                  <a:srgbClr val="222222"/>
                </a:solidFill>
                <a:latin typeface="Arial"/>
              </a:rPr>
              <a:t> for personal data</a:t>
            </a:r>
          </a:p>
          <a:p>
            <a:pPr marL="256032" indent="-256032" algn="l">
              <a:spcAft>
                <a:spcPts val="1000"/>
              </a:spcAft>
              <a:buClr>
                <a:srgbClr val="1E88C8"/>
              </a:buClr>
              <a:buSzPct val="75000"/>
              <a:buFont typeface="Arial"/>
              <a:buChar char="■"/>
            </a:pPr>
            <a:r>
              <a:rPr sz="1700" b="0" i="0">
                <a:solidFill>
                  <a:srgbClr val="222222"/>
                </a:solidFill>
                <a:latin typeface="Arial"/>
              </a:rPr>
              <a:t>Mark key fields </a:t>
            </a:r>
            <a:r>
              <a:rPr sz="1700" b="1" i="0">
                <a:solidFill>
                  <a:srgbClr val="1E88C8"/>
                </a:solidFill>
                <a:latin typeface="Arial"/>
              </a:rPr>
              <a:t>required</a:t>
            </a:r>
          </a:p>
        </p:txBody>
      </p:sp>
      <p:sp>
        <p:nvSpPr>
          <p:cNvPr id="42" name="Rectangle 41"/>
          <p:cNvSpPr/>
          <p:nvPr/>
        </p:nvSpPr>
        <p:spPr>
          <a:xfrm>
            <a:off x="7498079" y="4572000"/>
            <a:ext cx="4142232" cy="73152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98079" y="4572000"/>
            <a:ext cx="73152" cy="7315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E7BA_C8102E.png"/>
          <p:cNvPicPr>
            <a:picLocks noChangeAspect="1"/>
          </p:cNvPicPr>
          <p:nvPr/>
        </p:nvPicPr>
        <p:blipFill>
          <a:blip r:embed="rId4"/>
          <a:stretch>
            <a:fillRect/>
          </a:stretch>
        </p:blipFill>
        <p:spPr>
          <a:xfrm>
            <a:off x="7726679" y="4754880"/>
            <a:ext cx="365760" cy="365760"/>
          </a:xfrm>
          <a:prstGeom prst="rect">
            <a:avLst/>
          </a:prstGeom>
        </p:spPr>
      </p:pic>
      <p:sp>
        <p:nvSpPr>
          <p:cNvPr id="45" name="TextBox 44"/>
          <p:cNvSpPr txBox="1"/>
          <p:nvPr/>
        </p:nvSpPr>
        <p:spPr>
          <a:xfrm>
            <a:off x="8229600" y="4572000"/>
            <a:ext cx="3319272" cy="731520"/>
          </a:xfrm>
          <a:prstGeom prst="rect">
            <a:avLst/>
          </a:prstGeom>
          <a:noFill/>
        </p:spPr>
        <p:txBody>
          <a:bodyPr wrap="square" lIns="0" tIns="0" rIns="0" bIns="0" anchor="ctr"/>
          <a:lstStyle/>
          <a:p>
            <a:pPr algn="l">
              <a:spcAft>
                <a:spcPts val="600"/>
              </a:spcAft>
            </a:pPr>
            <a:r>
              <a:rPr sz="1500" b="0" i="0">
                <a:solidFill>
                  <a:srgbClr val="222222"/>
                </a:solidFill>
                <a:latin typeface="Arial"/>
              </a:rPr>
              <a:t>Variable names are </a:t>
            </a:r>
            <a:r>
              <a:rPr sz="1500" b="1" i="0">
                <a:solidFill>
                  <a:srgbClr val="C8102E"/>
                </a:solidFill>
                <a:latin typeface="Arial"/>
              </a:rPr>
              <a:t>permanent</a:t>
            </a:r>
            <a:r>
              <a:rPr sz="1500" b="0" i="0">
                <a:solidFill>
                  <a:srgbClr val="222222"/>
                </a:solidFill>
                <a:latin typeface="Arial"/>
              </a:rPr>
              <a:t> once data exist.</a:t>
            </a:r>
          </a:p>
        </p:txBody>
      </p:sp>
      <p:sp>
        <p:nvSpPr>
          <p:cNvPr id="46" name="TextBox 45"/>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data dictionary: your project as a spreadsheet</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14</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The Data Dictionary (10 min)</a:t>
            </a:r>
          </a:p>
        </p:txBody>
      </p:sp>
      <p:graphicFrame>
        <p:nvGraphicFramePr>
          <p:cNvPr id="10" name="Table 9"/>
          <p:cNvGraphicFramePr>
            <a:graphicFrameLocks noGrp="1"/>
          </p:cNvGraphicFramePr>
          <p:nvPr/>
        </p:nvGraphicFramePr>
        <p:xfrm>
          <a:off x="548640" y="1417320"/>
          <a:ext cx="11091672" cy="3621024"/>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804672">
                  <a:extLst>
                    <a:ext uri="{9D8B030D-6E8A-4147-A177-3AD203B41FA5}">
                      <a16:colId xmlns:a16="http://schemas.microsoft.com/office/drawing/2014/main" val="20008"/>
                    </a:ext>
                  </a:extLst>
                </a:gridCol>
                <a:gridCol w="1371600">
                  <a:extLst>
                    <a:ext uri="{9D8B030D-6E8A-4147-A177-3AD203B41FA5}">
                      <a16:colId xmlns:a16="http://schemas.microsoft.com/office/drawing/2014/main" val="20009"/>
                    </a:ext>
                  </a:extLst>
                </a:gridCol>
              </a:tblGrid>
              <a:tr h="548640">
                <a:tc>
                  <a:txBody>
                    <a:bodyPr/>
                    <a:lstStyle/>
                    <a:p>
                      <a:pPr algn="l">
                        <a:spcAft>
                          <a:spcPts val="0"/>
                        </a:spcAft>
                      </a:pPr>
                      <a:r>
                        <a:rPr sz="900" b="1" i="0">
                          <a:solidFill>
                            <a:srgbClr val="FFFFFF"/>
                          </a:solidFill>
                          <a:latin typeface="Arial"/>
                        </a:rPr>
                        <a:t>Variable / Field Name</a:t>
                      </a:r>
                    </a:p>
                  </a:txBody>
                  <a:tcPr marT="36576" marB="36576" anchor="ctr">
                    <a:solidFill>
                      <a:srgbClr val="2E7D32"/>
                    </a:solidFill>
                  </a:tcPr>
                </a:tc>
                <a:tc>
                  <a:txBody>
                    <a:bodyPr/>
                    <a:lstStyle/>
                    <a:p>
                      <a:pPr algn="l">
                        <a:spcAft>
                          <a:spcPts val="0"/>
                        </a:spcAft>
                      </a:pPr>
                      <a:r>
                        <a:rPr sz="900" b="1" i="0">
                          <a:solidFill>
                            <a:srgbClr val="FFFFFF"/>
                          </a:solidFill>
                          <a:latin typeface="Arial"/>
                        </a:rPr>
                        <a:t>Form Name</a:t>
                      </a:r>
                    </a:p>
                  </a:txBody>
                  <a:tcPr marT="36576" marB="36576" anchor="ctr">
                    <a:solidFill>
                      <a:srgbClr val="2E7D32"/>
                    </a:solidFill>
                  </a:tcPr>
                </a:tc>
                <a:tc>
                  <a:txBody>
                    <a:bodyPr/>
                    <a:lstStyle/>
                    <a:p>
                      <a:pPr algn="l">
                        <a:spcAft>
                          <a:spcPts val="0"/>
                        </a:spcAft>
                      </a:pPr>
                      <a:r>
                        <a:rPr sz="900" b="1" i="0">
                          <a:solidFill>
                            <a:srgbClr val="FFFFFF"/>
                          </a:solidFill>
                          <a:latin typeface="Arial"/>
                        </a:rPr>
                        <a:t>Field Type</a:t>
                      </a:r>
                    </a:p>
                  </a:txBody>
                  <a:tcPr marT="36576" marB="36576" anchor="ctr">
                    <a:solidFill>
                      <a:srgbClr val="2E7D32"/>
                    </a:solidFill>
                  </a:tcPr>
                </a:tc>
                <a:tc>
                  <a:txBody>
                    <a:bodyPr/>
                    <a:lstStyle/>
                    <a:p>
                      <a:pPr algn="l">
                        <a:spcAft>
                          <a:spcPts val="0"/>
                        </a:spcAft>
                      </a:pPr>
                      <a:r>
                        <a:rPr sz="900" b="1" i="0">
                          <a:solidFill>
                            <a:srgbClr val="FFFFFF"/>
                          </a:solidFill>
                          <a:latin typeface="Arial"/>
                        </a:rPr>
                        <a:t>Field Label</a:t>
                      </a:r>
                    </a:p>
                  </a:txBody>
                  <a:tcPr marT="36576" marB="36576" anchor="ctr">
                    <a:solidFill>
                      <a:srgbClr val="2E7D32"/>
                    </a:solidFill>
                  </a:tcPr>
                </a:tc>
                <a:tc>
                  <a:txBody>
                    <a:bodyPr/>
                    <a:lstStyle/>
                    <a:p>
                      <a:pPr algn="l">
                        <a:spcAft>
                          <a:spcPts val="0"/>
                        </a:spcAft>
                      </a:pPr>
                      <a:r>
                        <a:rPr sz="900" b="1" i="0">
                          <a:solidFill>
                            <a:srgbClr val="FFFFFF"/>
                          </a:solidFill>
                          <a:latin typeface="Arial"/>
                        </a:rPr>
                        <a:t>Choices, Calculations…</a:t>
                      </a:r>
                    </a:p>
                  </a:txBody>
                  <a:tcPr marT="36576" marB="36576" anchor="ctr">
                    <a:solidFill>
                      <a:srgbClr val="2E7D32"/>
                    </a:solidFill>
                  </a:tcPr>
                </a:tc>
                <a:tc>
                  <a:txBody>
                    <a:bodyPr/>
                    <a:lstStyle/>
                    <a:p>
                      <a:pPr algn="l">
                        <a:spcAft>
                          <a:spcPts val="0"/>
                        </a:spcAft>
                      </a:pPr>
                      <a:r>
                        <a:rPr sz="900" b="1" i="0">
                          <a:solidFill>
                            <a:srgbClr val="FFFFFF"/>
                          </a:solidFill>
                          <a:latin typeface="Arial"/>
                        </a:rPr>
                        <a:t>Validation</a:t>
                      </a:r>
                    </a:p>
                  </a:txBody>
                  <a:tcPr marT="36576" marB="36576" anchor="ctr">
                    <a:solidFill>
                      <a:srgbClr val="2E7D32"/>
                    </a:solidFill>
                  </a:tcPr>
                </a:tc>
                <a:tc>
                  <a:txBody>
                    <a:bodyPr/>
                    <a:lstStyle/>
                    <a:p>
                      <a:pPr algn="l">
                        <a:spcAft>
                          <a:spcPts val="0"/>
                        </a:spcAft>
                      </a:pPr>
                      <a:r>
                        <a:rPr sz="900" b="1" i="0">
                          <a:solidFill>
                            <a:srgbClr val="FFFFFF"/>
                          </a:solidFill>
                          <a:latin typeface="Arial"/>
                        </a:rPr>
                        <a:t>Min</a:t>
                      </a:r>
                    </a:p>
                  </a:txBody>
                  <a:tcPr marT="36576" marB="36576" anchor="ctr">
                    <a:solidFill>
                      <a:srgbClr val="2E7D32"/>
                    </a:solidFill>
                  </a:tcPr>
                </a:tc>
                <a:tc>
                  <a:txBody>
                    <a:bodyPr/>
                    <a:lstStyle/>
                    <a:p>
                      <a:pPr algn="l">
                        <a:spcAft>
                          <a:spcPts val="0"/>
                        </a:spcAft>
                      </a:pPr>
                      <a:r>
                        <a:rPr sz="900" b="1" i="0">
                          <a:solidFill>
                            <a:srgbClr val="FFFFFF"/>
                          </a:solidFill>
                          <a:latin typeface="Arial"/>
                        </a:rPr>
                        <a:t>Max</a:t>
                      </a:r>
                    </a:p>
                  </a:txBody>
                  <a:tcPr marT="36576" marB="36576" anchor="ctr">
                    <a:solidFill>
                      <a:srgbClr val="2E7D32"/>
                    </a:solidFill>
                  </a:tcPr>
                </a:tc>
                <a:tc>
                  <a:txBody>
                    <a:bodyPr/>
                    <a:lstStyle/>
                    <a:p>
                      <a:pPr algn="l">
                        <a:spcAft>
                          <a:spcPts val="0"/>
                        </a:spcAft>
                      </a:pPr>
                      <a:r>
                        <a:rPr sz="900" b="1" i="0">
                          <a:solidFill>
                            <a:srgbClr val="FFFFFF"/>
                          </a:solidFill>
                          <a:latin typeface="Arial"/>
                        </a:rPr>
                        <a:t>Identifier?</a:t>
                      </a:r>
                    </a:p>
                  </a:txBody>
                  <a:tcPr marT="36576" marB="36576" anchor="ctr">
                    <a:solidFill>
                      <a:srgbClr val="2E7D32"/>
                    </a:solidFill>
                  </a:tcPr>
                </a:tc>
                <a:tc>
                  <a:txBody>
                    <a:bodyPr/>
                    <a:lstStyle/>
                    <a:p>
                      <a:pPr algn="l">
                        <a:spcAft>
                          <a:spcPts val="0"/>
                        </a:spcAft>
                      </a:pPr>
                      <a:r>
                        <a:rPr sz="900" b="1" i="0">
                          <a:solidFill>
                            <a:srgbClr val="FFFFFF"/>
                          </a:solidFill>
                          <a:latin typeface="Arial"/>
                        </a:rPr>
                        <a:t>Branching Logic</a:t>
                      </a:r>
                    </a:p>
                  </a:txBody>
                  <a:tcPr marT="36576" marB="36576" anchor="ctr">
                    <a:solidFill>
                      <a:srgbClr val="2E7D32"/>
                    </a:solidFill>
                  </a:tcPr>
                </a:tc>
                <a:extLst>
                  <a:ext uri="{0D108BD9-81ED-4DB2-BD59-A6C34878D82A}">
                    <a16:rowId xmlns:a16="http://schemas.microsoft.com/office/drawing/2014/main" val="10000"/>
                  </a:ext>
                </a:extLst>
              </a:tr>
              <a:tr h="384048">
                <a:tc>
                  <a:txBody>
                    <a:bodyPr/>
                    <a:lstStyle/>
                    <a:p>
                      <a:pPr algn="l">
                        <a:spcAft>
                          <a:spcPts val="0"/>
                        </a:spcAft>
                      </a:pPr>
                      <a:r>
                        <a:rPr sz="900" b="0" i="0">
                          <a:solidFill>
                            <a:srgbClr val="222222"/>
                          </a:solidFill>
                          <a:latin typeface="Arial"/>
                        </a:rPr>
                        <a:t>record_id</a:t>
                      </a:r>
                    </a:p>
                  </a:txBody>
                  <a:tcPr marT="36576" marB="36576" anchor="ctr">
                    <a:solidFill>
                      <a:srgbClr val="FFFFFF"/>
                    </a:solidFill>
                  </a:tcPr>
                </a:tc>
                <a:tc>
                  <a:txBody>
                    <a:bodyPr/>
                    <a:lstStyle/>
                    <a:p>
                      <a:pPr algn="l">
                        <a:spcAft>
                          <a:spcPts val="0"/>
                        </a:spcAft>
                      </a:pPr>
                      <a:r>
                        <a:rPr sz="900" b="0" i="0">
                          <a:solidFill>
                            <a:srgbClr val="222222"/>
                          </a:solidFill>
                          <a:latin typeface="Arial"/>
                        </a:rPr>
                        <a:t>enrolment</a:t>
                      </a:r>
                    </a:p>
                  </a:txBody>
                  <a:tcPr marT="36576" marB="36576" anchor="ctr">
                    <a:solidFill>
                      <a:srgbClr val="FFFFFF"/>
                    </a:solidFill>
                  </a:tcPr>
                </a:tc>
                <a:tc>
                  <a:txBody>
                    <a:bodyPr/>
                    <a:lstStyle/>
                    <a:p>
                      <a:pPr algn="l">
                        <a:spcAft>
                          <a:spcPts val="0"/>
                        </a:spcAft>
                      </a:pPr>
                      <a:r>
                        <a:rPr sz="900" b="0" i="0">
                          <a:solidFill>
                            <a:srgbClr val="222222"/>
                          </a:solidFill>
                          <a:latin typeface="Arial"/>
                        </a:rPr>
                        <a:t>text</a:t>
                      </a:r>
                    </a:p>
                  </a:txBody>
                  <a:tcPr marT="36576" marB="36576" anchor="ctr">
                    <a:solidFill>
                      <a:srgbClr val="FFFFFF"/>
                    </a:solidFill>
                  </a:tcPr>
                </a:tc>
                <a:tc>
                  <a:txBody>
                    <a:bodyPr/>
                    <a:lstStyle/>
                    <a:p>
                      <a:pPr algn="l">
                        <a:spcAft>
                          <a:spcPts val="0"/>
                        </a:spcAft>
                      </a:pPr>
                      <a:r>
                        <a:rPr sz="900" b="0" i="0">
                          <a:solidFill>
                            <a:srgbClr val="222222"/>
                          </a:solidFill>
                          <a:latin typeface="Arial"/>
                        </a:rPr>
                        <a:t>Study ID</a:t>
                      </a: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900" b="0" i="0">
                          <a:solidFill>
                            <a:srgbClr val="222222"/>
                          </a:solidFill>
                          <a:latin typeface="Arial"/>
                        </a:rPr>
                        <a:t>dob</a:t>
                      </a:r>
                    </a:p>
                  </a:txBody>
                  <a:tcPr marT="36576" marB="36576" anchor="ctr">
                    <a:solidFill>
                      <a:srgbClr val="F2F4F6"/>
                    </a:solidFill>
                  </a:tcPr>
                </a:tc>
                <a:tc>
                  <a:txBody>
                    <a:bodyPr/>
                    <a:lstStyle/>
                    <a:p>
                      <a:pPr algn="l">
                        <a:spcAft>
                          <a:spcPts val="0"/>
                        </a:spcAft>
                      </a:pPr>
                      <a:r>
                        <a:rPr sz="900" b="0" i="0">
                          <a:solidFill>
                            <a:srgbClr val="222222"/>
                          </a:solidFill>
                          <a:latin typeface="Arial"/>
                        </a:rPr>
                        <a:t>enrolment</a:t>
                      </a:r>
                    </a:p>
                  </a:txBody>
                  <a:tcPr marT="36576" marB="36576" anchor="ctr">
                    <a:solidFill>
                      <a:srgbClr val="F2F4F6"/>
                    </a:solidFill>
                  </a:tcPr>
                </a:tc>
                <a:tc>
                  <a:txBody>
                    <a:bodyPr/>
                    <a:lstStyle/>
                    <a:p>
                      <a:pPr algn="l">
                        <a:spcAft>
                          <a:spcPts val="0"/>
                        </a:spcAft>
                      </a:pPr>
                      <a:r>
                        <a:rPr sz="900" b="0" i="0">
                          <a:solidFill>
                            <a:srgbClr val="222222"/>
                          </a:solidFill>
                          <a:latin typeface="Arial"/>
                        </a:rPr>
                        <a:t>text</a:t>
                      </a:r>
                    </a:p>
                  </a:txBody>
                  <a:tcPr marT="36576" marB="36576" anchor="ctr">
                    <a:solidFill>
                      <a:srgbClr val="F2F4F6"/>
                    </a:solidFill>
                  </a:tcPr>
                </a:tc>
                <a:tc>
                  <a:txBody>
                    <a:bodyPr/>
                    <a:lstStyle/>
                    <a:p>
                      <a:pPr algn="l">
                        <a:spcAft>
                          <a:spcPts val="0"/>
                        </a:spcAft>
                      </a:pPr>
                      <a:r>
                        <a:rPr sz="900" b="0" i="0">
                          <a:solidFill>
                            <a:srgbClr val="222222"/>
                          </a:solidFill>
                          <a:latin typeface="Arial"/>
                        </a:rPr>
                        <a:t>Date of birth</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r>
                        <a:rPr sz="900" b="0" i="0">
                          <a:solidFill>
                            <a:srgbClr val="222222"/>
                          </a:solidFill>
                          <a:latin typeface="Arial"/>
                        </a:rPr>
                        <a:t>date_dmy</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r>
                        <a:rPr sz="900" b="1" i="0">
                          <a:solidFill>
                            <a:srgbClr val="C8102E"/>
                          </a:solidFill>
                          <a:latin typeface="Arial"/>
                        </a:rPr>
                        <a:t>y</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extLst>
                  <a:ext uri="{0D108BD9-81ED-4DB2-BD59-A6C34878D82A}">
                    <a16:rowId xmlns:a16="http://schemas.microsoft.com/office/drawing/2014/main" val="10002"/>
                  </a:ext>
                </a:extLst>
              </a:tr>
              <a:tr h="384048">
                <a:tc>
                  <a:txBody>
                    <a:bodyPr/>
                    <a:lstStyle/>
                    <a:p>
                      <a:pPr algn="l">
                        <a:spcAft>
                          <a:spcPts val="0"/>
                        </a:spcAft>
                      </a:pPr>
                      <a:r>
                        <a:rPr sz="900" b="0" i="0">
                          <a:solidFill>
                            <a:srgbClr val="222222"/>
                          </a:solidFill>
                          <a:latin typeface="Arial"/>
                        </a:rPr>
                        <a:t>sex</a:t>
                      </a:r>
                    </a:p>
                  </a:txBody>
                  <a:tcPr marT="36576" marB="36576" anchor="ctr">
                    <a:solidFill>
                      <a:srgbClr val="FFFFFF"/>
                    </a:solidFill>
                  </a:tcPr>
                </a:tc>
                <a:tc>
                  <a:txBody>
                    <a:bodyPr/>
                    <a:lstStyle/>
                    <a:p>
                      <a:pPr algn="l">
                        <a:spcAft>
                          <a:spcPts val="0"/>
                        </a:spcAft>
                      </a:pPr>
                      <a:r>
                        <a:rPr sz="900" b="0" i="0">
                          <a:solidFill>
                            <a:srgbClr val="222222"/>
                          </a:solidFill>
                          <a:latin typeface="Arial"/>
                        </a:rPr>
                        <a:t>enrolment</a:t>
                      </a:r>
                    </a:p>
                  </a:txBody>
                  <a:tcPr marT="36576" marB="36576" anchor="ctr">
                    <a:solidFill>
                      <a:srgbClr val="FFFFFF"/>
                    </a:solidFill>
                  </a:tcPr>
                </a:tc>
                <a:tc>
                  <a:txBody>
                    <a:bodyPr/>
                    <a:lstStyle/>
                    <a:p>
                      <a:pPr algn="l">
                        <a:spcAft>
                          <a:spcPts val="0"/>
                        </a:spcAft>
                      </a:pPr>
                      <a:r>
                        <a:rPr sz="900" b="0" i="0">
                          <a:solidFill>
                            <a:srgbClr val="222222"/>
                          </a:solidFill>
                          <a:latin typeface="Arial"/>
                        </a:rPr>
                        <a:t>radio</a:t>
                      </a:r>
                    </a:p>
                  </a:txBody>
                  <a:tcPr marT="36576" marB="36576" anchor="ctr">
                    <a:solidFill>
                      <a:srgbClr val="FFFFFF"/>
                    </a:solidFill>
                  </a:tcPr>
                </a:tc>
                <a:tc>
                  <a:txBody>
                    <a:bodyPr/>
                    <a:lstStyle/>
                    <a:p>
                      <a:pPr algn="l">
                        <a:spcAft>
                          <a:spcPts val="0"/>
                        </a:spcAft>
                      </a:pPr>
                      <a:r>
                        <a:rPr sz="900" b="0" i="0">
                          <a:solidFill>
                            <a:srgbClr val="222222"/>
                          </a:solidFill>
                          <a:latin typeface="Arial"/>
                        </a:rPr>
                        <a:t>Sex at birth</a:t>
                      </a:r>
                    </a:p>
                  </a:txBody>
                  <a:tcPr marT="36576" marB="36576" anchor="ctr">
                    <a:solidFill>
                      <a:srgbClr val="FFFFFF"/>
                    </a:solidFill>
                  </a:tcPr>
                </a:tc>
                <a:tc>
                  <a:txBody>
                    <a:bodyPr/>
                    <a:lstStyle/>
                    <a:p>
                      <a:pPr algn="l">
                        <a:spcAft>
                          <a:spcPts val="0"/>
                        </a:spcAft>
                      </a:pPr>
                      <a:r>
                        <a:rPr sz="900" b="0" i="0">
                          <a:solidFill>
                            <a:srgbClr val="222222"/>
                          </a:solidFill>
                          <a:latin typeface="Arial"/>
                        </a:rPr>
                        <a:t>1, Male | 2, Female</a:t>
                      </a: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pPr algn="l">
                        <a:spcAft>
                          <a:spcPts val="0"/>
                        </a:spcAft>
                      </a:pPr>
                      <a:r>
                        <a:rPr sz="900" b="0" i="0">
                          <a:solidFill>
                            <a:srgbClr val="222222"/>
                          </a:solidFill>
                          <a:latin typeface="Arial"/>
                        </a:rPr>
                        <a:t>weight_kg</a:t>
                      </a:r>
                    </a:p>
                  </a:txBody>
                  <a:tcPr marT="36576" marB="36576" anchor="ctr">
                    <a:solidFill>
                      <a:srgbClr val="F2F4F6"/>
                    </a:solidFill>
                  </a:tcPr>
                </a:tc>
                <a:tc>
                  <a:txBody>
                    <a:bodyPr/>
                    <a:lstStyle/>
                    <a:p>
                      <a:pPr algn="l">
                        <a:spcAft>
                          <a:spcPts val="0"/>
                        </a:spcAft>
                      </a:pPr>
                      <a:r>
                        <a:rPr sz="900" b="0" i="0">
                          <a:solidFill>
                            <a:srgbClr val="222222"/>
                          </a:solidFill>
                          <a:latin typeface="Arial"/>
                        </a:rPr>
                        <a:t>clinical</a:t>
                      </a:r>
                    </a:p>
                  </a:txBody>
                  <a:tcPr marT="36576" marB="36576" anchor="ctr">
                    <a:solidFill>
                      <a:srgbClr val="F2F4F6"/>
                    </a:solidFill>
                  </a:tcPr>
                </a:tc>
                <a:tc>
                  <a:txBody>
                    <a:bodyPr/>
                    <a:lstStyle/>
                    <a:p>
                      <a:pPr algn="l">
                        <a:spcAft>
                          <a:spcPts val="0"/>
                        </a:spcAft>
                      </a:pPr>
                      <a:r>
                        <a:rPr sz="900" b="0" i="0">
                          <a:solidFill>
                            <a:srgbClr val="222222"/>
                          </a:solidFill>
                          <a:latin typeface="Arial"/>
                        </a:rPr>
                        <a:t>text</a:t>
                      </a:r>
                    </a:p>
                  </a:txBody>
                  <a:tcPr marT="36576" marB="36576" anchor="ctr">
                    <a:solidFill>
                      <a:srgbClr val="F2F4F6"/>
                    </a:solidFill>
                  </a:tcPr>
                </a:tc>
                <a:tc>
                  <a:txBody>
                    <a:bodyPr/>
                    <a:lstStyle/>
                    <a:p>
                      <a:pPr algn="l">
                        <a:spcAft>
                          <a:spcPts val="0"/>
                        </a:spcAft>
                      </a:pPr>
                      <a:r>
                        <a:rPr sz="900" b="0" i="0">
                          <a:solidFill>
                            <a:srgbClr val="222222"/>
                          </a:solidFill>
                          <a:latin typeface="Arial"/>
                        </a:rPr>
                        <a:t>Weight (kg)</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r>
                        <a:rPr sz="900" b="0" i="0">
                          <a:solidFill>
                            <a:srgbClr val="222222"/>
                          </a:solidFill>
                          <a:latin typeface="Arial"/>
                        </a:rPr>
                        <a:t>number</a:t>
                      </a:r>
                    </a:p>
                  </a:txBody>
                  <a:tcPr marT="36576" marB="36576" anchor="ctr">
                    <a:solidFill>
                      <a:srgbClr val="F2F4F6"/>
                    </a:solidFill>
                  </a:tcPr>
                </a:tc>
                <a:tc>
                  <a:txBody>
                    <a:bodyPr/>
                    <a:lstStyle/>
                    <a:p>
                      <a:pPr algn="l">
                        <a:spcAft>
                          <a:spcPts val="0"/>
                        </a:spcAft>
                      </a:pPr>
                      <a:r>
                        <a:rPr sz="900" b="0" i="0">
                          <a:solidFill>
                            <a:srgbClr val="222222"/>
                          </a:solidFill>
                          <a:latin typeface="Arial"/>
                        </a:rPr>
                        <a:t>30</a:t>
                      </a:r>
                    </a:p>
                  </a:txBody>
                  <a:tcPr marT="36576" marB="36576" anchor="ctr">
                    <a:solidFill>
                      <a:srgbClr val="F2F4F6"/>
                    </a:solidFill>
                  </a:tcPr>
                </a:tc>
                <a:tc>
                  <a:txBody>
                    <a:bodyPr/>
                    <a:lstStyle/>
                    <a:p>
                      <a:pPr algn="l">
                        <a:spcAft>
                          <a:spcPts val="0"/>
                        </a:spcAft>
                      </a:pPr>
                      <a:r>
                        <a:rPr sz="900" b="0" i="0">
                          <a:solidFill>
                            <a:srgbClr val="222222"/>
                          </a:solidFill>
                          <a:latin typeface="Arial"/>
                        </a:rPr>
                        <a:t>200</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extLst>
                  <a:ext uri="{0D108BD9-81ED-4DB2-BD59-A6C34878D82A}">
                    <a16:rowId xmlns:a16="http://schemas.microsoft.com/office/drawing/2014/main" val="10004"/>
                  </a:ext>
                </a:extLst>
              </a:tr>
              <a:tr h="384048">
                <a:tc>
                  <a:txBody>
                    <a:bodyPr/>
                    <a:lstStyle/>
                    <a:p>
                      <a:pPr algn="l">
                        <a:spcAft>
                          <a:spcPts val="0"/>
                        </a:spcAft>
                      </a:pPr>
                      <a:r>
                        <a:rPr sz="900" b="0" i="0">
                          <a:solidFill>
                            <a:srgbClr val="222222"/>
                          </a:solidFill>
                          <a:latin typeface="Arial"/>
                        </a:rPr>
                        <a:t>height_cm</a:t>
                      </a:r>
                    </a:p>
                  </a:txBody>
                  <a:tcPr marT="36576" marB="36576" anchor="ctr">
                    <a:solidFill>
                      <a:srgbClr val="FFFFFF"/>
                    </a:solidFill>
                  </a:tcPr>
                </a:tc>
                <a:tc>
                  <a:txBody>
                    <a:bodyPr/>
                    <a:lstStyle/>
                    <a:p>
                      <a:pPr algn="l">
                        <a:spcAft>
                          <a:spcPts val="0"/>
                        </a:spcAft>
                      </a:pPr>
                      <a:r>
                        <a:rPr sz="900" b="0" i="0">
                          <a:solidFill>
                            <a:srgbClr val="222222"/>
                          </a:solidFill>
                          <a:latin typeface="Arial"/>
                        </a:rPr>
                        <a:t>clinical</a:t>
                      </a:r>
                    </a:p>
                  </a:txBody>
                  <a:tcPr marT="36576" marB="36576" anchor="ctr">
                    <a:solidFill>
                      <a:srgbClr val="FFFFFF"/>
                    </a:solidFill>
                  </a:tcPr>
                </a:tc>
                <a:tc>
                  <a:txBody>
                    <a:bodyPr/>
                    <a:lstStyle/>
                    <a:p>
                      <a:pPr algn="l">
                        <a:spcAft>
                          <a:spcPts val="0"/>
                        </a:spcAft>
                      </a:pPr>
                      <a:r>
                        <a:rPr sz="900" b="0" i="0">
                          <a:solidFill>
                            <a:srgbClr val="222222"/>
                          </a:solidFill>
                          <a:latin typeface="Arial"/>
                        </a:rPr>
                        <a:t>text</a:t>
                      </a:r>
                    </a:p>
                  </a:txBody>
                  <a:tcPr marT="36576" marB="36576" anchor="ctr">
                    <a:solidFill>
                      <a:srgbClr val="FFFFFF"/>
                    </a:solidFill>
                  </a:tcPr>
                </a:tc>
                <a:tc>
                  <a:txBody>
                    <a:bodyPr/>
                    <a:lstStyle/>
                    <a:p>
                      <a:pPr algn="l">
                        <a:spcAft>
                          <a:spcPts val="0"/>
                        </a:spcAft>
                      </a:pPr>
                      <a:r>
                        <a:rPr sz="900" b="0" i="0">
                          <a:solidFill>
                            <a:srgbClr val="222222"/>
                          </a:solidFill>
                          <a:latin typeface="Arial"/>
                        </a:rPr>
                        <a:t>Height (cm)</a:t>
                      </a: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r>
                        <a:rPr sz="900" b="0" i="0">
                          <a:solidFill>
                            <a:srgbClr val="222222"/>
                          </a:solidFill>
                          <a:latin typeface="Arial"/>
                        </a:rPr>
                        <a:t>number</a:t>
                      </a:r>
                    </a:p>
                  </a:txBody>
                  <a:tcPr marT="36576" marB="36576" anchor="ctr">
                    <a:solidFill>
                      <a:srgbClr val="FFFFFF"/>
                    </a:solidFill>
                  </a:tcPr>
                </a:tc>
                <a:tc>
                  <a:txBody>
                    <a:bodyPr/>
                    <a:lstStyle/>
                    <a:p>
                      <a:pPr algn="l">
                        <a:spcAft>
                          <a:spcPts val="0"/>
                        </a:spcAft>
                      </a:pPr>
                      <a:r>
                        <a:rPr sz="900" b="0" i="0">
                          <a:solidFill>
                            <a:srgbClr val="222222"/>
                          </a:solidFill>
                          <a:latin typeface="Arial"/>
                        </a:rPr>
                        <a:t>100</a:t>
                      </a:r>
                    </a:p>
                  </a:txBody>
                  <a:tcPr marT="36576" marB="36576" anchor="ctr">
                    <a:solidFill>
                      <a:srgbClr val="FFFFFF"/>
                    </a:solidFill>
                  </a:tcPr>
                </a:tc>
                <a:tc>
                  <a:txBody>
                    <a:bodyPr/>
                    <a:lstStyle/>
                    <a:p>
                      <a:pPr algn="l">
                        <a:spcAft>
                          <a:spcPts val="0"/>
                        </a:spcAft>
                      </a:pPr>
                      <a:r>
                        <a:rPr sz="900" b="0" i="0">
                          <a:solidFill>
                            <a:srgbClr val="222222"/>
                          </a:solidFill>
                          <a:latin typeface="Arial"/>
                        </a:rPr>
                        <a:t>220</a:t>
                      </a: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extLst>
                  <a:ext uri="{0D108BD9-81ED-4DB2-BD59-A6C34878D82A}">
                    <a16:rowId xmlns:a16="http://schemas.microsoft.com/office/drawing/2014/main" val="10005"/>
                  </a:ext>
                </a:extLst>
              </a:tr>
              <a:tr h="384048">
                <a:tc>
                  <a:txBody>
                    <a:bodyPr/>
                    <a:lstStyle/>
                    <a:p>
                      <a:pPr algn="l">
                        <a:spcAft>
                          <a:spcPts val="0"/>
                        </a:spcAft>
                      </a:pPr>
                      <a:r>
                        <a:rPr sz="900" b="0" i="0">
                          <a:solidFill>
                            <a:srgbClr val="222222"/>
                          </a:solidFill>
                          <a:latin typeface="Arial"/>
                        </a:rPr>
                        <a:t>bmi</a:t>
                      </a:r>
                    </a:p>
                  </a:txBody>
                  <a:tcPr marT="36576" marB="36576" anchor="ctr">
                    <a:solidFill>
                      <a:srgbClr val="F2F4F6"/>
                    </a:solidFill>
                  </a:tcPr>
                </a:tc>
                <a:tc>
                  <a:txBody>
                    <a:bodyPr/>
                    <a:lstStyle/>
                    <a:p>
                      <a:pPr algn="l">
                        <a:spcAft>
                          <a:spcPts val="0"/>
                        </a:spcAft>
                      </a:pPr>
                      <a:r>
                        <a:rPr sz="900" b="0" i="0">
                          <a:solidFill>
                            <a:srgbClr val="222222"/>
                          </a:solidFill>
                          <a:latin typeface="Arial"/>
                        </a:rPr>
                        <a:t>clinical</a:t>
                      </a:r>
                    </a:p>
                  </a:txBody>
                  <a:tcPr marT="36576" marB="36576" anchor="ctr">
                    <a:solidFill>
                      <a:srgbClr val="F2F4F6"/>
                    </a:solidFill>
                  </a:tcPr>
                </a:tc>
                <a:tc>
                  <a:txBody>
                    <a:bodyPr/>
                    <a:lstStyle/>
                    <a:p>
                      <a:pPr algn="l">
                        <a:spcAft>
                          <a:spcPts val="0"/>
                        </a:spcAft>
                      </a:pPr>
                      <a:r>
                        <a:rPr sz="900" b="0" i="0">
                          <a:solidFill>
                            <a:srgbClr val="222222"/>
                          </a:solidFill>
                          <a:latin typeface="Arial"/>
                        </a:rPr>
                        <a:t>calc</a:t>
                      </a:r>
                    </a:p>
                  </a:txBody>
                  <a:tcPr marT="36576" marB="36576" anchor="ctr">
                    <a:solidFill>
                      <a:srgbClr val="F2F4F6"/>
                    </a:solidFill>
                  </a:tcPr>
                </a:tc>
                <a:tc>
                  <a:txBody>
                    <a:bodyPr/>
                    <a:lstStyle/>
                    <a:p>
                      <a:pPr algn="l">
                        <a:spcAft>
                          <a:spcPts val="0"/>
                        </a:spcAft>
                      </a:pPr>
                      <a:r>
                        <a:rPr sz="900" b="0" i="0">
                          <a:solidFill>
                            <a:srgbClr val="222222"/>
                          </a:solidFill>
                          <a:latin typeface="Arial"/>
                        </a:rPr>
                        <a:t>BMI</a:t>
                      </a:r>
                    </a:p>
                  </a:txBody>
                  <a:tcPr marT="36576" marB="36576" anchor="ctr">
                    <a:solidFill>
                      <a:srgbClr val="F2F4F6"/>
                    </a:solidFill>
                  </a:tcPr>
                </a:tc>
                <a:tc>
                  <a:txBody>
                    <a:bodyPr/>
                    <a:lstStyle/>
                    <a:p>
                      <a:pPr algn="l">
                        <a:spcAft>
                          <a:spcPts val="0"/>
                        </a:spcAft>
                      </a:pPr>
                      <a:r>
                        <a:rPr sz="900" b="0" i="0">
                          <a:solidFill>
                            <a:srgbClr val="222222"/>
                          </a:solidFill>
                          <a:latin typeface="Arial"/>
                        </a:rPr>
                        <a:t>round([weight_kg]/([height_cm]/100)^2,1)</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extLst>
                  <a:ext uri="{0D108BD9-81ED-4DB2-BD59-A6C34878D82A}">
                    <a16:rowId xmlns:a16="http://schemas.microsoft.com/office/drawing/2014/main" val="10006"/>
                  </a:ext>
                </a:extLst>
              </a:tr>
              <a:tr h="384048">
                <a:tc>
                  <a:txBody>
                    <a:bodyPr/>
                    <a:lstStyle/>
                    <a:p>
                      <a:pPr algn="l">
                        <a:spcAft>
                          <a:spcPts val="0"/>
                        </a:spcAft>
                      </a:pPr>
                      <a:r>
                        <a:rPr sz="900" b="0" i="0">
                          <a:solidFill>
                            <a:srgbClr val="222222"/>
                          </a:solidFill>
                          <a:latin typeface="Arial"/>
                        </a:rPr>
                        <a:t>lab_eval</a:t>
                      </a:r>
                    </a:p>
                  </a:txBody>
                  <a:tcPr marT="36576" marB="36576" anchor="ctr">
                    <a:solidFill>
                      <a:srgbClr val="FFFFFF"/>
                    </a:solidFill>
                  </a:tcPr>
                </a:tc>
                <a:tc>
                  <a:txBody>
                    <a:bodyPr/>
                    <a:lstStyle/>
                    <a:p>
                      <a:pPr algn="l">
                        <a:spcAft>
                          <a:spcPts val="0"/>
                        </a:spcAft>
                      </a:pPr>
                      <a:r>
                        <a:rPr sz="900" b="0" i="0">
                          <a:solidFill>
                            <a:srgbClr val="222222"/>
                          </a:solidFill>
                          <a:latin typeface="Arial"/>
                        </a:rPr>
                        <a:t>laboratory</a:t>
                      </a:r>
                    </a:p>
                  </a:txBody>
                  <a:tcPr marT="36576" marB="36576" anchor="ctr">
                    <a:solidFill>
                      <a:srgbClr val="FFFFFF"/>
                    </a:solidFill>
                  </a:tcPr>
                </a:tc>
                <a:tc>
                  <a:txBody>
                    <a:bodyPr/>
                    <a:lstStyle/>
                    <a:p>
                      <a:pPr algn="l">
                        <a:spcAft>
                          <a:spcPts val="0"/>
                        </a:spcAft>
                      </a:pPr>
                      <a:r>
                        <a:rPr sz="900" b="0" i="0">
                          <a:solidFill>
                            <a:srgbClr val="222222"/>
                          </a:solidFill>
                          <a:latin typeface="Arial"/>
                        </a:rPr>
                        <a:t>yesno</a:t>
                      </a:r>
                    </a:p>
                  </a:txBody>
                  <a:tcPr marT="36576" marB="36576" anchor="ctr">
                    <a:solidFill>
                      <a:srgbClr val="FFFFFF"/>
                    </a:solidFill>
                  </a:tcPr>
                </a:tc>
                <a:tc>
                  <a:txBody>
                    <a:bodyPr/>
                    <a:lstStyle/>
                    <a:p>
                      <a:pPr algn="l">
                        <a:spcAft>
                          <a:spcPts val="0"/>
                        </a:spcAft>
                      </a:pPr>
                      <a:r>
                        <a:rPr sz="900" b="0" i="0">
                          <a:solidFill>
                            <a:srgbClr val="222222"/>
                          </a:solidFill>
                          <a:latin typeface="Arial"/>
                        </a:rPr>
                        <a:t>Lab evaluation done?</a:t>
                      </a: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tc>
                  <a:txBody>
                    <a:bodyPr/>
                    <a:lstStyle/>
                    <a:p>
                      <a:pPr algn="l">
                        <a:spcAft>
                          <a:spcPts val="0"/>
                        </a:spcAft>
                      </a:pPr>
                      <a:endParaRPr/>
                    </a:p>
                  </a:txBody>
                  <a:tcPr marT="36576" marB="36576" anchor="ctr">
                    <a:solidFill>
                      <a:srgbClr val="FFFFFF"/>
                    </a:solidFill>
                  </a:tcPr>
                </a:tc>
                <a:extLst>
                  <a:ext uri="{0D108BD9-81ED-4DB2-BD59-A6C34878D82A}">
                    <a16:rowId xmlns:a16="http://schemas.microsoft.com/office/drawing/2014/main" val="10007"/>
                  </a:ext>
                </a:extLst>
              </a:tr>
              <a:tr h="384048">
                <a:tc>
                  <a:txBody>
                    <a:bodyPr/>
                    <a:lstStyle/>
                    <a:p>
                      <a:pPr algn="l">
                        <a:spcAft>
                          <a:spcPts val="0"/>
                        </a:spcAft>
                      </a:pPr>
                      <a:r>
                        <a:rPr sz="900" b="0" i="0">
                          <a:solidFill>
                            <a:srgbClr val="222222"/>
                          </a:solidFill>
                          <a:latin typeface="Arial"/>
                        </a:rPr>
                        <a:t>test_type</a:t>
                      </a:r>
                    </a:p>
                  </a:txBody>
                  <a:tcPr marT="36576" marB="36576" anchor="ctr">
                    <a:solidFill>
                      <a:srgbClr val="F2F4F6"/>
                    </a:solidFill>
                  </a:tcPr>
                </a:tc>
                <a:tc>
                  <a:txBody>
                    <a:bodyPr/>
                    <a:lstStyle/>
                    <a:p>
                      <a:pPr algn="l">
                        <a:spcAft>
                          <a:spcPts val="0"/>
                        </a:spcAft>
                      </a:pPr>
                      <a:r>
                        <a:rPr sz="900" b="0" i="0">
                          <a:solidFill>
                            <a:srgbClr val="222222"/>
                          </a:solidFill>
                          <a:latin typeface="Arial"/>
                        </a:rPr>
                        <a:t>laboratory</a:t>
                      </a:r>
                    </a:p>
                  </a:txBody>
                  <a:tcPr marT="36576" marB="36576" anchor="ctr">
                    <a:solidFill>
                      <a:srgbClr val="F2F4F6"/>
                    </a:solidFill>
                  </a:tcPr>
                </a:tc>
                <a:tc>
                  <a:txBody>
                    <a:bodyPr/>
                    <a:lstStyle/>
                    <a:p>
                      <a:pPr algn="l">
                        <a:spcAft>
                          <a:spcPts val="0"/>
                        </a:spcAft>
                      </a:pPr>
                      <a:r>
                        <a:rPr sz="900" b="0" i="0">
                          <a:solidFill>
                            <a:srgbClr val="222222"/>
                          </a:solidFill>
                          <a:latin typeface="Arial"/>
                        </a:rPr>
                        <a:t>checkbox</a:t>
                      </a:r>
                    </a:p>
                  </a:txBody>
                  <a:tcPr marT="36576" marB="36576" anchor="ctr">
                    <a:solidFill>
                      <a:srgbClr val="F2F4F6"/>
                    </a:solidFill>
                  </a:tcPr>
                </a:tc>
                <a:tc>
                  <a:txBody>
                    <a:bodyPr/>
                    <a:lstStyle/>
                    <a:p>
                      <a:pPr algn="l">
                        <a:spcAft>
                          <a:spcPts val="0"/>
                        </a:spcAft>
                      </a:pPr>
                      <a:r>
                        <a:rPr sz="900" b="0" i="0">
                          <a:solidFill>
                            <a:srgbClr val="222222"/>
                          </a:solidFill>
                          <a:latin typeface="Arial"/>
                        </a:rPr>
                        <a:t>Test type</a:t>
                      </a:r>
                    </a:p>
                  </a:txBody>
                  <a:tcPr marT="36576" marB="36576" anchor="ctr">
                    <a:solidFill>
                      <a:srgbClr val="F2F4F6"/>
                    </a:solidFill>
                  </a:tcPr>
                </a:tc>
                <a:tc>
                  <a:txBody>
                    <a:bodyPr/>
                    <a:lstStyle/>
                    <a:p>
                      <a:pPr algn="l">
                        <a:spcAft>
                          <a:spcPts val="0"/>
                        </a:spcAft>
                      </a:pPr>
                      <a:r>
                        <a:rPr sz="900" b="0" i="0">
                          <a:solidFill>
                            <a:srgbClr val="222222"/>
                          </a:solidFill>
                          <a:latin typeface="Arial"/>
                        </a:rPr>
                        <a:t>1, Smear | 2, GeneXpert</a:t>
                      </a: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endParaRPr/>
                    </a:p>
                  </a:txBody>
                  <a:tcPr marT="36576" marB="36576" anchor="ctr">
                    <a:solidFill>
                      <a:srgbClr val="F2F4F6"/>
                    </a:solidFill>
                  </a:tcPr>
                </a:tc>
                <a:tc>
                  <a:txBody>
                    <a:bodyPr/>
                    <a:lstStyle/>
                    <a:p>
                      <a:pPr algn="l">
                        <a:spcAft>
                          <a:spcPts val="0"/>
                        </a:spcAft>
                      </a:pPr>
                      <a:r>
                        <a:rPr sz="900" b="0" i="0">
                          <a:solidFill>
                            <a:srgbClr val="1E88C8"/>
                          </a:solidFill>
                          <a:latin typeface="Arial"/>
                        </a:rPr>
                        <a:t>[lab_eval] = '1'</a:t>
                      </a:r>
                    </a:p>
                  </a:txBody>
                  <a:tcPr marT="36576" marB="36576" anchor="ctr">
                    <a:solidFill>
                      <a:srgbClr val="F2F4F6"/>
                    </a:solidFill>
                  </a:tcPr>
                </a:tc>
                <a:extLst>
                  <a:ext uri="{0D108BD9-81ED-4DB2-BD59-A6C34878D82A}">
                    <a16:rowId xmlns:a16="http://schemas.microsoft.com/office/drawing/2014/main" val="10008"/>
                  </a:ext>
                </a:extLst>
              </a:tr>
            </a:tbl>
          </a:graphicData>
        </a:graphic>
      </p:graphicFrame>
      <p:sp>
        <p:nvSpPr>
          <p:cNvPr id="11" name="Rectangle 10"/>
          <p:cNvSpPr/>
          <p:nvPr/>
        </p:nvSpPr>
        <p:spPr>
          <a:xfrm>
            <a:off x="548640" y="507492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07492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E8A5_2E7D32.png"/>
          <p:cNvPicPr>
            <a:picLocks noChangeAspect="1"/>
          </p:cNvPicPr>
          <p:nvPr/>
        </p:nvPicPr>
        <p:blipFill>
          <a:blip r:embed="rId4"/>
          <a:stretch>
            <a:fillRect/>
          </a:stretch>
        </p:blipFill>
        <p:spPr>
          <a:xfrm>
            <a:off x="777240" y="5166359"/>
            <a:ext cx="365760" cy="365760"/>
          </a:xfrm>
          <a:prstGeom prst="rect">
            <a:avLst/>
          </a:prstGeom>
        </p:spPr>
      </p:pic>
      <p:sp>
        <p:nvSpPr>
          <p:cNvPr id="14" name="TextBox 13"/>
          <p:cNvSpPr txBox="1"/>
          <p:nvPr/>
        </p:nvSpPr>
        <p:spPr>
          <a:xfrm>
            <a:off x="1280160" y="50749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Design the dictionary </a:t>
            </a:r>
            <a:r>
              <a:rPr sz="1500" b="1" i="0">
                <a:solidFill>
                  <a:srgbClr val="2E7D32"/>
                </a:solidFill>
                <a:latin typeface="Arial"/>
              </a:rPr>
              <a:t>first</a:t>
            </a:r>
            <a:r>
              <a:rPr sz="1500" b="0" i="0">
                <a:solidFill>
                  <a:srgbClr val="222222"/>
                </a:solidFill>
                <a:latin typeface="Arial"/>
              </a:rPr>
              <a:t>: it is also the </a:t>
            </a:r>
            <a:r>
              <a:rPr sz="1500" b="1" i="0">
                <a:solidFill>
                  <a:srgbClr val="1E88C8"/>
                </a:solidFill>
                <a:latin typeface="Arial"/>
              </a:rPr>
              <a:t>codebook</a:t>
            </a:r>
            <a:r>
              <a:rPr sz="1500" b="0" i="0">
                <a:solidFill>
                  <a:srgbClr val="222222"/>
                </a:solidFill>
                <a:latin typeface="Arial"/>
              </a:rPr>
              <a:t> for your DMP.</a:t>
            </a:r>
          </a:p>
        </p:txBody>
      </p:sp>
      <p:sp>
        <p:nvSpPr>
          <p:cNvPr id="15" name="TextBox 14"/>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ID: identifier   ·   BMI: body mass index   ·   DMP: Data Management Plan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Field types: the right type prevents errors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15</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Project field types (4 min)</a:t>
            </a:r>
          </a:p>
        </p:txBody>
      </p:sp>
      <p:sp>
        <p:nvSpPr>
          <p:cNvPr id="10" name="Rectangle 9"/>
          <p:cNvSpPr/>
          <p:nvPr/>
        </p:nvSpPr>
        <p:spPr>
          <a:xfrm>
            <a:off x="548640" y="146304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8D2_1E88C8.png"/>
          <p:cNvPicPr>
            <a:picLocks noChangeAspect="1"/>
          </p:cNvPicPr>
          <p:nvPr/>
        </p:nvPicPr>
        <p:blipFill>
          <a:blip r:embed="rId4"/>
          <a:stretch>
            <a:fillRect/>
          </a:stretch>
        </p:blipFill>
        <p:spPr>
          <a:xfrm>
            <a:off x="685800" y="1600200"/>
            <a:ext cx="457200" cy="457200"/>
          </a:xfrm>
          <a:prstGeom prst="rect">
            <a:avLst/>
          </a:prstGeom>
        </p:spPr>
      </p:pic>
      <p:sp>
        <p:nvSpPr>
          <p:cNvPr id="12" name="TextBox 11"/>
          <p:cNvSpPr txBox="1"/>
          <p:nvPr/>
        </p:nvSpPr>
        <p:spPr>
          <a:xfrm>
            <a:off x="685800" y="214884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Text box</a:t>
            </a:r>
          </a:p>
          <a:p>
            <a:pPr algn="l">
              <a:spcAft>
                <a:spcPts val="600"/>
              </a:spcAft>
            </a:pPr>
            <a:r>
              <a:rPr sz="1200" b="0" i="0">
                <a:solidFill>
                  <a:srgbClr val="62676D"/>
                </a:solidFill>
                <a:latin typeface="Arial"/>
              </a:rPr>
              <a:t>with validation</a:t>
            </a:r>
          </a:p>
        </p:txBody>
      </p:sp>
      <p:sp>
        <p:nvSpPr>
          <p:cNvPr id="13" name="Rectangle 12"/>
          <p:cNvSpPr/>
          <p:nvPr/>
        </p:nvSpPr>
        <p:spPr>
          <a:xfrm>
            <a:off x="2798064" y="146304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8BD_1E88C8.png"/>
          <p:cNvPicPr>
            <a:picLocks noChangeAspect="1"/>
          </p:cNvPicPr>
          <p:nvPr/>
        </p:nvPicPr>
        <p:blipFill>
          <a:blip r:embed="rId5"/>
          <a:stretch>
            <a:fillRect/>
          </a:stretch>
        </p:blipFill>
        <p:spPr>
          <a:xfrm>
            <a:off x="2935224" y="1600200"/>
            <a:ext cx="457200" cy="457200"/>
          </a:xfrm>
          <a:prstGeom prst="rect">
            <a:avLst/>
          </a:prstGeom>
        </p:spPr>
      </p:pic>
      <p:sp>
        <p:nvSpPr>
          <p:cNvPr id="15" name="TextBox 14"/>
          <p:cNvSpPr txBox="1"/>
          <p:nvPr/>
        </p:nvSpPr>
        <p:spPr>
          <a:xfrm>
            <a:off x="2935224" y="214884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Notes box</a:t>
            </a:r>
          </a:p>
          <a:p>
            <a:pPr algn="l">
              <a:spcAft>
                <a:spcPts val="600"/>
              </a:spcAft>
            </a:pPr>
            <a:r>
              <a:rPr sz="1200" b="0" i="0">
                <a:solidFill>
                  <a:srgbClr val="62676D"/>
                </a:solidFill>
                <a:latin typeface="Arial"/>
              </a:rPr>
              <a:t>long free text</a:t>
            </a:r>
          </a:p>
        </p:txBody>
      </p:sp>
      <p:sp>
        <p:nvSpPr>
          <p:cNvPr id="16" name="Rectangle 15"/>
          <p:cNvSpPr/>
          <p:nvPr/>
        </p:nvSpPr>
        <p:spPr>
          <a:xfrm>
            <a:off x="5047488" y="146304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E9D5_1E88C8.png"/>
          <p:cNvPicPr>
            <a:picLocks noChangeAspect="1"/>
          </p:cNvPicPr>
          <p:nvPr/>
        </p:nvPicPr>
        <p:blipFill>
          <a:blip r:embed="rId6"/>
          <a:stretch>
            <a:fillRect/>
          </a:stretch>
        </p:blipFill>
        <p:spPr>
          <a:xfrm>
            <a:off x="5184648" y="1600200"/>
            <a:ext cx="457200" cy="457200"/>
          </a:xfrm>
          <a:prstGeom prst="rect">
            <a:avLst/>
          </a:prstGeom>
        </p:spPr>
      </p:pic>
      <p:sp>
        <p:nvSpPr>
          <p:cNvPr id="18" name="TextBox 17"/>
          <p:cNvSpPr txBox="1"/>
          <p:nvPr/>
        </p:nvSpPr>
        <p:spPr>
          <a:xfrm>
            <a:off x="5184648" y="214884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Radio</a:t>
            </a:r>
          </a:p>
          <a:p>
            <a:pPr algn="l">
              <a:spcAft>
                <a:spcPts val="600"/>
              </a:spcAft>
            </a:pPr>
            <a:r>
              <a:rPr sz="1200" b="0" i="0">
                <a:solidFill>
                  <a:srgbClr val="62676D"/>
                </a:solidFill>
                <a:latin typeface="Arial"/>
              </a:rPr>
              <a:t>one answer</a:t>
            </a:r>
          </a:p>
        </p:txBody>
      </p:sp>
      <p:sp>
        <p:nvSpPr>
          <p:cNvPr id="19" name="Rectangle 18"/>
          <p:cNvSpPr/>
          <p:nvPr/>
        </p:nvSpPr>
        <p:spPr>
          <a:xfrm>
            <a:off x="7296912" y="146304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E70D_1E88C8.png"/>
          <p:cNvPicPr>
            <a:picLocks noChangeAspect="1"/>
          </p:cNvPicPr>
          <p:nvPr/>
        </p:nvPicPr>
        <p:blipFill>
          <a:blip r:embed="rId7"/>
          <a:stretch>
            <a:fillRect/>
          </a:stretch>
        </p:blipFill>
        <p:spPr>
          <a:xfrm>
            <a:off x="7434071" y="1600200"/>
            <a:ext cx="457200" cy="457200"/>
          </a:xfrm>
          <a:prstGeom prst="rect">
            <a:avLst/>
          </a:prstGeom>
        </p:spPr>
      </p:pic>
      <p:sp>
        <p:nvSpPr>
          <p:cNvPr id="21" name="TextBox 20"/>
          <p:cNvSpPr txBox="1"/>
          <p:nvPr/>
        </p:nvSpPr>
        <p:spPr>
          <a:xfrm>
            <a:off x="7434071" y="214884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Drop-down</a:t>
            </a:r>
          </a:p>
          <a:p>
            <a:pPr algn="l">
              <a:spcAft>
                <a:spcPts val="600"/>
              </a:spcAft>
            </a:pPr>
            <a:r>
              <a:rPr sz="1200" b="0" i="0">
                <a:solidFill>
                  <a:srgbClr val="62676D"/>
                </a:solidFill>
                <a:latin typeface="Arial"/>
              </a:rPr>
              <a:t>one from a long list</a:t>
            </a:r>
          </a:p>
        </p:txBody>
      </p:sp>
      <p:sp>
        <p:nvSpPr>
          <p:cNvPr id="22" name="Rectangle 21"/>
          <p:cNvSpPr/>
          <p:nvPr/>
        </p:nvSpPr>
        <p:spPr>
          <a:xfrm>
            <a:off x="9546336" y="146304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73E_1E88C8.png"/>
          <p:cNvPicPr>
            <a:picLocks noChangeAspect="1"/>
          </p:cNvPicPr>
          <p:nvPr/>
        </p:nvPicPr>
        <p:blipFill>
          <a:blip r:embed="rId8"/>
          <a:stretch>
            <a:fillRect/>
          </a:stretch>
        </p:blipFill>
        <p:spPr>
          <a:xfrm>
            <a:off x="9683496" y="1600200"/>
            <a:ext cx="457200" cy="457200"/>
          </a:xfrm>
          <a:prstGeom prst="rect">
            <a:avLst/>
          </a:prstGeom>
        </p:spPr>
      </p:pic>
      <p:sp>
        <p:nvSpPr>
          <p:cNvPr id="24" name="TextBox 23"/>
          <p:cNvSpPr txBox="1"/>
          <p:nvPr/>
        </p:nvSpPr>
        <p:spPr>
          <a:xfrm>
            <a:off x="9683496" y="214884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Checkboxes</a:t>
            </a:r>
          </a:p>
          <a:p>
            <a:pPr algn="l">
              <a:spcAft>
                <a:spcPts val="600"/>
              </a:spcAft>
            </a:pPr>
            <a:r>
              <a:rPr sz="1200" b="0" i="0">
                <a:solidFill>
                  <a:srgbClr val="62676D"/>
                </a:solidFill>
                <a:latin typeface="Arial"/>
              </a:rPr>
              <a:t>several answers</a:t>
            </a:r>
          </a:p>
        </p:txBody>
      </p:sp>
      <p:sp>
        <p:nvSpPr>
          <p:cNvPr id="25" name="Rectangle 24"/>
          <p:cNvSpPr/>
          <p:nvPr/>
        </p:nvSpPr>
        <p:spPr>
          <a:xfrm>
            <a:off x="548640" y="315468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8FB_1E88C8.png"/>
          <p:cNvPicPr>
            <a:picLocks noChangeAspect="1"/>
          </p:cNvPicPr>
          <p:nvPr/>
        </p:nvPicPr>
        <p:blipFill>
          <a:blip r:embed="rId9"/>
          <a:stretch>
            <a:fillRect/>
          </a:stretch>
        </p:blipFill>
        <p:spPr>
          <a:xfrm>
            <a:off x="685800" y="3291840"/>
            <a:ext cx="457200" cy="457200"/>
          </a:xfrm>
          <a:prstGeom prst="rect">
            <a:avLst/>
          </a:prstGeom>
        </p:spPr>
      </p:pic>
      <p:sp>
        <p:nvSpPr>
          <p:cNvPr id="27" name="TextBox 26"/>
          <p:cNvSpPr txBox="1"/>
          <p:nvPr/>
        </p:nvSpPr>
        <p:spPr>
          <a:xfrm>
            <a:off x="685800" y="384048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Yes / No</a:t>
            </a:r>
          </a:p>
          <a:p>
            <a:pPr algn="l">
              <a:spcAft>
                <a:spcPts val="600"/>
              </a:spcAft>
            </a:pPr>
            <a:r>
              <a:rPr sz="1200" b="0" i="0">
                <a:solidFill>
                  <a:srgbClr val="62676D"/>
                </a:solidFill>
                <a:latin typeface="Arial"/>
              </a:rPr>
              <a:t>coded 1 / 0</a:t>
            </a:r>
          </a:p>
        </p:txBody>
      </p:sp>
      <p:sp>
        <p:nvSpPr>
          <p:cNvPr id="28" name="Rectangle 27"/>
          <p:cNvSpPr/>
          <p:nvPr/>
        </p:nvSpPr>
        <p:spPr>
          <a:xfrm>
            <a:off x="2798064" y="3154680"/>
            <a:ext cx="2084831" cy="15087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E8EF_C8102E.png"/>
          <p:cNvPicPr>
            <a:picLocks noChangeAspect="1"/>
          </p:cNvPicPr>
          <p:nvPr/>
        </p:nvPicPr>
        <p:blipFill>
          <a:blip r:embed="rId10"/>
          <a:stretch>
            <a:fillRect/>
          </a:stretch>
        </p:blipFill>
        <p:spPr>
          <a:xfrm>
            <a:off x="2935224" y="3291840"/>
            <a:ext cx="457200" cy="457200"/>
          </a:xfrm>
          <a:prstGeom prst="rect">
            <a:avLst/>
          </a:prstGeom>
        </p:spPr>
      </p:pic>
      <p:sp>
        <p:nvSpPr>
          <p:cNvPr id="30" name="TextBox 29"/>
          <p:cNvSpPr txBox="1"/>
          <p:nvPr/>
        </p:nvSpPr>
        <p:spPr>
          <a:xfrm>
            <a:off x="2935224" y="384048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Calculated</a:t>
            </a:r>
          </a:p>
          <a:p>
            <a:pPr algn="l">
              <a:spcAft>
                <a:spcPts val="600"/>
              </a:spcAft>
            </a:pPr>
            <a:r>
              <a:rPr sz="1200" b="0" i="0">
                <a:solidFill>
                  <a:srgbClr val="62676D"/>
                </a:solidFill>
                <a:latin typeface="Arial"/>
              </a:rPr>
              <a:t>computed for you</a:t>
            </a:r>
          </a:p>
        </p:txBody>
      </p:sp>
      <p:sp>
        <p:nvSpPr>
          <p:cNvPr id="31" name="Rectangle 30"/>
          <p:cNvSpPr/>
          <p:nvPr/>
        </p:nvSpPr>
        <p:spPr>
          <a:xfrm>
            <a:off x="5047488" y="315468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9E9_1E88C8.png"/>
          <p:cNvPicPr>
            <a:picLocks noChangeAspect="1"/>
          </p:cNvPicPr>
          <p:nvPr/>
        </p:nvPicPr>
        <p:blipFill>
          <a:blip r:embed="rId11"/>
          <a:stretch>
            <a:fillRect/>
          </a:stretch>
        </p:blipFill>
        <p:spPr>
          <a:xfrm>
            <a:off x="5184648" y="3291840"/>
            <a:ext cx="457200" cy="457200"/>
          </a:xfrm>
          <a:prstGeom prst="rect">
            <a:avLst/>
          </a:prstGeom>
        </p:spPr>
      </p:pic>
      <p:sp>
        <p:nvSpPr>
          <p:cNvPr id="33" name="TextBox 32"/>
          <p:cNvSpPr txBox="1"/>
          <p:nvPr/>
        </p:nvSpPr>
        <p:spPr>
          <a:xfrm>
            <a:off x="5184648" y="384048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Slider</a:t>
            </a:r>
          </a:p>
          <a:p>
            <a:pPr algn="l">
              <a:spcAft>
                <a:spcPts val="600"/>
              </a:spcAft>
            </a:pPr>
            <a:r>
              <a:rPr sz="1200" b="0" i="0">
                <a:solidFill>
                  <a:srgbClr val="62676D"/>
                </a:solidFill>
                <a:latin typeface="Arial"/>
              </a:rPr>
              <a:t>visual scale 0–100</a:t>
            </a:r>
          </a:p>
        </p:txBody>
      </p:sp>
      <p:sp>
        <p:nvSpPr>
          <p:cNvPr id="34" name="Rectangle 33"/>
          <p:cNvSpPr/>
          <p:nvPr/>
        </p:nvSpPr>
        <p:spPr>
          <a:xfrm>
            <a:off x="7296912" y="315468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E898_1E88C8.png"/>
          <p:cNvPicPr>
            <a:picLocks noChangeAspect="1"/>
          </p:cNvPicPr>
          <p:nvPr/>
        </p:nvPicPr>
        <p:blipFill>
          <a:blip r:embed="rId12"/>
          <a:stretch>
            <a:fillRect/>
          </a:stretch>
        </p:blipFill>
        <p:spPr>
          <a:xfrm>
            <a:off x="7434071" y="3291840"/>
            <a:ext cx="457200" cy="457200"/>
          </a:xfrm>
          <a:prstGeom prst="rect">
            <a:avLst/>
          </a:prstGeom>
        </p:spPr>
      </p:pic>
      <p:sp>
        <p:nvSpPr>
          <p:cNvPr id="36" name="TextBox 35"/>
          <p:cNvSpPr txBox="1"/>
          <p:nvPr/>
        </p:nvSpPr>
        <p:spPr>
          <a:xfrm>
            <a:off x="7434071" y="384048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File / signature</a:t>
            </a:r>
          </a:p>
          <a:p>
            <a:pPr algn="l">
              <a:spcAft>
                <a:spcPts val="600"/>
              </a:spcAft>
            </a:pPr>
            <a:r>
              <a:rPr sz="1200" b="0" i="0">
                <a:solidFill>
                  <a:srgbClr val="62676D"/>
                </a:solidFill>
                <a:latin typeface="Arial"/>
              </a:rPr>
              <a:t>uploads</a:t>
            </a:r>
          </a:p>
        </p:txBody>
      </p:sp>
      <p:sp>
        <p:nvSpPr>
          <p:cNvPr id="37" name="Rectangle 36"/>
          <p:cNvSpPr/>
          <p:nvPr/>
        </p:nvSpPr>
        <p:spPr>
          <a:xfrm>
            <a:off x="9546336" y="3154680"/>
            <a:ext cx="2084831" cy="1508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946_1E88C8.png"/>
          <p:cNvPicPr>
            <a:picLocks noChangeAspect="1"/>
          </p:cNvPicPr>
          <p:nvPr/>
        </p:nvPicPr>
        <p:blipFill>
          <a:blip r:embed="rId13"/>
          <a:stretch>
            <a:fillRect/>
          </a:stretch>
        </p:blipFill>
        <p:spPr>
          <a:xfrm>
            <a:off x="9683496" y="3291840"/>
            <a:ext cx="457200" cy="457200"/>
          </a:xfrm>
          <a:prstGeom prst="rect">
            <a:avLst/>
          </a:prstGeom>
        </p:spPr>
      </p:pic>
      <p:sp>
        <p:nvSpPr>
          <p:cNvPr id="39" name="TextBox 38"/>
          <p:cNvSpPr txBox="1"/>
          <p:nvPr/>
        </p:nvSpPr>
        <p:spPr>
          <a:xfrm>
            <a:off x="9683496" y="3840480"/>
            <a:ext cx="1828800" cy="777240"/>
          </a:xfrm>
          <a:prstGeom prst="rect">
            <a:avLst/>
          </a:prstGeom>
          <a:noFill/>
        </p:spPr>
        <p:txBody>
          <a:bodyPr wrap="square" lIns="0" tIns="0" rIns="0" bIns="0" anchor="t"/>
          <a:lstStyle/>
          <a:p>
            <a:pPr algn="l">
              <a:spcAft>
                <a:spcPts val="100"/>
              </a:spcAft>
            </a:pPr>
            <a:r>
              <a:rPr sz="1500" b="1" i="0">
                <a:solidFill>
                  <a:srgbClr val="41464C"/>
                </a:solidFill>
                <a:latin typeface="Arial"/>
              </a:rPr>
              <a:t>Descriptive</a:t>
            </a:r>
          </a:p>
          <a:p>
            <a:pPr algn="l">
              <a:spcAft>
                <a:spcPts val="600"/>
              </a:spcAft>
            </a:pPr>
            <a:r>
              <a:rPr sz="1200" b="0" i="0">
                <a:solidFill>
                  <a:srgbClr val="62676D"/>
                </a:solidFill>
                <a:latin typeface="Arial"/>
              </a:rPr>
              <a:t>instructions only</a:t>
            </a:r>
          </a:p>
        </p:txBody>
      </p:sp>
      <p:sp>
        <p:nvSpPr>
          <p:cNvPr id="40" name="Rectangle 39"/>
          <p:cNvSpPr/>
          <p:nvPr/>
        </p:nvSpPr>
        <p:spPr>
          <a:xfrm>
            <a:off x="548640" y="502920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48640" y="502920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E73E_2E7D32.png"/>
          <p:cNvPicPr>
            <a:picLocks noChangeAspect="1"/>
          </p:cNvPicPr>
          <p:nvPr/>
        </p:nvPicPr>
        <p:blipFill>
          <a:blip r:embed="rId14"/>
          <a:stretch>
            <a:fillRect/>
          </a:stretch>
        </p:blipFill>
        <p:spPr>
          <a:xfrm>
            <a:off x="777240" y="5120640"/>
            <a:ext cx="365760" cy="365760"/>
          </a:xfrm>
          <a:prstGeom prst="rect">
            <a:avLst/>
          </a:prstGeom>
        </p:spPr>
      </p:pic>
      <p:sp>
        <p:nvSpPr>
          <p:cNvPr id="43" name="TextBox 42"/>
          <p:cNvSpPr txBox="1"/>
          <p:nvPr/>
        </p:nvSpPr>
        <p:spPr>
          <a:xfrm>
            <a:off x="1280160" y="50292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Fixed list of answers? </a:t>
            </a:r>
            <a:r>
              <a:rPr sz="1500" b="1" i="0">
                <a:solidFill>
                  <a:srgbClr val="2E7D32"/>
                </a:solidFill>
                <a:latin typeface="Arial"/>
              </a:rPr>
              <a:t>Never use free 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Validation: stop errors at the moment of entry</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16</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Project field types (4 min)</a:t>
            </a:r>
          </a:p>
        </p:txBody>
      </p:sp>
      <p:sp>
        <p:nvSpPr>
          <p:cNvPr id="10" name="Rectangle 9"/>
          <p:cNvSpPr/>
          <p:nvPr/>
        </p:nvSpPr>
        <p:spPr>
          <a:xfrm>
            <a:off x="548640" y="1417320"/>
            <a:ext cx="5852160" cy="310896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585216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5632704"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4846320" cy="329184"/>
          </a:xfrm>
          <a:prstGeom prst="rect">
            <a:avLst/>
          </a:prstGeom>
          <a:noFill/>
        </p:spPr>
        <p:txBody>
          <a:bodyPr wrap="square" lIns="0" tIns="0" rIns="0" bIns="0" anchor="ctr"/>
          <a:lstStyle/>
          <a:p>
            <a:pPr algn="r">
              <a:spcAft>
                <a:spcPts val="600"/>
              </a:spcAft>
            </a:pPr>
            <a:r>
              <a:rPr sz="900" b="0" i="0">
                <a:solidFill>
                  <a:srgbClr val="F3D9DC"/>
                </a:solidFill>
                <a:latin typeface="Arial"/>
              </a:rPr>
              <a:t>Clinical  ·  Record TB-002</a:t>
            </a:r>
          </a:p>
        </p:txBody>
      </p:sp>
      <p:sp>
        <p:nvSpPr>
          <p:cNvPr id="14" name="TextBox 13"/>
          <p:cNvSpPr txBox="1"/>
          <p:nvPr/>
        </p:nvSpPr>
        <p:spPr>
          <a:xfrm>
            <a:off x="685800" y="1965960"/>
            <a:ext cx="2510028" cy="292608"/>
          </a:xfrm>
          <a:prstGeom prst="rect">
            <a:avLst/>
          </a:prstGeom>
          <a:noFill/>
        </p:spPr>
        <p:txBody>
          <a:bodyPr wrap="square" lIns="0" tIns="0" rIns="0" bIns="0" anchor="ctr"/>
          <a:lstStyle/>
          <a:p>
            <a:pPr algn="l">
              <a:spcAft>
                <a:spcPts val="600"/>
              </a:spcAft>
            </a:pPr>
            <a:r>
              <a:rPr sz="900" b="0" i="0">
                <a:solidFill>
                  <a:srgbClr val="222222"/>
                </a:solidFill>
                <a:latin typeface="Arial"/>
              </a:rPr>
              <a:t>Visit date</a:t>
            </a:r>
          </a:p>
        </p:txBody>
      </p:sp>
      <p:sp>
        <p:nvSpPr>
          <p:cNvPr id="15" name="Rectangle 14"/>
          <p:cNvSpPr/>
          <p:nvPr/>
        </p:nvSpPr>
        <p:spPr>
          <a:xfrm>
            <a:off x="3307384" y="2002536"/>
            <a:ext cx="278892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53104" y="2002536"/>
            <a:ext cx="2788920" cy="228600"/>
          </a:xfrm>
          <a:prstGeom prst="rect">
            <a:avLst/>
          </a:prstGeom>
          <a:noFill/>
        </p:spPr>
        <p:txBody>
          <a:bodyPr wrap="square" lIns="0" tIns="0" rIns="0" bIns="0" anchor="ctr"/>
          <a:lstStyle/>
          <a:p>
            <a:pPr algn="l">
              <a:spcAft>
                <a:spcPts val="600"/>
              </a:spcAft>
            </a:pPr>
            <a:r>
              <a:rPr sz="850" b="0" i="0">
                <a:solidFill>
                  <a:srgbClr val="222222"/>
                </a:solidFill>
                <a:latin typeface="Arial"/>
              </a:rPr>
              <a:t>31-02-2026</a:t>
            </a:r>
          </a:p>
        </p:txBody>
      </p:sp>
      <p:sp>
        <p:nvSpPr>
          <p:cNvPr id="17" name="Rectangle 16"/>
          <p:cNvSpPr/>
          <p:nvPr/>
        </p:nvSpPr>
        <p:spPr>
          <a:xfrm>
            <a:off x="3307384" y="2258568"/>
            <a:ext cx="2788920" cy="292608"/>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spcAft>
                <a:spcPts val="600"/>
              </a:spcAft>
            </a:pPr>
            <a:r>
              <a:rPr sz="800" b="0" i="0">
                <a:solidFill>
                  <a:srgbClr val="C8102E"/>
                </a:solidFill>
                <a:latin typeface="Arial"/>
              </a:rPr>
              <a:t>Not a valid date (D-M-Y)</a:t>
            </a:r>
          </a:p>
        </p:txBody>
      </p:sp>
      <p:sp>
        <p:nvSpPr>
          <p:cNvPr id="18" name="TextBox 17"/>
          <p:cNvSpPr txBox="1"/>
          <p:nvPr/>
        </p:nvSpPr>
        <p:spPr>
          <a:xfrm>
            <a:off x="685800" y="2743200"/>
            <a:ext cx="2510028" cy="292608"/>
          </a:xfrm>
          <a:prstGeom prst="rect">
            <a:avLst/>
          </a:prstGeom>
          <a:noFill/>
        </p:spPr>
        <p:txBody>
          <a:bodyPr wrap="square" lIns="0" tIns="0" rIns="0" bIns="0" anchor="ctr"/>
          <a:lstStyle/>
          <a:p>
            <a:pPr algn="l">
              <a:spcAft>
                <a:spcPts val="600"/>
              </a:spcAft>
            </a:pPr>
            <a:r>
              <a:rPr sz="900" b="0" i="0">
                <a:solidFill>
                  <a:srgbClr val="222222"/>
                </a:solidFill>
                <a:latin typeface="Arial"/>
              </a:rPr>
              <a:t>Weight (kg)</a:t>
            </a:r>
          </a:p>
        </p:txBody>
      </p:sp>
      <p:sp>
        <p:nvSpPr>
          <p:cNvPr id="19" name="Rectangle 18"/>
          <p:cNvSpPr/>
          <p:nvPr/>
        </p:nvSpPr>
        <p:spPr>
          <a:xfrm>
            <a:off x="3307384" y="2779776"/>
            <a:ext cx="278892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53104" y="2779776"/>
            <a:ext cx="2788920" cy="228600"/>
          </a:xfrm>
          <a:prstGeom prst="rect">
            <a:avLst/>
          </a:prstGeom>
          <a:noFill/>
        </p:spPr>
        <p:txBody>
          <a:bodyPr wrap="square" lIns="0" tIns="0" rIns="0" bIns="0" anchor="ctr"/>
          <a:lstStyle/>
          <a:p>
            <a:pPr algn="l">
              <a:spcAft>
                <a:spcPts val="600"/>
              </a:spcAft>
            </a:pPr>
            <a:r>
              <a:rPr sz="850" b="0" i="0">
                <a:solidFill>
                  <a:srgbClr val="222222"/>
                </a:solidFill>
                <a:latin typeface="Arial"/>
              </a:rPr>
              <a:t>615</a:t>
            </a:r>
          </a:p>
        </p:txBody>
      </p:sp>
      <p:sp>
        <p:nvSpPr>
          <p:cNvPr id="21" name="Rectangle 20"/>
          <p:cNvSpPr/>
          <p:nvPr/>
        </p:nvSpPr>
        <p:spPr>
          <a:xfrm>
            <a:off x="3307384" y="3035808"/>
            <a:ext cx="2788920" cy="292608"/>
          </a:xfrm>
          <a:prstGeom prst="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spcAft>
                <a:spcPts val="600"/>
              </a:spcAft>
            </a:pPr>
            <a:r>
              <a:rPr sz="800" b="0" i="0">
                <a:solidFill>
                  <a:srgbClr val="B26A00"/>
                </a:solidFill>
                <a:latin typeface="Arial"/>
              </a:rPr>
              <a:t>Out of range: 30–200</a:t>
            </a:r>
          </a:p>
        </p:txBody>
      </p:sp>
      <p:sp>
        <p:nvSpPr>
          <p:cNvPr id="22" name="TextBox 21"/>
          <p:cNvSpPr txBox="1"/>
          <p:nvPr/>
        </p:nvSpPr>
        <p:spPr>
          <a:xfrm>
            <a:off x="685800" y="3520439"/>
            <a:ext cx="2510028" cy="292608"/>
          </a:xfrm>
          <a:prstGeom prst="rect">
            <a:avLst/>
          </a:prstGeom>
          <a:noFill/>
        </p:spPr>
        <p:txBody>
          <a:bodyPr wrap="square" lIns="0" tIns="0" rIns="0" bIns="0" anchor="ctr"/>
          <a:lstStyle/>
          <a:p>
            <a:pPr algn="l">
              <a:spcAft>
                <a:spcPts val="600"/>
              </a:spcAft>
            </a:pPr>
            <a:r>
              <a:rPr sz="900" b="0" i="0">
                <a:solidFill>
                  <a:srgbClr val="222222"/>
                </a:solidFill>
                <a:latin typeface="Arial"/>
              </a:rPr>
              <a:t>Sex *</a:t>
            </a:r>
          </a:p>
        </p:txBody>
      </p:sp>
      <p:sp>
        <p:nvSpPr>
          <p:cNvPr id="23" name="Oval 22"/>
          <p:cNvSpPr/>
          <p:nvPr/>
        </p:nvSpPr>
        <p:spPr>
          <a:xfrm>
            <a:off x="3307384" y="3611879"/>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2832" y="3538727"/>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Male</a:t>
            </a:r>
          </a:p>
        </p:txBody>
      </p:sp>
      <p:sp>
        <p:nvSpPr>
          <p:cNvPr id="25" name="Oval 24"/>
          <p:cNvSpPr/>
          <p:nvPr/>
        </p:nvSpPr>
        <p:spPr>
          <a:xfrm>
            <a:off x="3856024" y="3611879"/>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11472" y="3538727"/>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Female</a:t>
            </a:r>
          </a:p>
        </p:txBody>
      </p:sp>
      <p:sp>
        <p:nvSpPr>
          <p:cNvPr id="27" name="Rectangle 26"/>
          <p:cNvSpPr/>
          <p:nvPr/>
        </p:nvSpPr>
        <p:spPr>
          <a:xfrm>
            <a:off x="3307384" y="3813048"/>
            <a:ext cx="2788920" cy="292608"/>
          </a:xfrm>
          <a:prstGeom prst="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spcAft>
                <a:spcPts val="600"/>
              </a:spcAft>
            </a:pPr>
            <a:r>
              <a:rPr sz="800" b="0" i="0">
                <a:solidFill>
                  <a:srgbClr val="B26A00"/>
                </a:solidFill>
                <a:latin typeface="Arial"/>
              </a:rPr>
              <a:t>Required field is empty</a:t>
            </a:r>
          </a:p>
        </p:txBody>
      </p:sp>
      <p:graphicFrame>
        <p:nvGraphicFramePr>
          <p:cNvPr id="28" name="Table 27"/>
          <p:cNvGraphicFramePr>
            <a:graphicFrameLocks noGrp="1"/>
          </p:cNvGraphicFramePr>
          <p:nvPr/>
        </p:nvGraphicFramePr>
        <p:xfrm>
          <a:off x="6858000" y="1417320"/>
          <a:ext cx="4782312" cy="246888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2770632">
                  <a:extLst>
                    <a:ext uri="{9D8B030D-6E8A-4147-A177-3AD203B41FA5}">
                      <a16:colId xmlns:a16="http://schemas.microsoft.com/office/drawing/2014/main" val="20001"/>
                    </a:ext>
                  </a:extLst>
                </a:gridCol>
              </a:tblGrid>
              <a:tr h="411480">
                <a:tc>
                  <a:txBody>
                    <a:bodyPr/>
                    <a:lstStyle/>
                    <a:p>
                      <a:pPr algn="l">
                        <a:spcAft>
                          <a:spcPts val="0"/>
                        </a:spcAft>
                      </a:pPr>
                      <a:r>
                        <a:rPr sz="1300" b="1" i="0">
                          <a:solidFill>
                            <a:srgbClr val="FFFFFF"/>
                          </a:solidFill>
                          <a:latin typeface="Arial"/>
                        </a:rPr>
                        <a:t>Validation</a:t>
                      </a:r>
                    </a:p>
                  </a:txBody>
                  <a:tcPr marT="36576" marB="36576" anchor="ctr">
                    <a:solidFill>
                      <a:srgbClr val="41464C"/>
                    </a:solidFill>
                  </a:tcPr>
                </a:tc>
                <a:tc>
                  <a:txBody>
                    <a:bodyPr/>
                    <a:lstStyle/>
                    <a:p>
                      <a:pPr algn="l">
                        <a:spcAft>
                          <a:spcPts val="0"/>
                        </a:spcAft>
                      </a:pPr>
                      <a:r>
                        <a:rPr sz="1300" b="1" i="0">
                          <a:solidFill>
                            <a:srgbClr val="FFFFFF"/>
                          </a:solidFill>
                          <a:latin typeface="Arial"/>
                        </a:rPr>
                        <a:t>Example</a:t>
                      </a:r>
                    </a:p>
                  </a:txBody>
                  <a:tcPr marT="36576" marB="36576" anchor="ctr">
                    <a:solidFill>
                      <a:srgbClr val="41464C"/>
                    </a:solidFill>
                  </a:tcPr>
                </a:tc>
                <a:extLst>
                  <a:ext uri="{0D108BD9-81ED-4DB2-BD59-A6C34878D82A}">
                    <a16:rowId xmlns:a16="http://schemas.microsoft.com/office/drawing/2014/main" val="10000"/>
                  </a:ext>
                </a:extLst>
              </a:tr>
              <a:tr h="411480">
                <a:tc>
                  <a:txBody>
                    <a:bodyPr/>
                    <a:lstStyle/>
                    <a:p>
                      <a:pPr algn="l">
                        <a:spcAft>
                          <a:spcPts val="0"/>
                        </a:spcAft>
                      </a:pPr>
                      <a:r>
                        <a:rPr sz="1300" b="0" i="0">
                          <a:solidFill>
                            <a:srgbClr val="222222"/>
                          </a:solidFill>
                          <a:latin typeface="Arial"/>
                        </a:rPr>
                        <a:t>date_dmy</a:t>
                      </a:r>
                    </a:p>
                  </a:txBody>
                  <a:tcPr marT="36576" marB="36576" anchor="ctr">
                    <a:solidFill>
                      <a:srgbClr val="FFFFFF"/>
                    </a:solidFill>
                  </a:tcPr>
                </a:tc>
                <a:tc>
                  <a:txBody>
                    <a:bodyPr/>
                    <a:lstStyle/>
                    <a:p>
                      <a:pPr algn="l">
                        <a:spcAft>
                          <a:spcPts val="0"/>
                        </a:spcAft>
                      </a:pPr>
                      <a:r>
                        <a:rPr sz="1300" b="0" i="0">
                          <a:solidFill>
                            <a:srgbClr val="222222"/>
                          </a:solidFill>
                          <a:latin typeface="Arial"/>
                        </a:rPr>
                        <a:t>14-03-1988</a:t>
                      </a:r>
                    </a:p>
                  </a:txBody>
                  <a:tcPr marT="36576" marB="36576" anchor="ctr">
                    <a:solidFill>
                      <a:srgbClr val="FFFFFF"/>
                    </a:solidFill>
                  </a:tcPr>
                </a:tc>
                <a:extLst>
                  <a:ext uri="{0D108BD9-81ED-4DB2-BD59-A6C34878D82A}">
                    <a16:rowId xmlns:a16="http://schemas.microsoft.com/office/drawing/2014/main" val="10001"/>
                  </a:ext>
                </a:extLst>
              </a:tr>
              <a:tr h="411480">
                <a:tc>
                  <a:txBody>
                    <a:bodyPr/>
                    <a:lstStyle/>
                    <a:p>
                      <a:pPr algn="l">
                        <a:spcAft>
                          <a:spcPts val="0"/>
                        </a:spcAft>
                      </a:pPr>
                      <a:r>
                        <a:rPr sz="1300" b="0" i="0">
                          <a:solidFill>
                            <a:srgbClr val="222222"/>
                          </a:solidFill>
                          <a:latin typeface="Arial"/>
                        </a:rPr>
                        <a:t>integer</a:t>
                      </a:r>
                    </a:p>
                  </a:txBody>
                  <a:tcPr marT="36576" marB="36576" anchor="ctr">
                    <a:solidFill>
                      <a:srgbClr val="F2F4F6"/>
                    </a:solidFill>
                  </a:tcPr>
                </a:tc>
                <a:tc>
                  <a:txBody>
                    <a:bodyPr/>
                    <a:lstStyle/>
                    <a:p>
                      <a:pPr algn="l">
                        <a:spcAft>
                          <a:spcPts val="0"/>
                        </a:spcAft>
                      </a:pPr>
                      <a:r>
                        <a:rPr sz="1300" b="0" i="0">
                          <a:solidFill>
                            <a:srgbClr val="222222"/>
                          </a:solidFill>
                          <a:latin typeface="Arial"/>
                        </a:rPr>
                        <a:t>3</a:t>
                      </a:r>
                    </a:p>
                  </a:txBody>
                  <a:tcPr marT="36576" marB="36576" anchor="ctr">
                    <a:solidFill>
                      <a:srgbClr val="F2F4F6"/>
                    </a:solidFill>
                  </a:tcPr>
                </a:tc>
                <a:extLst>
                  <a:ext uri="{0D108BD9-81ED-4DB2-BD59-A6C34878D82A}">
                    <a16:rowId xmlns:a16="http://schemas.microsoft.com/office/drawing/2014/main" val="10002"/>
                  </a:ext>
                </a:extLst>
              </a:tr>
              <a:tr h="411480">
                <a:tc>
                  <a:txBody>
                    <a:bodyPr/>
                    <a:lstStyle/>
                    <a:p>
                      <a:pPr algn="l">
                        <a:spcAft>
                          <a:spcPts val="0"/>
                        </a:spcAft>
                      </a:pPr>
                      <a:r>
                        <a:rPr sz="1300" b="0" i="0">
                          <a:solidFill>
                            <a:srgbClr val="222222"/>
                          </a:solidFill>
                          <a:latin typeface="Arial"/>
                        </a:rPr>
                        <a:t>number_1dp</a:t>
                      </a:r>
                    </a:p>
                  </a:txBody>
                  <a:tcPr marT="36576" marB="36576" anchor="ctr">
                    <a:solidFill>
                      <a:srgbClr val="FFFFFF"/>
                    </a:solidFill>
                  </a:tcPr>
                </a:tc>
                <a:tc>
                  <a:txBody>
                    <a:bodyPr/>
                    <a:lstStyle/>
                    <a:p>
                      <a:pPr algn="l">
                        <a:spcAft>
                          <a:spcPts val="0"/>
                        </a:spcAft>
                      </a:pPr>
                      <a:r>
                        <a:rPr sz="1300" b="0" i="0">
                          <a:solidFill>
                            <a:srgbClr val="222222"/>
                          </a:solidFill>
                          <a:latin typeface="Arial"/>
                        </a:rPr>
                        <a:t>61.5</a:t>
                      </a:r>
                    </a:p>
                  </a:txBody>
                  <a:tcPr marT="36576" marB="36576" anchor="ctr">
                    <a:solidFill>
                      <a:srgbClr val="FFFFFF"/>
                    </a:solidFill>
                  </a:tcPr>
                </a:tc>
                <a:extLst>
                  <a:ext uri="{0D108BD9-81ED-4DB2-BD59-A6C34878D82A}">
                    <a16:rowId xmlns:a16="http://schemas.microsoft.com/office/drawing/2014/main" val="10003"/>
                  </a:ext>
                </a:extLst>
              </a:tr>
              <a:tr h="411480">
                <a:tc>
                  <a:txBody>
                    <a:bodyPr/>
                    <a:lstStyle/>
                    <a:p>
                      <a:pPr algn="l">
                        <a:spcAft>
                          <a:spcPts val="0"/>
                        </a:spcAft>
                      </a:pPr>
                      <a:r>
                        <a:rPr sz="1300" b="0" i="0">
                          <a:solidFill>
                            <a:srgbClr val="222222"/>
                          </a:solidFill>
                          <a:latin typeface="Arial"/>
                        </a:rPr>
                        <a:t>email</a:t>
                      </a:r>
                    </a:p>
                  </a:txBody>
                  <a:tcPr marT="36576" marB="36576" anchor="ctr">
                    <a:solidFill>
                      <a:srgbClr val="F2F4F6"/>
                    </a:solidFill>
                  </a:tcPr>
                </a:tc>
                <a:tc>
                  <a:txBody>
                    <a:bodyPr/>
                    <a:lstStyle/>
                    <a:p>
                      <a:pPr algn="l">
                        <a:spcAft>
                          <a:spcPts val="0"/>
                        </a:spcAft>
                      </a:pPr>
                      <a:r>
                        <a:rPr sz="1300" b="0" i="0">
                          <a:solidFill>
                            <a:srgbClr val="222222"/>
                          </a:solidFill>
                          <a:latin typeface="Arial"/>
                        </a:rPr>
                        <a:t>x@uantwerpen.be</a:t>
                      </a:r>
                    </a:p>
                  </a:txBody>
                  <a:tcPr marT="36576" marB="36576" anchor="ctr">
                    <a:solidFill>
                      <a:srgbClr val="F2F4F6"/>
                    </a:solidFill>
                  </a:tcPr>
                </a:tc>
                <a:extLst>
                  <a:ext uri="{0D108BD9-81ED-4DB2-BD59-A6C34878D82A}">
                    <a16:rowId xmlns:a16="http://schemas.microsoft.com/office/drawing/2014/main" val="10004"/>
                  </a:ext>
                </a:extLst>
              </a:tr>
              <a:tr h="411480">
                <a:tc>
                  <a:txBody>
                    <a:bodyPr/>
                    <a:lstStyle/>
                    <a:p>
                      <a:pPr algn="l">
                        <a:spcAft>
                          <a:spcPts val="0"/>
                        </a:spcAft>
                      </a:pPr>
                      <a:r>
                        <a:rPr sz="1300" b="0" i="0">
                          <a:solidFill>
                            <a:srgbClr val="222222"/>
                          </a:solidFill>
                          <a:latin typeface="Arial"/>
                        </a:rPr>
                        <a:t>phone</a:t>
                      </a:r>
                    </a:p>
                  </a:txBody>
                  <a:tcPr marT="36576" marB="36576" anchor="ctr">
                    <a:solidFill>
                      <a:srgbClr val="FFFFFF"/>
                    </a:solidFill>
                  </a:tcPr>
                </a:tc>
                <a:tc>
                  <a:txBody>
                    <a:bodyPr/>
                    <a:lstStyle/>
                    <a:p>
                      <a:pPr algn="l">
                        <a:spcAft>
                          <a:spcPts val="0"/>
                        </a:spcAft>
                      </a:pPr>
                      <a:r>
                        <a:rPr sz="1300" b="0" i="0">
                          <a:solidFill>
                            <a:srgbClr val="222222"/>
                          </a:solidFill>
                          <a:latin typeface="Arial"/>
                        </a:rPr>
                        <a:t>+32 3 …</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29" name="Rectangle 28"/>
          <p:cNvSpPr/>
          <p:nvPr/>
        </p:nvSpPr>
        <p:spPr>
          <a:xfrm>
            <a:off x="548640" y="484632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84632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E9D5_1E88C8.png"/>
          <p:cNvPicPr>
            <a:picLocks noChangeAspect="1"/>
          </p:cNvPicPr>
          <p:nvPr/>
        </p:nvPicPr>
        <p:blipFill>
          <a:blip r:embed="rId4"/>
          <a:stretch>
            <a:fillRect/>
          </a:stretch>
        </p:blipFill>
        <p:spPr>
          <a:xfrm>
            <a:off x="777240" y="4937759"/>
            <a:ext cx="365760" cy="365760"/>
          </a:xfrm>
          <a:prstGeom prst="rect">
            <a:avLst/>
          </a:prstGeom>
        </p:spPr>
      </p:pic>
      <p:sp>
        <p:nvSpPr>
          <p:cNvPr id="32" name="TextBox 31"/>
          <p:cNvSpPr txBox="1"/>
          <p:nvPr/>
        </p:nvSpPr>
        <p:spPr>
          <a:xfrm>
            <a:off x="1280160" y="48463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Set </a:t>
            </a:r>
            <a:r>
              <a:rPr sz="1500" b="1" i="0">
                <a:solidFill>
                  <a:srgbClr val="1E88C8"/>
                </a:solidFill>
                <a:latin typeface="Arial"/>
              </a:rPr>
              <a:t>min and max</a:t>
            </a:r>
            <a:r>
              <a:rPr sz="1500" b="0" i="0">
                <a:solidFill>
                  <a:srgbClr val="222222"/>
                </a:solidFill>
                <a:latin typeface="Arial"/>
              </a:rPr>
              <a:t> for every number and date. Tick </a:t>
            </a:r>
            <a:r>
              <a:rPr sz="1500" b="1" i="0">
                <a:solidFill>
                  <a:srgbClr val="C8102E"/>
                </a:solidFill>
                <a:latin typeface="Arial"/>
              </a:rPr>
              <a:t>Identifier</a:t>
            </a:r>
            <a:r>
              <a:rPr sz="1500" b="0" i="0">
                <a:solidFill>
                  <a:srgbClr val="222222"/>
                </a:solidFill>
                <a:latin typeface="Arial"/>
              </a:rPr>
              <a:t> for names, dates of birth, phone numbers.</a:t>
            </a:r>
          </a:p>
        </p:txBody>
      </p:sp>
      <p:sp>
        <p:nvSpPr>
          <p:cNvPr id="33" name="TextBox 32"/>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TB: tuberculosis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Branching logic: show a question only when it applies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17</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Introduction to instrument development (6 min)</a:t>
            </a:r>
          </a:p>
        </p:txBody>
      </p:sp>
      <p:sp>
        <p:nvSpPr>
          <p:cNvPr id="10" name="Rectangle 9"/>
          <p:cNvSpPr/>
          <p:nvPr/>
        </p:nvSpPr>
        <p:spPr>
          <a:xfrm>
            <a:off x="548640" y="1463040"/>
            <a:ext cx="6035040" cy="402336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572768"/>
            <a:ext cx="5669280" cy="274320"/>
          </a:xfrm>
          <a:prstGeom prst="rect">
            <a:avLst/>
          </a:prstGeom>
          <a:noFill/>
        </p:spPr>
        <p:txBody>
          <a:bodyPr wrap="square" lIns="0" tIns="0" rIns="0" bIns="0" anchor="t"/>
          <a:lstStyle/>
          <a:p>
            <a:pPr algn="l">
              <a:spcAft>
                <a:spcPts val="600"/>
              </a:spcAft>
            </a:pPr>
            <a:r>
              <a:rPr sz="1000" b="1" i="0">
                <a:solidFill>
                  <a:srgbClr val="8FA0C0"/>
                </a:solidFill>
                <a:latin typeface="Arial"/>
              </a:rPr>
              <a:t>BRANCHING LOGIC EXAMPLES</a:t>
            </a:r>
          </a:p>
        </p:txBody>
      </p:sp>
      <p:sp>
        <p:nvSpPr>
          <p:cNvPr id="12" name="TextBox 11"/>
          <p:cNvSpPr txBox="1"/>
          <p:nvPr/>
        </p:nvSpPr>
        <p:spPr>
          <a:xfrm>
            <a:off x="777240" y="1920240"/>
            <a:ext cx="5669280" cy="3474720"/>
          </a:xfrm>
          <a:prstGeom prst="rect">
            <a:avLst/>
          </a:prstGeom>
          <a:noFill/>
        </p:spPr>
        <p:txBody>
          <a:bodyPr wrap="square" lIns="0" tIns="0" rIns="0" bIns="0" anchor="t"/>
          <a:lstStyle/>
          <a:p>
            <a:pPr algn="l">
              <a:spcAft>
                <a:spcPts val="100"/>
              </a:spcAft>
            </a:pPr>
            <a:r>
              <a:rPr sz="1300" b="0" i="0">
                <a:solidFill>
                  <a:srgbClr val="E6EAF2"/>
                </a:solidFill>
                <a:latin typeface="Consolas"/>
              </a:rPr>
              <a:t># only if a lab test was done</a:t>
            </a:r>
          </a:p>
          <a:p>
            <a:pPr algn="l">
              <a:spcAft>
                <a:spcPts val="100"/>
              </a:spcAft>
            </a:pPr>
            <a:r>
              <a:rPr sz="1300" b="0" i="0">
                <a:solidFill>
                  <a:srgbClr val="E6EAF2"/>
                </a:solidFill>
                <a:latin typeface="Consolas"/>
              </a:rPr>
              <a:t>[lab_eval] = '1'</a:t>
            </a:r>
          </a:p>
          <a:p>
            <a:pPr algn="l">
              <a:spcAft>
                <a:spcPts val="100"/>
              </a:spcAft>
            </a:pPr>
            <a:endParaRPr sz="1300" b="0" i="0">
              <a:solidFill>
                <a:srgbClr val="E6EAF2"/>
              </a:solidFill>
              <a:latin typeface="Consolas"/>
            </a:endParaRPr>
          </a:p>
          <a:p>
            <a:pPr algn="l">
              <a:spcAft>
                <a:spcPts val="100"/>
              </a:spcAft>
            </a:pPr>
            <a:r>
              <a:rPr sz="1300" b="0" i="0">
                <a:solidFill>
                  <a:srgbClr val="E6EAF2"/>
                </a:solidFill>
                <a:latin typeface="Consolas"/>
              </a:rPr>
              <a:t># women aged 15–49</a:t>
            </a:r>
          </a:p>
          <a:p>
            <a:pPr algn="l">
              <a:spcAft>
                <a:spcPts val="100"/>
              </a:spcAft>
            </a:pPr>
            <a:r>
              <a:rPr sz="1300" b="0" i="0">
                <a:solidFill>
                  <a:srgbClr val="E6EAF2"/>
                </a:solidFill>
                <a:latin typeface="Consolas"/>
              </a:rPr>
              <a:t>[sex] = '2' and [age] &gt;= 15 and [age] &lt;= 49</a:t>
            </a:r>
          </a:p>
          <a:p>
            <a:pPr algn="l">
              <a:spcAft>
                <a:spcPts val="100"/>
              </a:spcAft>
            </a:pPr>
            <a:endParaRPr sz="1300" b="0" i="0">
              <a:solidFill>
                <a:srgbClr val="E6EAF2"/>
              </a:solidFill>
              <a:latin typeface="Consolas"/>
            </a:endParaRPr>
          </a:p>
          <a:p>
            <a:pPr algn="l">
              <a:spcAft>
                <a:spcPts val="100"/>
              </a:spcAft>
            </a:pPr>
            <a:r>
              <a:rPr sz="1300" b="0" i="0">
                <a:solidFill>
                  <a:srgbClr val="E6EAF2"/>
                </a:solidFill>
                <a:latin typeface="Consolas"/>
              </a:rPr>
              <a:t># checkbox option 3 ticked</a:t>
            </a:r>
          </a:p>
          <a:p>
            <a:pPr algn="l">
              <a:spcAft>
                <a:spcPts val="100"/>
              </a:spcAft>
            </a:pPr>
            <a:r>
              <a:rPr sz="1300" b="0" i="0">
                <a:solidFill>
                  <a:srgbClr val="E6EAF2"/>
                </a:solidFill>
                <a:latin typeface="Consolas"/>
              </a:rPr>
              <a:t>[symptoms(3)] = '1'</a:t>
            </a:r>
          </a:p>
          <a:p>
            <a:pPr algn="l">
              <a:spcAft>
                <a:spcPts val="100"/>
              </a:spcAft>
            </a:pPr>
            <a:endParaRPr sz="1300" b="0" i="0">
              <a:solidFill>
                <a:srgbClr val="E6EAF2"/>
              </a:solidFill>
              <a:latin typeface="Consolas"/>
            </a:endParaRPr>
          </a:p>
          <a:p>
            <a:pPr algn="l">
              <a:spcAft>
                <a:spcPts val="100"/>
              </a:spcAft>
            </a:pPr>
            <a:r>
              <a:rPr sz="1300" b="0" i="0">
                <a:solidFill>
                  <a:srgbClr val="E6EAF2"/>
                </a:solidFill>
                <a:latin typeface="Consolas"/>
              </a:rPr>
              <a:t># value from another event</a:t>
            </a:r>
          </a:p>
          <a:p>
            <a:pPr algn="l">
              <a:spcAft>
                <a:spcPts val="100"/>
              </a:spcAft>
            </a:pPr>
            <a:r>
              <a:rPr sz="1300" b="0" i="0">
                <a:solidFill>
                  <a:srgbClr val="E6EAF2"/>
                </a:solidFill>
                <a:latin typeface="Consolas"/>
              </a:rPr>
              <a:t>[baseline_arm_1][hiv_status] = '1'</a:t>
            </a:r>
          </a:p>
        </p:txBody>
      </p:sp>
      <p:sp>
        <p:nvSpPr>
          <p:cNvPr id="13" name="Rectangle 12"/>
          <p:cNvSpPr/>
          <p:nvPr/>
        </p:nvSpPr>
        <p:spPr>
          <a:xfrm>
            <a:off x="6949440" y="1463040"/>
            <a:ext cx="4690872" cy="237744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949440" y="1463040"/>
            <a:ext cx="4690872"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59168" y="1463040"/>
            <a:ext cx="4471416"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6" name="TextBox 15"/>
          <p:cNvSpPr txBox="1"/>
          <p:nvPr/>
        </p:nvSpPr>
        <p:spPr>
          <a:xfrm>
            <a:off x="7863840" y="1463040"/>
            <a:ext cx="3685031" cy="329184"/>
          </a:xfrm>
          <a:prstGeom prst="rect">
            <a:avLst/>
          </a:prstGeom>
          <a:noFill/>
        </p:spPr>
        <p:txBody>
          <a:bodyPr wrap="square" lIns="0" tIns="0" rIns="0" bIns="0" anchor="ctr"/>
          <a:lstStyle/>
          <a:p>
            <a:pPr algn="r">
              <a:spcAft>
                <a:spcPts val="600"/>
              </a:spcAft>
            </a:pPr>
            <a:r>
              <a:rPr sz="900" b="0" i="0">
                <a:solidFill>
                  <a:srgbClr val="F3D9DC"/>
                </a:solidFill>
                <a:latin typeface="Arial"/>
              </a:rPr>
              <a:t>Laboratory</a:t>
            </a:r>
          </a:p>
        </p:txBody>
      </p:sp>
      <p:sp>
        <p:nvSpPr>
          <p:cNvPr id="17" name="TextBox 16"/>
          <p:cNvSpPr txBox="1"/>
          <p:nvPr/>
        </p:nvSpPr>
        <p:spPr>
          <a:xfrm>
            <a:off x="7086600" y="2011680"/>
            <a:ext cx="1987448" cy="292608"/>
          </a:xfrm>
          <a:prstGeom prst="rect">
            <a:avLst/>
          </a:prstGeom>
          <a:noFill/>
        </p:spPr>
        <p:txBody>
          <a:bodyPr wrap="square" lIns="0" tIns="0" rIns="0" bIns="0" anchor="ctr"/>
          <a:lstStyle/>
          <a:p>
            <a:pPr algn="l">
              <a:spcAft>
                <a:spcPts val="600"/>
              </a:spcAft>
            </a:pPr>
            <a:r>
              <a:rPr sz="900" b="0" i="0">
                <a:solidFill>
                  <a:srgbClr val="222222"/>
                </a:solidFill>
                <a:latin typeface="Arial"/>
              </a:rPr>
              <a:t>Lab evaluation done?</a:t>
            </a:r>
          </a:p>
        </p:txBody>
      </p:sp>
      <p:sp>
        <p:nvSpPr>
          <p:cNvPr id="18" name="Oval 17"/>
          <p:cNvSpPr/>
          <p:nvPr/>
        </p:nvSpPr>
        <p:spPr>
          <a:xfrm>
            <a:off x="9162379" y="2103120"/>
            <a:ext cx="118872" cy="118872"/>
          </a:xfrm>
          <a:prstGeom prst="ellipse">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17827" y="202996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Yes</a:t>
            </a:r>
          </a:p>
        </p:txBody>
      </p:sp>
      <p:sp>
        <p:nvSpPr>
          <p:cNvPr id="20" name="Oval 19"/>
          <p:cNvSpPr/>
          <p:nvPr/>
        </p:nvSpPr>
        <p:spPr>
          <a:xfrm>
            <a:off x="9642439" y="2103120"/>
            <a:ext cx="118872" cy="118872"/>
          </a:xfrm>
          <a:prstGeom prst="ellipse">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97887" y="202996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No</a:t>
            </a:r>
          </a:p>
        </p:txBody>
      </p:sp>
      <p:sp>
        <p:nvSpPr>
          <p:cNvPr id="22" name="TextBox 21"/>
          <p:cNvSpPr txBox="1"/>
          <p:nvPr/>
        </p:nvSpPr>
        <p:spPr>
          <a:xfrm>
            <a:off x="7086600" y="2468880"/>
            <a:ext cx="1987448" cy="292608"/>
          </a:xfrm>
          <a:prstGeom prst="rect">
            <a:avLst/>
          </a:prstGeom>
          <a:noFill/>
        </p:spPr>
        <p:txBody>
          <a:bodyPr wrap="square" lIns="0" tIns="0" rIns="0" bIns="0" anchor="ctr"/>
          <a:lstStyle/>
          <a:p>
            <a:pPr algn="l">
              <a:spcAft>
                <a:spcPts val="600"/>
              </a:spcAft>
            </a:pPr>
            <a:r>
              <a:rPr sz="900" b="0" i="0">
                <a:solidFill>
                  <a:srgbClr val="222222"/>
                </a:solidFill>
                <a:latin typeface="Arial"/>
              </a:rPr>
              <a:t>Test type</a:t>
            </a:r>
          </a:p>
        </p:txBody>
      </p:sp>
      <p:sp>
        <p:nvSpPr>
          <p:cNvPr id="23" name="Rectangle 22"/>
          <p:cNvSpPr/>
          <p:nvPr/>
        </p:nvSpPr>
        <p:spPr>
          <a:xfrm>
            <a:off x="9162379" y="2560320"/>
            <a:ext cx="118872" cy="118872"/>
          </a:xfrm>
          <a:prstGeom prst="rect">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17827" y="248716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Smear</a:t>
            </a:r>
          </a:p>
        </p:txBody>
      </p:sp>
      <p:sp>
        <p:nvSpPr>
          <p:cNvPr id="25" name="Rectangle 24"/>
          <p:cNvSpPr/>
          <p:nvPr/>
        </p:nvSpPr>
        <p:spPr>
          <a:xfrm>
            <a:off x="9779599" y="2560320"/>
            <a:ext cx="118872" cy="118872"/>
          </a:xfrm>
          <a:prstGeom prst="rect">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35047" y="2487168"/>
            <a:ext cx="1188720" cy="274320"/>
          </a:xfrm>
          <a:prstGeom prst="rect">
            <a:avLst/>
          </a:prstGeom>
          <a:noFill/>
        </p:spPr>
        <p:txBody>
          <a:bodyPr wrap="square" lIns="0" tIns="0" rIns="0" bIns="0" anchor="ctr"/>
          <a:lstStyle/>
          <a:p>
            <a:pPr algn="l">
              <a:spcAft>
                <a:spcPts val="600"/>
              </a:spcAft>
            </a:pPr>
            <a:r>
              <a:rPr sz="850" b="0" i="0">
                <a:solidFill>
                  <a:srgbClr val="222222"/>
                </a:solidFill>
                <a:latin typeface="Arial"/>
              </a:rPr>
              <a:t>GeneXpert</a:t>
            </a:r>
          </a:p>
        </p:txBody>
      </p:sp>
      <p:sp>
        <p:nvSpPr>
          <p:cNvPr id="27" name="TextBox 26"/>
          <p:cNvSpPr txBox="1"/>
          <p:nvPr/>
        </p:nvSpPr>
        <p:spPr>
          <a:xfrm>
            <a:off x="7086600" y="2926080"/>
            <a:ext cx="4416552" cy="365760"/>
          </a:xfrm>
          <a:prstGeom prst="rect">
            <a:avLst/>
          </a:prstGeom>
          <a:noFill/>
        </p:spPr>
        <p:txBody>
          <a:bodyPr wrap="square" lIns="0" tIns="0" rIns="0" bIns="0" anchor="t"/>
          <a:lstStyle/>
          <a:p>
            <a:pPr algn="l">
              <a:spcAft>
                <a:spcPts val="600"/>
              </a:spcAft>
            </a:pPr>
            <a:r>
              <a:rPr sz="900" b="0" i="1">
                <a:solidFill>
                  <a:srgbClr val="1E88C8"/>
                </a:solidFill>
                <a:latin typeface="Arial"/>
              </a:rPr>
              <a:t>shown only because [lab_eval] = '1'</a:t>
            </a:r>
          </a:p>
        </p:txBody>
      </p:sp>
      <p:sp>
        <p:nvSpPr>
          <p:cNvPr id="28" name="Rectangle 27"/>
          <p:cNvSpPr/>
          <p:nvPr/>
        </p:nvSpPr>
        <p:spPr>
          <a:xfrm>
            <a:off x="6949440" y="4160520"/>
            <a:ext cx="4690872" cy="73152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949440" y="4160520"/>
            <a:ext cx="73152" cy="73152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E943_1E88C8.png"/>
          <p:cNvPicPr>
            <a:picLocks noChangeAspect="1"/>
          </p:cNvPicPr>
          <p:nvPr/>
        </p:nvPicPr>
        <p:blipFill>
          <a:blip r:embed="rId4"/>
          <a:stretch>
            <a:fillRect/>
          </a:stretch>
        </p:blipFill>
        <p:spPr>
          <a:xfrm>
            <a:off x="7178040" y="4343400"/>
            <a:ext cx="365760" cy="365760"/>
          </a:xfrm>
          <a:prstGeom prst="rect">
            <a:avLst/>
          </a:prstGeom>
        </p:spPr>
      </p:pic>
      <p:sp>
        <p:nvSpPr>
          <p:cNvPr id="31" name="TextBox 30"/>
          <p:cNvSpPr txBox="1"/>
          <p:nvPr/>
        </p:nvSpPr>
        <p:spPr>
          <a:xfrm>
            <a:off x="7680960" y="4160520"/>
            <a:ext cx="3867912" cy="731520"/>
          </a:xfrm>
          <a:prstGeom prst="rect">
            <a:avLst/>
          </a:prstGeom>
          <a:noFill/>
        </p:spPr>
        <p:txBody>
          <a:bodyPr wrap="square" lIns="0" tIns="0" rIns="0" bIns="0" anchor="ctr"/>
          <a:lstStyle/>
          <a:p>
            <a:pPr algn="l">
              <a:spcAft>
                <a:spcPts val="600"/>
              </a:spcAft>
            </a:pPr>
            <a:r>
              <a:rPr sz="1500" b="1" i="0">
                <a:solidFill>
                  <a:srgbClr val="1E88C8"/>
                </a:solidFill>
                <a:latin typeface="Arial"/>
              </a:rPr>
              <a:t>[variable] = 'code'</a:t>
            </a:r>
            <a:r>
              <a:rPr sz="1500" b="0" i="0">
                <a:solidFill>
                  <a:srgbClr val="222222"/>
                </a:solidFill>
                <a:latin typeface="Arial"/>
              </a:rPr>
              <a:t>: brackets for names, quotes for values.</a:t>
            </a:r>
          </a:p>
        </p:txBody>
      </p:sp>
      <p:sp>
        <p:nvSpPr>
          <p:cNvPr id="32" name="TextBox 31"/>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Calculated fields, action tags and field embedding</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18</a:t>
            </a:r>
          </a:p>
        </p:txBody>
      </p:sp>
      <p:sp>
        <p:nvSpPr>
          <p:cNvPr id="8" name="Rectangle 7"/>
          <p:cNvSpPr/>
          <p:nvPr/>
        </p:nvSpPr>
        <p:spPr>
          <a:xfrm>
            <a:off x="548640" y="1463040"/>
            <a:ext cx="5486400" cy="237744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72768"/>
            <a:ext cx="5120640" cy="274320"/>
          </a:xfrm>
          <a:prstGeom prst="rect">
            <a:avLst/>
          </a:prstGeom>
          <a:noFill/>
        </p:spPr>
        <p:txBody>
          <a:bodyPr wrap="square" lIns="0" tIns="0" rIns="0" bIns="0" anchor="t"/>
          <a:lstStyle/>
          <a:p>
            <a:pPr algn="l">
              <a:spcAft>
                <a:spcPts val="600"/>
              </a:spcAft>
            </a:pPr>
            <a:r>
              <a:rPr sz="1000" b="1" i="0">
                <a:solidFill>
                  <a:srgbClr val="8FA0C0"/>
                </a:solidFill>
                <a:latin typeface="Arial"/>
              </a:rPr>
              <a:t>CALCULATED FIELDS</a:t>
            </a:r>
          </a:p>
        </p:txBody>
      </p:sp>
      <p:sp>
        <p:nvSpPr>
          <p:cNvPr id="10" name="TextBox 9"/>
          <p:cNvSpPr txBox="1"/>
          <p:nvPr/>
        </p:nvSpPr>
        <p:spPr>
          <a:xfrm>
            <a:off x="777240" y="1920240"/>
            <a:ext cx="5120640" cy="1828800"/>
          </a:xfrm>
          <a:prstGeom prst="rect">
            <a:avLst/>
          </a:prstGeom>
          <a:noFill/>
        </p:spPr>
        <p:txBody>
          <a:bodyPr wrap="square" lIns="0" tIns="0" rIns="0" bIns="0" anchor="t"/>
          <a:lstStyle/>
          <a:p>
            <a:pPr algn="l">
              <a:spcAft>
                <a:spcPts val="100"/>
              </a:spcAft>
            </a:pPr>
            <a:r>
              <a:rPr sz="1250" b="0" i="0">
                <a:solidFill>
                  <a:srgbClr val="E6EAF2"/>
                </a:solidFill>
                <a:latin typeface="Consolas"/>
              </a:rPr>
              <a:t># BMI, 1 decimal</a:t>
            </a:r>
          </a:p>
          <a:p>
            <a:pPr algn="l">
              <a:spcAft>
                <a:spcPts val="100"/>
              </a:spcAft>
            </a:pPr>
            <a:r>
              <a:rPr sz="1250" b="0" i="0">
                <a:solidFill>
                  <a:srgbClr val="E6EAF2"/>
                </a:solidFill>
                <a:latin typeface="Consolas"/>
              </a:rPr>
              <a:t>round([weight_kg]/([height_cm]/100)^2, 1)</a:t>
            </a:r>
          </a:p>
          <a:p>
            <a:pPr algn="l">
              <a:spcAft>
                <a:spcPts val="100"/>
              </a:spcAft>
            </a:pPr>
            <a:endParaRPr sz="1250" b="0" i="0">
              <a:solidFill>
                <a:srgbClr val="E6EAF2"/>
              </a:solidFill>
              <a:latin typeface="Consolas"/>
            </a:endParaRPr>
          </a:p>
          <a:p>
            <a:pPr algn="l">
              <a:spcAft>
                <a:spcPts val="100"/>
              </a:spcAft>
            </a:pPr>
            <a:r>
              <a:rPr sz="1250" b="0" i="0">
                <a:solidFill>
                  <a:srgbClr val="E6EAF2"/>
                </a:solidFill>
                <a:latin typeface="Consolas"/>
              </a:rPr>
              <a:t># age in years at enrolment</a:t>
            </a:r>
          </a:p>
          <a:p>
            <a:pPr algn="l">
              <a:spcAft>
                <a:spcPts val="100"/>
              </a:spcAft>
            </a:pPr>
            <a:r>
              <a:rPr sz="1250" b="0" i="0">
                <a:solidFill>
                  <a:srgbClr val="E6EAF2"/>
                </a:solidFill>
                <a:latin typeface="Consolas"/>
              </a:rPr>
              <a:t>rounddown(datediff([dob], [enrol_date], 'y'), 0)</a:t>
            </a:r>
          </a:p>
        </p:txBody>
      </p:sp>
      <p:sp>
        <p:nvSpPr>
          <p:cNvPr id="11" name="TextBox 10"/>
          <p:cNvSpPr txBox="1"/>
          <p:nvPr/>
        </p:nvSpPr>
        <p:spPr>
          <a:xfrm>
            <a:off x="6309360" y="1463040"/>
            <a:ext cx="5303520" cy="365760"/>
          </a:xfrm>
          <a:prstGeom prst="rect">
            <a:avLst/>
          </a:prstGeom>
          <a:noFill/>
        </p:spPr>
        <p:txBody>
          <a:bodyPr wrap="square" lIns="0" tIns="0" rIns="0" bIns="0" anchor="t"/>
          <a:lstStyle/>
          <a:p>
            <a:pPr algn="l">
              <a:spcAft>
                <a:spcPts val="600"/>
              </a:spcAft>
            </a:pPr>
            <a:r>
              <a:rPr sz="1700" b="1" i="0">
                <a:solidFill>
                  <a:srgbClr val="41464C"/>
                </a:solidFill>
                <a:latin typeface="Arial"/>
              </a:rPr>
              <a:t>Action tags</a:t>
            </a:r>
          </a:p>
        </p:txBody>
      </p:sp>
      <p:sp>
        <p:nvSpPr>
          <p:cNvPr id="12" name="Rectangle 11"/>
          <p:cNvSpPr/>
          <p:nvPr/>
        </p:nvSpPr>
        <p:spPr>
          <a:xfrm>
            <a:off x="6309360" y="192024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@TODAY</a:t>
            </a:r>
          </a:p>
        </p:txBody>
      </p:sp>
      <p:sp>
        <p:nvSpPr>
          <p:cNvPr id="13" name="TextBox 12"/>
          <p:cNvSpPr txBox="1"/>
          <p:nvPr/>
        </p:nvSpPr>
        <p:spPr>
          <a:xfrm>
            <a:off x="7973568" y="192024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today's date</a:t>
            </a:r>
          </a:p>
        </p:txBody>
      </p:sp>
      <p:sp>
        <p:nvSpPr>
          <p:cNvPr id="14" name="Rectangle 13"/>
          <p:cNvSpPr/>
          <p:nvPr/>
        </p:nvSpPr>
        <p:spPr>
          <a:xfrm>
            <a:off x="9006840" y="192024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@HIDDEN</a:t>
            </a:r>
          </a:p>
        </p:txBody>
      </p:sp>
      <p:sp>
        <p:nvSpPr>
          <p:cNvPr id="15" name="TextBox 14"/>
          <p:cNvSpPr txBox="1"/>
          <p:nvPr/>
        </p:nvSpPr>
        <p:spPr>
          <a:xfrm>
            <a:off x="10671048" y="192024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hide the field</a:t>
            </a:r>
          </a:p>
        </p:txBody>
      </p:sp>
      <p:sp>
        <p:nvSpPr>
          <p:cNvPr id="16" name="Rectangle 15"/>
          <p:cNvSpPr/>
          <p:nvPr/>
        </p:nvSpPr>
        <p:spPr>
          <a:xfrm>
            <a:off x="6309360" y="256032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@READONLY</a:t>
            </a:r>
          </a:p>
        </p:txBody>
      </p:sp>
      <p:sp>
        <p:nvSpPr>
          <p:cNvPr id="17" name="TextBox 16"/>
          <p:cNvSpPr txBox="1"/>
          <p:nvPr/>
        </p:nvSpPr>
        <p:spPr>
          <a:xfrm>
            <a:off x="7973568" y="256032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no editing</a:t>
            </a:r>
          </a:p>
        </p:txBody>
      </p:sp>
      <p:sp>
        <p:nvSpPr>
          <p:cNvPr id="18" name="Rectangle 17"/>
          <p:cNvSpPr/>
          <p:nvPr/>
        </p:nvSpPr>
        <p:spPr>
          <a:xfrm>
            <a:off x="9006840" y="256032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@DEFAULT='…'</a:t>
            </a:r>
          </a:p>
        </p:txBody>
      </p:sp>
      <p:sp>
        <p:nvSpPr>
          <p:cNvPr id="19" name="TextBox 18"/>
          <p:cNvSpPr txBox="1"/>
          <p:nvPr/>
        </p:nvSpPr>
        <p:spPr>
          <a:xfrm>
            <a:off x="10671048" y="256032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default value</a:t>
            </a:r>
          </a:p>
        </p:txBody>
      </p:sp>
      <p:sp>
        <p:nvSpPr>
          <p:cNvPr id="20" name="Rectangle 19"/>
          <p:cNvSpPr/>
          <p:nvPr/>
        </p:nvSpPr>
        <p:spPr>
          <a:xfrm>
            <a:off x="6309360" y="320040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@CALCTEXT</a:t>
            </a:r>
          </a:p>
        </p:txBody>
      </p:sp>
      <p:sp>
        <p:nvSpPr>
          <p:cNvPr id="21" name="TextBox 20"/>
          <p:cNvSpPr txBox="1"/>
          <p:nvPr/>
        </p:nvSpPr>
        <p:spPr>
          <a:xfrm>
            <a:off x="7973568" y="320040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calculated text</a:t>
            </a:r>
          </a:p>
        </p:txBody>
      </p:sp>
      <p:sp>
        <p:nvSpPr>
          <p:cNvPr id="22" name="Rectangle 21"/>
          <p:cNvSpPr/>
          <p:nvPr/>
        </p:nvSpPr>
        <p:spPr>
          <a:xfrm>
            <a:off x="9006840" y="3200400"/>
            <a:ext cx="1600200"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050" b="1" i="0">
                <a:solidFill>
                  <a:srgbClr val="FFFFFF"/>
                </a:solidFill>
                <a:latin typeface="Consolas"/>
              </a:rPr>
              <a:t>@NONEOFTHEABOVE</a:t>
            </a:r>
          </a:p>
        </p:txBody>
      </p:sp>
      <p:sp>
        <p:nvSpPr>
          <p:cNvPr id="23" name="TextBox 22"/>
          <p:cNvSpPr txBox="1"/>
          <p:nvPr/>
        </p:nvSpPr>
        <p:spPr>
          <a:xfrm>
            <a:off x="10671048" y="3200400"/>
            <a:ext cx="1051560" cy="411480"/>
          </a:xfrm>
          <a:prstGeom prst="rect">
            <a:avLst/>
          </a:prstGeom>
          <a:noFill/>
        </p:spPr>
        <p:txBody>
          <a:bodyPr wrap="square" lIns="0" tIns="0" rIns="0" bIns="0" anchor="ctr"/>
          <a:lstStyle/>
          <a:p>
            <a:pPr algn="l">
              <a:spcAft>
                <a:spcPts val="600"/>
              </a:spcAft>
            </a:pPr>
            <a:r>
              <a:rPr sz="1100" b="0" i="0">
                <a:solidFill>
                  <a:srgbClr val="222222"/>
                </a:solidFill>
                <a:latin typeface="Arial"/>
              </a:rPr>
              <a:t>exclusive checkbox</a:t>
            </a:r>
          </a:p>
        </p:txBody>
      </p:sp>
      <p:sp>
        <p:nvSpPr>
          <p:cNvPr id="24" name="TextBox 23"/>
          <p:cNvSpPr txBox="1"/>
          <p:nvPr/>
        </p:nvSpPr>
        <p:spPr>
          <a:xfrm>
            <a:off x="548640" y="4069080"/>
            <a:ext cx="10972800" cy="365760"/>
          </a:xfrm>
          <a:prstGeom prst="rect">
            <a:avLst/>
          </a:prstGeom>
          <a:noFill/>
        </p:spPr>
        <p:txBody>
          <a:bodyPr wrap="square" lIns="0" tIns="0" rIns="0" bIns="0" anchor="t"/>
          <a:lstStyle/>
          <a:p>
            <a:pPr algn="l">
              <a:spcAft>
                <a:spcPts val="600"/>
              </a:spcAft>
            </a:pPr>
            <a:r>
              <a:rPr sz="1700" b="1" i="0">
                <a:solidFill>
                  <a:srgbClr val="41464C"/>
                </a:solidFill>
                <a:latin typeface="Arial"/>
              </a:rPr>
              <a:t>Field embedding: {weight_kg} inside a label or table</a:t>
            </a:r>
          </a:p>
        </p:txBody>
      </p:sp>
      <p:graphicFrame>
        <p:nvGraphicFramePr>
          <p:cNvPr id="25" name="Table 24"/>
          <p:cNvGraphicFramePr>
            <a:graphicFrameLocks noGrp="1"/>
          </p:cNvGraphicFramePr>
          <p:nvPr/>
        </p:nvGraphicFramePr>
        <p:xfrm>
          <a:off x="548640" y="4526280"/>
          <a:ext cx="5486400" cy="768096"/>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algn="ctr">
                        <a:spcAft>
                          <a:spcPts val="0"/>
                        </a:spcAft>
                      </a:pPr>
                      <a:r>
                        <a:rPr sz="1200" b="1" i="0">
                          <a:solidFill>
                            <a:srgbClr val="FFFFFF"/>
                          </a:solidFill>
                          <a:latin typeface="Arial"/>
                        </a:rPr>
                        <a:t>Weight (kg)</a:t>
                      </a:r>
                    </a:p>
                  </a:txBody>
                  <a:tcPr marT="36576" marB="36576" anchor="ctr">
                    <a:solidFill>
                      <a:srgbClr val="8496B0"/>
                    </a:solidFill>
                  </a:tcPr>
                </a:tc>
                <a:tc>
                  <a:txBody>
                    <a:bodyPr/>
                    <a:lstStyle/>
                    <a:p>
                      <a:pPr algn="ctr">
                        <a:spcAft>
                          <a:spcPts val="0"/>
                        </a:spcAft>
                      </a:pPr>
                      <a:r>
                        <a:rPr sz="1200" b="1" i="0">
                          <a:solidFill>
                            <a:srgbClr val="FFFFFF"/>
                          </a:solidFill>
                          <a:latin typeface="Arial"/>
                        </a:rPr>
                        <a:t>Height (cm)</a:t>
                      </a:r>
                    </a:p>
                  </a:txBody>
                  <a:tcPr marT="36576" marB="36576" anchor="ctr">
                    <a:solidFill>
                      <a:srgbClr val="8496B0"/>
                    </a:solidFill>
                  </a:tcPr>
                </a:tc>
                <a:tc>
                  <a:txBody>
                    <a:bodyPr/>
                    <a:lstStyle/>
                    <a:p>
                      <a:pPr algn="ctr">
                        <a:spcAft>
                          <a:spcPts val="0"/>
                        </a:spcAft>
                      </a:pPr>
                      <a:r>
                        <a:rPr sz="1200" b="1" i="0">
                          <a:solidFill>
                            <a:srgbClr val="FFFFFF"/>
                          </a:solidFill>
                          <a:latin typeface="Arial"/>
                        </a:rPr>
                        <a:t>BMI</a:t>
                      </a:r>
                    </a:p>
                  </a:txBody>
                  <a:tcPr marT="36576" marB="36576" anchor="ctr">
                    <a:solidFill>
                      <a:srgbClr val="8496B0"/>
                    </a:solidFill>
                  </a:tcPr>
                </a:tc>
                <a:extLst>
                  <a:ext uri="{0D108BD9-81ED-4DB2-BD59-A6C34878D82A}">
                    <a16:rowId xmlns:a16="http://schemas.microsoft.com/office/drawing/2014/main" val="10000"/>
                  </a:ext>
                </a:extLst>
              </a:tr>
              <a:tr h="384048">
                <a:tc>
                  <a:txBody>
                    <a:bodyPr/>
                    <a:lstStyle/>
                    <a:p>
                      <a:pPr algn="ctr">
                        <a:spcAft>
                          <a:spcPts val="0"/>
                        </a:spcAft>
                      </a:pPr>
                      <a:r>
                        <a:rPr sz="1200" b="0" i="0">
                          <a:solidFill>
                            <a:srgbClr val="222222"/>
                          </a:solidFill>
                          <a:latin typeface="Arial"/>
                        </a:rPr>
                        <a:t>{weight_kg}</a:t>
                      </a:r>
                    </a:p>
                  </a:txBody>
                  <a:tcPr marT="36576" marB="36576" anchor="ctr">
                    <a:solidFill>
                      <a:srgbClr val="FFFFFF"/>
                    </a:solidFill>
                  </a:tcPr>
                </a:tc>
                <a:tc>
                  <a:txBody>
                    <a:bodyPr/>
                    <a:lstStyle/>
                    <a:p>
                      <a:pPr algn="ctr">
                        <a:spcAft>
                          <a:spcPts val="0"/>
                        </a:spcAft>
                      </a:pPr>
                      <a:r>
                        <a:rPr sz="1200" b="0" i="0">
                          <a:solidFill>
                            <a:srgbClr val="222222"/>
                          </a:solidFill>
                          <a:latin typeface="Arial"/>
                        </a:rPr>
                        <a:t>{height_cm}</a:t>
                      </a:r>
                    </a:p>
                  </a:txBody>
                  <a:tcPr marT="36576" marB="36576" anchor="ctr">
                    <a:solidFill>
                      <a:srgbClr val="FFFFFF"/>
                    </a:solidFill>
                  </a:tcPr>
                </a:tc>
                <a:tc>
                  <a:txBody>
                    <a:bodyPr/>
                    <a:lstStyle/>
                    <a:p>
                      <a:pPr algn="ctr">
                        <a:spcAft>
                          <a:spcPts val="0"/>
                        </a:spcAft>
                      </a:pPr>
                      <a:r>
                        <a:rPr sz="1200" b="0" i="0">
                          <a:solidFill>
                            <a:srgbClr val="222222"/>
                          </a:solidFill>
                          <a:latin typeface="Arial"/>
                        </a:rPr>
                        <a:t>{bmi}</a:t>
                      </a:r>
                    </a:p>
                  </a:txBody>
                  <a:tcPr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26" name="TextBox 25"/>
          <p:cNvSpPr txBox="1"/>
          <p:nvPr/>
        </p:nvSpPr>
        <p:spPr>
          <a:xfrm>
            <a:off x="6309360" y="4572000"/>
            <a:ext cx="5303520" cy="822960"/>
          </a:xfrm>
          <a:prstGeom prst="rect">
            <a:avLst/>
          </a:prstGeom>
          <a:noFill/>
        </p:spPr>
        <p:txBody>
          <a:bodyPr wrap="square" lIns="0" tIns="0" rIns="0" bIns="0" anchor="t"/>
          <a:lstStyle/>
          <a:p>
            <a:pPr algn="l">
              <a:spcAft>
                <a:spcPts val="600"/>
              </a:spcAft>
            </a:pPr>
            <a:r>
              <a:rPr sz="1400" b="0" i="0">
                <a:solidFill>
                  <a:srgbClr val="62676D"/>
                </a:solidFill>
                <a:latin typeface="Arial"/>
              </a:rPr>
              <a:t>Looks like a paper CRF table; each { } is a real field.</a:t>
            </a:r>
          </a:p>
        </p:txBody>
      </p:sp>
      <p:sp>
        <p:nvSpPr>
          <p:cNvPr id="27" name="TextBox 2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BMI: body mass index   ·   CRF: case report 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Design rules that save you weeks later</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2 of 6: Building instruments</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19</a:t>
            </a:r>
          </a:p>
        </p:txBody>
      </p:sp>
      <p:sp>
        <p:nvSpPr>
          <p:cNvPr id="8" name="Rectangle 7"/>
          <p:cNvSpPr/>
          <p:nvPr/>
        </p:nvSpPr>
        <p:spPr>
          <a:xfrm>
            <a:off x="548640" y="1463040"/>
            <a:ext cx="5422392"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73E_FFFFFF.png"/>
          <p:cNvPicPr>
            <a:picLocks noChangeAspect="1"/>
          </p:cNvPicPr>
          <p:nvPr/>
        </p:nvPicPr>
        <p:blipFill>
          <a:blip r:embed="rId3"/>
          <a:stretch>
            <a:fillRect/>
          </a:stretch>
        </p:blipFill>
        <p:spPr>
          <a:xfrm>
            <a:off x="658368" y="1527048"/>
            <a:ext cx="329184" cy="329184"/>
          </a:xfrm>
          <a:prstGeom prst="rect">
            <a:avLst/>
          </a:prstGeom>
        </p:spPr>
      </p:pic>
      <p:sp>
        <p:nvSpPr>
          <p:cNvPr id="10" name="TextBox 9"/>
          <p:cNvSpPr txBox="1"/>
          <p:nvPr/>
        </p:nvSpPr>
        <p:spPr>
          <a:xfrm>
            <a:off x="1097280"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Do</a:t>
            </a:r>
          </a:p>
        </p:txBody>
      </p:sp>
      <p:sp>
        <p:nvSpPr>
          <p:cNvPr id="11" name="Rectangle 10"/>
          <p:cNvSpPr/>
          <p:nvPr/>
        </p:nvSpPr>
        <p:spPr>
          <a:xfrm>
            <a:off x="548640" y="1920240"/>
            <a:ext cx="5422392" cy="256032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029968"/>
            <a:ext cx="5148072" cy="2377439"/>
          </a:xfrm>
          <a:prstGeom prst="rect">
            <a:avLst/>
          </a:prstGeom>
          <a:noFill/>
        </p:spPr>
        <p:txBody>
          <a:bodyPr wrap="square" lIns="0" tIns="0" rIns="0" bIns="0" anchor="t"/>
          <a:lstStyle/>
          <a:p>
            <a:pPr marL="256032" indent="-256032" algn="l">
              <a:spcAft>
                <a:spcPts val="400"/>
              </a:spcAft>
              <a:buClr>
                <a:srgbClr val="2E7D32"/>
              </a:buClr>
              <a:buSzPct val="75000"/>
              <a:buFont typeface="Arial"/>
              <a:buChar char="■"/>
            </a:pPr>
            <a:r>
              <a:rPr sz="1600" b="0" i="0">
                <a:solidFill>
                  <a:srgbClr val="222222"/>
                </a:solidFill>
                <a:latin typeface="Arial"/>
              </a:rPr>
              <a:t>Short, lowercase variable names</a:t>
            </a:r>
          </a:p>
          <a:p>
            <a:pPr marL="256032" indent="-256032" algn="l">
              <a:spcAft>
                <a:spcPts val="400"/>
              </a:spcAft>
              <a:buClr>
                <a:srgbClr val="2E7D32"/>
              </a:buClr>
              <a:buSzPct val="75000"/>
              <a:buFont typeface="Arial"/>
              <a:buChar char="■"/>
            </a:pPr>
            <a:r>
              <a:rPr sz="1600" b="0" i="0">
                <a:solidFill>
                  <a:srgbClr val="222222"/>
                </a:solidFill>
                <a:latin typeface="Arial"/>
              </a:rPr>
              <a:t>Fixed lists for categorical answers</a:t>
            </a:r>
          </a:p>
          <a:p>
            <a:pPr marL="256032" indent="-256032" algn="l">
              <a:spcAft>
                <a:spcPts val="400"/>
              </a:spcAft>
              <a:buClr>
                <a:srgbClr val="2E7D32"/>
              </a:buClr>
              <a:buSzPct val="75000"/>
              <a:buFont typeface="Arial"/>
              <a:buChar char="■"/>
            </a:pPr>
            <a:r>
              <a:rPr sz="1600" b="0" i="0">
                <a:solidFill>
                  <a:srgbClr val="222222"/>
                </a:solidFill>
                <a:latin typeface="Arial"/>
              </a:rPr>
              <a:t>Units in the label: “Weight (kg)”</a:t>
            </a:r>
          </a:p>
          <a:p>
            <a:pPr marL="256032" indent="-256032" algn="l">
              <a:spcAft>
                <a:spcPts val="400"/>
              </a:spcAft>
              <a:buClr>
                <a:srgbClr val="2E7D32"/>
              </a:buClr>
              <a:buSzPct val="75000"/>
              <a:buFont typeface="Arial"/>
              <a:buChar char="■"/>
            </a:pPr>
            <a:r>
              <a:rPr sz="1600" b="0" i="0">
                <a:solidFill>
                  <a:srgbClr val="222222"/>
                </a:solidFill>
                <a:latin typeface="Arial"/>
              </a:rPr>
              <a:t>Min and max for every number and date</a:t>
            </a:r>
          </a:p>
          <a:p>
            <a:pPr marL="256032" indent="-256032" algn="l">
              <a:spcAft>
                <a:spcPts val="400"/>
              </a:spcAft>
              <a:buClr>
                <a:srgbClr val="2E7D32"/>
              </a:buClr>
              <a:buSzPct val="75000"/>
              <a:buFont typeface="Arial"/>
              <a:buChar char="■"/>
            </a:pPr>
            <a:r>
              <a:rPr sz="1600" b="0" i="0">
                <a:solidFill>
                  <a:srgbClr val="222222"/>
                </a:solidFill>
                <a:latin typeface="Arial"/>
              </a:rPr>
              <a:t>Missing data codes (NA, UNK)</a:t>
            </a:r>
          </a:p>
          <a:p>
            <a:pPr marL="256032" indent="-256032" algn="l">
              <a:spcAft>
                <a:spcPts val="400"/>
              </a:spcAft>
              <a:buClr>
                <a:srgbClr val="2E7D32"/>
              </a:buClr>
              <a:buSzPct val="75000"/>
              <a:buFont typeface="Arial"/>
              <a:buChar char="■"/>
            </a:pPr>
            <a:r>
              <a:rPr sz="1600" b="0" i="0">
                <a:solidFill>
                  <a:srgbClr val="222222"/>
                </a:solidFill>
                <a:latin typeface="Arial"/>
              </a:rPr>
              <a:t>Test every branch with fake records</a:t>
            </a:r>
          </a:p>
        </p:txBody>
      </p:sp>
      <p:sp>
        <p:nvSpPr>
          <p:cNvPr id="13" name="Rectangle 12"/>
          <p:cNvSpPr/>
          <p:nvPr/>
        </p:nvSpPr>
        <p:spPr>
          <a:xfrm>
            <a:off x="6217920" y="1463040"/>
            <a:ext cx="5422392"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711_FFFFFF.png"/>
          <p:cNvPicPr>
            <a:picLocks noChangeAspect="1"/>
          </p:cNvPicPr>
          <p:nvPr/>
        </p:nvPicPr>
        <p:blipFill>
          <a:blip r:embed="rId4"/>
          <a:stretch>
            <a:fillRect/>
          </a:stretch>
        </p:blipFill>
        <p:spPr>
          <a:xfrm>
            <a:off x="6327648" y="1527048"/>
            <a:ext cx="329184" cy="329184"/>
          </a:xfrm>
          <a:prstGeom prst="rect">
            <a:avLst/>
          </a:prstGeom>
        </p:spPr>
      </p:pic>
      <p:sp>
        <p:nvSpPr>
          <p:cNvPr id="15" name="TextBox 14"/>
          <p:cNvSpPr txBox="1"/>
          <p:nvPr/>
        </p:nvSpPr>
        <p:spPr>
          <a:xfrm>
            <a:off x="6766559"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Don't</a:t>
            </a:r>
          </a:p>
        </p:txBody>
      </p:sp>
      <p:sp>
        <p:nvSpPr>
          <p:cNvPr id="16" name="Rectangle 15"/>
          <p:cNvSpPr/>
          <p:nvPr/>
        </p:nvSpPr>
        <p:spPr>
          <a:xfrm>
            <a:off x="6217920" y="1920240"/>
            <a:ext cx="5422392" cy="256032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2029968"/>
            <a:ext cx="5148072" cy="2377439"/>
          </a:xfrm>
          <a:prstGeom prst="rect">
            <a:avLst/>
          </a:prstGeom>
          <a:noFill/>
        </p:spPr>
        <p:txBody>
          <a:bodyPr wrap="square" lIns="0" tIns="0" rIns="0" bIns="0" anchor="t"/>
          <a:lstStyle/>
          <a:p>
            <a:pPr marL="256032" indent="-256032" algn="l">
              <a:spcAft>
                <a:spcPts val="400"/>
              </a:spcAft>
              <a:buClr>
                <a:srgbClr val="C8102E"/>
              </a:buClr>
              <a:buSzPct val="75000"/>
              <a:buFont typeface="Arial"/>
              <a:buChar char="■"/>
            </a:pPr>
            <a:r>
              <a:rPr sz="1600" b="0" i="0">
                <a:solidFill>
                  <a:srgbClr val="222222"/>
                </a:solidFill>
                <a:latin typeface="Arial"/>
              </a:rPr>
              <a:t>Free text for categories</a:t>
            </a:r>
          </a:p>
          <a:p>
            <a:pPr marL="256032" indent="-256032" algn="l">
              <a:spcAft>
                <a:spcPts val="400"/>
              </a:spcAft>
              <a:buClr>
                <a:srgbClr val="C8102E"/>
              </a:buClr>
              <a:buSzPct val="75000"/>
              <a:buFont typeface="Arial"/>
              <a:buChar char="■"/>
            </a:pPr>
            <a:r>
              <a:rPr sz="1600" b="0" i="0">
                <a:solidFill>
                  <a:srgbClr val="222222"/>
                </a:solidFill>
                <a:latin typeface="Arial"/>
              </a:rPr>
              <a:t>Change a code's meaning after data exist</a:t>
            </a:r>
          </a:p>
          <a:p>
            <a:pPr marL="256032" indent="-256032" algn="l">
              <a:spcAft>
                <a:spcPts val="400"/>
              </a:spcAft>
              <a:buClr>
                <a:srgbClr val="C8102E"/>
              </a:buClr>
              <a:buSzPct val="75000"/>
              <a:buFont typeface="Arial"/>
              <a:buChar char="■"/>
            </a:pPr>
            <a:r>
              <a:rPr sz="1600" b="0" i="0">
                <a:solidFill>
                  <a:srgbClr val="222222"/>
                </a:solidFill>
                <a:latin typeface="Arial"/>
              </a:rPr>
              <a:t>Rename variables in Production</a:t>
            </a:r>
          </a:p>
          <a:p>
            <a:pPr marL="256032" indent="-256032" algn="l">
              <a:spcAft>
                <a:spcPts val="400"/>
              </a:spcAft>
              <a:buClr>
                <a:srgbClr val="C8102E"/>
              </a:buClr>
              <a:buSzPct val="75000"/>
              <a:buFont typeface="Arial"/>
              <a:buChar char="■"/>
            </a:pPr>
            <a:r>
              <a:rPr sz="1600" b="0" i="0">
                <a:solidFill>
                  <a:srgbClr val="222222"/>
                </a:solidFill>
                <a:latin typeface="Arial"/>
              </a:rPr>
              <a:t>Put names in the record ID</a:t>
            </a:r>
          </a:p>
          <a:p>
            <a:pPr marL="256032" indent="-256032" algn="l">
              <a:spcAft>
                <a:spcPts val="400"/>
              </a:spcAft>
              <a:buClr>
                <a:srgbClr val="C8102E"/>
              </a:buClr>
              <a:buSzPct val="75000"/>
              <a:buFont typeface="Arial"/>
              <a:buChar char="■"/>
            </a:pPr>
            <a:r>
              <a:rPr sz="1600" b="0" i="0">
                <a:solidFill>
                  <a:srgbClr val="222222"/>
                </a:solidFill>
                <a:latin typeface="Arial"/>
              </a:rPr>
              <a:t>Collect what the protocol does not need</a:t>
            </a:r>
          </a:p>
        </p:txBody>
      </p:sp>
      <p:sp>
        <p:nvSpPr>
          <p:cNvPr id="18" name="Rectangle 17"/>
          <p:cNvSpPr/>
          <p:nvPr/>
        </p:nvSpPr>
        <p:spPr>
          <a:xfrm>
            <a:off x="548640" y="484632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484632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EA80_1E88C8.png"/>
          <p:cNvPicPr>
            <a:picLocks noChangeAspect="1"/>
          </p:cNvPicPr>
          <p:nvPr/>
        </p:nvPicPr>
        <p:blipFill>
          <a:blip r:embed="rId5"/>
          <a:stretch>
            <a:fillRect/>
          </a:stretch>
        </p:blipFill>
        <p:spPr>
          <a:xfrm>
            <a:off x="777240" y="4937759"/>
            <a:ext cx="365760" cy="365760"/>
          </a:xfrm>
          <a:prstGeom prst="rect">
            <a:avLst/>
          </a:prstGeom>
        </p:spPr>
      </p:pic>
      <p:sp>
        <p:nvSpPr>
          <p:cNvPr id="21" name="TextBox 20"/>
          <p:cNvSpPr txBox="1"/>
          <p:nvPr/>
        </p:nvSpPr>
        <p:spPr>
          <a:xfrm>
            <a:off x="1280160" y="48463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Most cleaning problems start in </a:t>
            </a:r>
            <a:r>
              <a:rPr sz="1500" b="1" i="0">
                <a:solidFill>
                  <a:srgbClr val="C8102E"/>
                </a:solidFill>
                <a:latin typeface="Arial"/>
              </a:rPr>
              <a:t>instrument design</a:t>
            </a:r>
            <a:r>
              <a:rPr sz="1500" b="0" i="0">
                <a:solidFill>
                  <a:srgbClr val="222222"/>
                </a:solidFill>
                <a:latin typeface="Arial"/>
              </a:rPr>
              <a:t>. Fix them before you collect.</a:t>
            </a:r>
          </a:p>
        </p:txBody>
      </p:sp>
      <p:sp>
        <p:nvSpPr>
          <p:cNvPr id="22" name="TextBox 21"/>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ID: identifier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20</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Oval 7"/>
          <p:cNvSpPr/>
          <p:nvPr/>
        </p:nvSpPr>
        <p:spPr>
          <a:xfrm>
            <a:off x="777240" y="1234440"/>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417320" y="1197864"/>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Getting started</a:t>
            </a:r>
          </a:p>
        </p:txBody>
      </p:sp>
      <p:sp>
        <p:nvSpPr>
          <p:cNvPr id="10" name="Oval 9"/>
          <p:cNvSpPr/>
          <p:nvPr/>
        </p:nvSpPr>
        <p:spPr>
          <a:xfrm>
            <a:off x="777240" y="1984248"/>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1" name="TextBox 10"/>
          <p:cNvSpPr txBox="1"/>
          <p:nvPr/>
        </p:nvSpPr>
        <p:spPr>
          <a:xfrm>
            <a:off x="1417320" y="1947672"/>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Building instruments</a:t>
            </a:r>
          </a:p>
        </p:txBody>
      </p:sp>
      <p:sp>
        <p:nvSpPr>
          <p:cNvPr id="12" name="Rectangle 11"/>
          <p:cNvSpPr/>
          <p:nvPr/>
        </p:nvSpPr>
        <p:spPr>
          <a:xfrm>
            <a:off x="548640" y="2642616"/>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642616"/>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2734056"/>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3</a:t>
            </a:r>
          </a:p>
        </p:txBody>
      </p:sp>
      <p:sp>
        <p:nvSpPr>
          <p:cNvPr id="15" name="TextBox 14"/>
          <p:cNvSpPr txBox="1"/>
          <p:nvPr/>
        </p:nvSpPr>
        <p:spPr>
          <a:xfrm>
            <a:off x="1417320" y="2697480"/>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Choosing a project type</a:t>
            </a:r>
          </a:p>
        </p:txBody>
      </p:sp>
      <p:sp>
        <p:nvSpPr>
          <p:cNvPr id="16" name="Oval 15"/>
          <p:cNvSpPr/>
          <p:nvPr/>
        </p:nvSpPr>
        <p:spPr>
          <a:xfrm>
            <a:off x="777240" y="3483864"/>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4</a:t>
            </a:r>
          </a:p>
        </p:txBody>
      </p:sp>
      <p:sp>
        <p:nvSpPr>
          <p:cNvPr id="17" name="TextBox 16"/>
          <p:cNvSpPr txBox="1"/>
          <p:nvPr/>
        </p:nvSpPr>
        <p:spPr>
          <a:xfrm>
            <a:off x="1417320" y="3447288"/>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Longitudinal and repeating data</a:t>
            </a:r>
          </a:p>
        </p:txBody>
      </p:sp>
      <p:sp>
        <p:nvSpPr>
          <p:cNvPr id="18" name="Oval 17"/>
          <p:cNvSpPr/>
          <p:nvPr/>
        </p:nvSpPr>
        <p:spPr>
          <a:xfrm>
            <a:off x="777240" y="4233672"/>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5</a:t>
            </a:r>
          </a:p>
        </p:txBody>
      </p:sp>
      <p:sp>
        <p:nvSpPr>
          <p:cNvPr id="19" name="TextBox 18"/>
          <p:cNvSpPr txBox="1"/>
          <p:nvPr/>
        </p:nvSpPr>
        <p:spPr>
          <a:xfrm>
            <a:off x="1417320" y="4197096"/>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Data entry, quality and multi-site work</a:t>
            </a:r>
          </a:p>
        </p:txBody>
      </p:sp>
      <p:sp>
        <p:nvSpPr>
          <p:cNvPr id="20" name="Oval 19"/>
          <p:cNvSpPr/>
          <p:nvPr/>
        </p:nvSpPr>
        <p:spPr>
          <a:xfrm>
            <a:off x="777240" y="4983479"/>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3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Choosing a project type</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Five project types</a:t>
            </a:r>
          </a:p>
          <a:p>
            <a:pPr marL="256032" indent="-256032" algn="l">
              <a:spcAft>
                <a:spcPts val="800"/>
              </a:spcAft>
              <a:buClr>
                <a:srgbClr val="1E88C8"/>
              </a:buClr>
              <a:buSzPct val="75000"/>
              <a:buFont typeface="Arial"/>
              <a:buChar char="■"/>
            </a:pPr>
            <a:r>
              <a:rPr sz="1700" b="0" i="0">
                <a:solidFill>
                  <a:srgbClr val="222222"/>
                </a:solidFill>
                <a:latin typeface="Arial"/>
              </a:rPr>
              <a:t>Which one fits your study?</a:t>
            </a:r>
          </a:p>
          <a:p>
            <a:pPr marL="256032" indent="-256032" algn="l">
              <a:spcAft>
                <a:spcPts val="800"/>
              </a:spcAft>
              <a:buClr>
                <a:srgbClr val="1E88C8"/>
              </a:buClr>
              <a:buSzPct val="75000"/>
              <a:buFont typeface="Arial"/>
              <a:buChar char="■"/>
            </a:pPr>
            <a:r>
              <a:rPr sz="1700" b="0" i="0">
                <a:solidFill>
                  <a:srgbClr val="222222"/>
                </a:solidFill>
                <a:latin typeface="Arial"/>
              </a:rPr>
              <a:t>Traditional and single-survey projects</a:t>
            </a:r>
          </a:p>
          <a:p>
            <a:pPr marL="256032" indent="-256032" algn="l">
              <a:spcAft>
                <a:spcPts val="800"/>
              </a:spcAft>
              <a:buClr>
                <a:srgbClr val="1E88C8"/>
              </a:buClr>
              <a:buSzPct val="75000"/>
              <a:buFont typeface="Arial"/>
              <a:buChar char="■"/>
            </a:pPr>
            <a:r>
              <a:rPr sz="1700" b="0" i="0">
                <a:solidFill>
                  <a:srgbClr val="222222"/>
                </a:solidFill>
                <a:latin typeface="Arial"/>
              </a:rPr>
              <a:t>Longitudinal, scheduling and operations projects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Five project types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3 of 6: Choosing a project type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21</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Overview of project types (3 min)</a:t>
            </a:r>
          </a:p>
        </p:txBody>
      </p:sp>
      <p:sp>
        <p:nvSpPr>
          <p:cNvPr id="10" name="Rectangle 9"/>
          <p:cNvSpPr/>
          <p:nvPr/>
        </p:nvSpPr>
        <p:spPr>
          <a:xfrm>
            <a:off x="548640" y="1463040"/>
            <a:ext cx="2084831"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0E3_FFFFFF.png"/>
          <p:cNvPicPr>
            <a:picLocks noChangeAspect="1"/>
          </p:cNvPicPr>
          <p:nvPr/>
        </p:nvPicPr>
        <p:blipFill>
          <a:blip r:embed="rId4"/>
          <a:stretch>
            <a:fillRect/>
          </a:stretch>
        </p:blipFill>
        <p:spPr>
          <a:xfrm>
            <a:off x="658368" y="1527048"/>
            <a:ext cx="329184" cy="329184"/>
          </a:xfrm>
          <a:prstGeom prst="rect">
            <a:avLst/>
          </a:prstGeom>
        </p:spPr>
      </p:pic>
      <p:sp>
        <p:nvSpPr>
          <p:cNvPr id="12" name="TextBox 11"/>
          <p:cNvSpPr txBox="1"/>
          <p:nvPr/>
        </p:nvSpPr>
        <p:spPr>
          <a:xfrm>
            <a:off x="1097280" y="1463040"/>
            <a:ext cx="1444751" cy="457200"/>
          </a:xfrm>
          <a:prstGeom prst="rect">
            <a:avLst/>
          </a:prstGeom>
          <a:noFill/>
        </p:spPr>
        <p:txBody>
          <a:bodyPr wrap="square" lIns="0" tIns="0" rIns="0" bIns="0" anchor="ctr"/>
          <a:lstStyle/>
          <a:p>
            <a:pPr algn="l">
              <a:spcAft>
                <a:spcPts val="600"/>
              </a:spcAft>
            </a:pPr>
            <a:r>
              <a:rPr sz="1200" b="1" i="0">
                <a:solidFill>
                  <a:srgbClr val="FFFFFF"/>
                </a:solidFill>
                <a:latin typeface="Arial"/>
              </a:rPr>
              <a:t>Traditional</a:t>
            </a:r>
          </a:p>
        </p:txBody>
      </p:sp>
      <p:sp>
        <p:nvSpPr>
          <p:cNvPr id="13" name="Rectangle 12"/>
          <p:cNvSpPr/>
          <p:nvPr/>
        </p:nvSpPr>
        <p:spPr>
          <a:xfrm>
            <a:off x="548640" y="1920240"/>
            <a:ext cx="2084831" cy="19202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1810511" cy="1737360"/>
          </a:xfrm>
          <a:prstGeom prst="rect">
            <a:avLst/>
          </a:prstGeom>
          <a:noFill/>
        </p:spPr>
        <p:txBody>
          <a:bodyPr wrap="square" lIns="0" tIns="0" rIns="0" bIns="0" anchor="t"/>
          <a:lstStyle/>
          <a:p>
            <a:pPr algn="l">
              <a:spcAft>
                <a:spcPts val="400"/>
              </a:spcAft>
            </a:pPr>
            <a:r>
              <a:rPr sz="1300" b="0" i="0">
                <a:solidFill>
                  <a:srgbClr val="222222"/>
                </a:solidFill>
                <a:latin typeface="Arial"/>
              </a:rPr>
              <a:t>Forms entered by staff, one time point</a:t>
            </a:r>
          </a:p>
          <a:p>
            <a:pPr algn="l">
              <a:spcAft>
                <a:spcPts val="400"/>
              </a:spcAft>
            </a:pPr>
            <a:r>
              <a:rPr sz="1100" b="0" i="0">
                <a:solidFill>
                  <a:srgbClr val="62676D"/>
                </a:solidFill>
                <a:latin typeface="Arial"/>
              </a:rPr>
              <a:t>video 3 min</a:t>
            </a:r>
          </a:p>
        </p:txBody>
      </p:sp>
      <p:sp>
        <p:nvSpPr>
          <p:cNvPr id="15" name="Rectangle 14"/>
          <p:cNvSpPr/>
          <p:nvPr/>
        </p:nvSpPr>
        <p:spPr>
          <a:xfrm>
            <a:off x="2798064" y="1463040"/>
            <a:ext cx="2084831"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BD_FFFFFF.png"/>
          <p:cNvPicPr>
            <a:picLocks noChangeAspect="1"/>
          </p:cNvPicPr>
          <p:nvPr/>
        </p:nvPicPr>
        <p:blipFill>
          <a:blip r:embed="rId5"/>
          <a:stretch>
            <a:fillRect/>
          </a:stretch>
        </p:blipFill>
        <p:spPr>
          <a:xfrm>
            <a:off x="2907792" y="1527048"/>
            <a:ext cx="329184" cy="329184"/>
          </a:xfrm>
          <a:prstGeom prst="rect">
            <a:avLst/>
          </a:prstGeom>
        </p:spPr>
      </p:pic>
      <p:sp>
        <p:nvSpPr>
          <p:cNvPr id="17" name="TextBox 16"/>
          <p:cNvSpPr txBox="1"/>
          <p:nvPr/>
        </p:nvSpPr>
        <p:spPr>
          <a:xfrm>
            <a:off x="3346704" y="1463040"/>
            <a:ext cx="1444751" cy="457200"/>
          </a:xfrm>
          <a:prstGeom prst="rect">
            <a:avLst/>
          </a:prstGeom>
          <a:noFill/>
        </p:spPr>
        <p:txBody>
          <a:bodyPr wrap="square" lIns="0" tIns="0" rIns="0" bIns="0" anchor="ctr"/>
          <a:lstStyle/>
          <a:p>
            <a:pPr algn="l">
              <a:spcAft>
                <a:spcPts val="600"/>
              </a:spcAft>
            </a:pPr>
            <a:r>
              <a:rPr sz="1200" b="1" i="0">
                <a:solidFill>
                  <a:srgbClr val="FFFFFF"/>
                </a:solidFill>
                <a:latin typeface="Arial"/>
              </a:rPr>
              <a:t>Single survey</a:t>
            </a:r>
          </a:p>
        </p:txBody>
      </p:sp>
      <p:sp>
        <p:nvSpPr>
          <p:cNvPr id="18" name="Rectangle 17"/>
          <p:cNvSpPr/>
          <p:nvPr/>
        </p:nvSpPr>
        <p:spPr>
          <a:xfrm>
            <a:off x="2798064" y="1920240"/>
            <a:ext cx="2084831" cy="19202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35224" y="2029968"/>
            <a:ext cx="1810511" cy="1737360"/>
          </a:xfrm>
          <a:prstGeom prst="rect">
            <a:avLst/>
          </a:prstGeom>
          <a:noFill/>
        </p:spPr>
        <p:txBody>
          <a:bodyPr wrap="square" lIns="0" tIns="0" rIns="0" bIns="0" anchor="t"/>
          <a:lstStyle/>
          <a:p>
            <a:pPr algn="l">
              <a:spcAft>
                <a:spcPts val="400"/>
              </a:spcAft>
            </a:pPr>
            <a:r>
              <a:rPr sz="1300" b="0" i="0">
                <a:solidFill>
                  <a:srgbClr val="222222"/>
                </a:solidFill>
                <a:latin typeface="Arial"/>
              </a:rPr>
              <a:t>One survey, completed by participants</a:t>
            </a:r>
          </a:p>
          <a:p>
            <a:pPr algn="l">
              <a:spcAft>
                <a:spcPts val="400"/>
              </a:spcAft>
            </a:pPr>
            <a:r>
              <a:rPr sz="1100" b="0" i="0">
                <a:solidFill>
                  <a:srgbClr val="62676D"/>
                </a:solidFill>
                <a:latin typeface="Arial"/>
              </a:rPr>
              <a:t>video 5 min</a:t>
            </a:r>
          </a:p>
        </p:txBody>
      </p:sp>
      <p:sp>
        <p:nvSpPr>
          <p:cNvPr id="20" name="Rectangle 19"/>
          <p:cNvSpPr/>
          <p:nvPr/>
        </p:nvSpPr>
        <p:spPr>
          <a:xfrm>
            <a:off x="5047488" y="1463040"/>
            <a:ext cx="2084831"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787_FFFFFF.png"/>
          <p:cNvPicPr>
            <a:picLocks noChangeAspect="1"/>
          </p:cNvPicPr>
          <p:nvPr/>
        </p:nvPicPr>
        <p:blipFill>
          <a:blip r:embed="rId6"/>
          <a:stretch>
            <a:fillRect/>
          </a:stretch>
        </p:blipFill>
        <p:spPr>
          <a:xfrm>
            <a:off x="5157216" y="1527048"/>
            <a:ext cx="329184" cy="329184"/>
          </a:xfrm>
          <a:prstGeom prst="rect">
            <a:avLst/>
          </a:prstGeom>
        </p:spPr>
      </p:pic>
      <p:sp>
        <p:nvSpPr>
          <p:cNvPr id="22" name="TextBox 21"/>
          <p:cNvSpPr txBox="1"/>
          <p:nvPr/>
        </p:nvSpPr>
        <p:spPr>
          <a:xfrm>
            <a:off x="5596127" y="1463040"/>
            <a:ext cx="1444752" cy="457200"/>
          </a:xfrm>
          <a:prstGeom prst="rect">
            <a:avLst/>
          </a:prstGeom>
          <a:noFill/>
        </p:spPr>
        <p:txBody>
          <a:bodyPr wrap="square" lIns="0" tIns="0" rIns="0" bIns="0" anchor="ctr"/>
          <a:lstStyle/>
          <a:p>
            <a:pPr algn="l">
              <a:spcAft>
                <a:spcPts val="600"/>
              </a:spcAft>
            </a:pPr>
            <a:r>
              <a:rPr sz="1200" b="1" i="0">
                <a:solidFill>
                  <a:srgbClr val="FFFFFF"/>
                </a:solidFill>
                <a:latin typeface="Arial"/>
              </a:rPr>
              <a:t>Longitudinal</a:t>
            </a:r>
          </a:p>
        </p:txBody>
      </p:sp>
      <p:sp>
        <p:nvSpPr>
          <p:cNvPr id="23" name="Rectangle 22"/>
          <p:cNvSpPr/>
          <p:nvPr/>
        </p:nvSpPr>
        <p:spPr>
          <a:xfrm>
            <a:off x="5047488" y="1920240"/>
            <a:ext cx="2084831" cy="19202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84648" y="2029968"/>
            <a:ext cx="1810511" cy="1737360"/>
          </a:xfrm>
          <a:prstGeom prst="rect">
            <a:avLst/>
          </a:prstGeom>
          <a:noFill/>
        </p:spPr>
        <p:txBody>
          <a:bodyPr wrap="square" lIns="0" tIns="0" rIns="0" bIns="0" anchor="t"/>
          <a:lstStyle/>
          <a:p>
            <a:pPr algn="l">
              <a:spcAft>
                <a:spcPts val="400"/>
              </a:spcAft>
            </a:pPr>
            <a:r>
              <a:rPr sz="1300" b="0" i="0">
                <a:solidFill>
                  <a:srgbClr val="222222"/>
                </a:solidFill>
                <a:latin typeface="Arial"/>
              </a:rPr>
              <a:t>Repeated visits (events) per record</a:t>
            </a:r>
          </a:p>
          <a:p>
            <a:pPr algn="l">
              <a:spcAft>
                <a:spcPts val="400"/>
              </a:spcAft>
            </a:pPr>
            <a:r>
              <a:rPr sz="1100" b="0" i="0">
                <a:solidFill>
                  <a:srgbClr val="62676D"/>
                </a:solidFill>
                <a:latin typeface="Arial"/>
              </a:rPr>
              <a:t>video 3 min</a:t>
            </a:r>
          </a:p>
        </p:txBody>
      </p:sp>
      <p:sp>
        <p:nvSpPr>
          <p:cNvPr id="25" name="Rectangle 24"/>
          <p:cNvSpPr/>
          <p:nvPr/>
        </p:nvSpPr>
        <p:spPr>
          <a:xfrm>
            <a:off x="7296912" y="1463040"/>
            <a:ext cx="2084831"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823_FFFFFF.png"/>
          <p:cNvPicPr>
            <a:picLocks noChangeAspect="1"/>
          </p:cNvPicPr>
          <p:nvPr/>
        </p:nvPicPr>
        <p:blipFill>
          <a:blip r:embed="rId7"/>
          <a:stretch>
            <a:fillRect/>
          </a:stretch>
        </p:blipFill>
        <p:spPr>
          <a:xfrm>
            <a:off x="7406640" y="1527048"/>
            <a:ext cx="329184" cy="329184"/>
          </a:xfrm>
          <a:prstGeom prst="rect">
            <a:avLst/>
          </a:prstGeom>
        </p:spPr>
      </p:pic>
      <p:sp>
        <p:nvSpPr>
          <p:cNvPr id="27" name="TextBox 26"/>
          <p:cNvSpPr txBox="1"/>
          <p:nvPr/>
        </p:nvSpPr>
        <p:spPr>
          <a:xfrm>
            <a:off x="7845552" y="1463040"/>
            <a:ext cx="1444751" cy="457200"/>
          </a:xfrm>
          <a:prstGeom prst="rect">
            <a:avLst/>
          </a:prstGeom>
          <a:noFill/>
        </p:spPr>
        <p:txBody>
          <a:bodyPr wrap="square" lIns="0" tIns="0" rIns="0" bIns="0" anchor="ctr"/>
          <a:lstStyle/>
          <a:p>
            <a:pPr algn="l">
              <a:spcAft>
                <a:spcPts val="600"/>
              </a:spcAft>
            </a:pPr>
            <a:r>
              <a:rPr sz="1200" b="1" i="0">
                <a:solidFill>
                  <a:srgbClr val="FFFFFF"/>
                </a:solidFill>
                <a:latin typeface="Arial"/>
              </a:rPr>
              <a:t>Longitudinal + scheduling</a:t>
            </a:r>
          </a:p>
        </p:txBody>
      </p:sp>
      <p:sp>
        <p:nvSpPr>
          <p:cNvPr id="28" name="Rectangle 27"/>
          <p:cNvSpPr/>
          <p:nvPr/>
        </p:nvSpPr>
        <p:spPr>
          <a:xfrm>
            <a:off x="7296912" y="1920240"/>
            <a:ext cx="2084831" cy="19202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34071" y="2029968"/>
            <a:ext cx="1810511" cy="1737360"/>
          </a:xfrm>
          <a:prstGeom prst="rect">
            <a:avLst/>
          </a:prstGeom>
          <a:noFill/>
        </p:spPr>
        <p:txBody>
          <a:bodyPr wrap="square" lIns="0" tIns="0" rIns="0" bIns="0" anchor="t"/>
          <a:lstStyle/>
          <a:p>
            <a:pPr algn="l">
              <a:spcAft>
                <a:spcPts val="400"/>
              </a:spcAft>
            </a:pPr>
            <a:r>
              <a:rPr sz="1300" b="0" i="0">
                <a:solidFill>
                  <a:srgbClr val="222222"/>
                </a:solidFill>
                <a:latin typeface="Arial"/>
              </a:rPr>
              <a:t>Visits with planned dates and windows</a:t>
            </a:r>
          </a:p>
          <a:p>
            <a:pPr algn="l">
              <a:spcAft>
                <a:spcPts val="400"/>
              </a:spcAft>
            </a:pPr>
            <a:r>
              <a:rPr sz="1100" b="0" i="0">
                <a:solidFill>
                  <a:srgbClr val="62676D"/>
                </a:solidFill>
                <a:latin typeface="Arial"/>
              </a:rPr>
              <a:t>video 3 min</a:t>
            </a:r>
          </a:p>
        </p:txBody>
      </p:sp>
      <p:sp>
        <p:nvSpPr>
          <p:cNvPr id="30" name="Rectangle 29"/>
          <p:cNvSpPr/>
          <p:nvPr/>
        </p:nvSpPr>
        <p:spPr>
          <a:xfrm>
            <a:off x="9546336" y="1463040"/>
            <a:ext cx="2084831" cy="45720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E713_FFFFFF.png"/>
          <p:cNvPicPr>
            <a:picLocks noChangeAspect="1"/>
          </p:cNvPicPr>
          <p:nvPr/>
        </p:nvPicPr>
        <p:blipFill>
          <a:blip r:embed="rId8"/>
          <a:stretch>
            <a:fillRect/>
          </a:stretch>
        </p:blipFill>
        <p:spPr>
          <a:xfrm>
            <a:off x="9656063" y="1527048"/>
            <a:ext cx="329184" cy="329184"/>
          </a:xfrm>
          <a:prstGeom prst="rect">
            <a:avLst/>
          </a:prstGeom>
        </p:spPr>
      </p:pic>
      <p:sp>
        <p:nvSpPr>
          <p:cNvPr id="32" name="TextBox 31"/>
          <p:cNvSpPr txBox="1"/>
          <p:nvPr/>
        </p:nvSpPr>
        <p:spPr>
          <a:xfrm>
            <a:off x="10094976" y="1463040"/>
            <a:ext cx="1444752" cy="457200"/>
          </a:xfrm>
          <a:prstGeom prst="rect">
            <a:avLst/>
          </a:prstGeom>
          <a:noFill/>
        </p:spPr>
        <p:txBody>
          <a:bodyPr wrap="square" lIns="0" tIns="0" rIns="0" bIns="0" anchor="ctr"/>
          <a:lstStyle/>
          <a:p>
            <a:pPr algn="l">
              <a:spcAft>
                <a:spcPts val="600"/>
              </a:spcAft>
            </a:pPr>
            <a:r>
              <a:rPr sz="1200" b="1" i="0">
                <a:solidFill>
                  <a:srgbClr val="FFFFFF"/>
                </a:solidFill>
                <a:latin typeface="Arial"/>
              </a:rPr>
              <a:t>Operations</a:t>
            </a:r>
          </a:p>
        </p:txBody>
      </p:sp>
      <p:sp>
        <p:nvSpPr>
          <p:cNvPr id="33" name="Rectangle 32"/>
          <p:cNvSpPr/>
          <p:nvPr/>
        </p:nvSpPr>
        <p:spPr>
          <a:xfrm>
            <a:off x="9546336" y="1920240"/>
            <a:ext cx="2084831" cy="19202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83496" y="2029968"/>
            <a:ext cx="1810511" cy="1737360"/>
          </a:xfrm>
          <a:prstGeom prst="rect">
            <a:avLst/>
          </a:prstGeom>
          <a:noFill/>
        </p:spPr>
        <p:txBody>
          <a:bodyPr wrap="square" lIns="0" tIns="0" rIns="0" bIns="0" anchor="t"/>
          <a:lstStyle/>
          <a:p>
            <a:pPr algn="l">
              <a:spcAft>
                <a:spcPts val="400"/>
              </a:spcAft>
            </a:pPr>
            <a:r>
              <a:rPr sz="1300" b="0" i="0">
                <a:solidFill>
                  <a:srgbClr val="222222"/>
                </a:solidFill>
                <a:latin typeface="Arial"/>
              </a:rPr>
              <a:t>Non-research tracking and administration</a:t>
            </a:r>
          </a:p>
          <a:p>
            <a:pPr algn="l">
              <a:spcAft>
                <a:spcPts val="400"/>
              </a:spcAft>
            </a:pPr>
            <a:r>
              <a:rPr sz="1100" b="0" i="0">
                <a:solidFill>
                  <a:srgbClr val="62676D"/>
                </a:solidFill>
                <a:latin typeface="Arial"/>
              </a:rPr>
              <a:t>video 2 min</a:t>
            </a:r>
          </a:p>
        </p:txBody>
      </p:sp>
      <p:sp>
        <p:nvSpPr>
          <p:cNvPr id="35" name="TextBox 34"/>
          <p:cNvSpPr txBox="1"/>
          <p:nvPr/>
        </p:nvSpPr>
        <p:spPr>
          <a:xfrm>
            <a:off x="548640" y="4114800"/>
            <a:ext cx="10972800" cy="365760"/>
          </a:xfrm>
          <a:prstGeom prst="rect">
            <a:avLst/>
          </a:prstGeom>
          <a:noFill/>
        </p:spPr>
        <p:txBody>
          <a:bodyPr wrap="square" lIns="0" tIns="0" rIns="0" bIns="0" anchor="t"/>
          <a:lstStyle/>
          <a:p>
            <a:pPr algn="l">
              <a:spcAft>
                <a:spcPts val="600"/>
              </a:spcAft>
            </a:pPr>
            <a:r>
              <a:rPr sz="1600" b="0" i="0">
                <a:solidFill>
                  <a:srgbClr val="222222"/>
                </a:solidFill>
                <a:latin typeface="Arial"/>
              </a:rPr>
              <a:t>They are combinations of two switches on Project Setup:</a:t>
            </a:r>
          </a:p>
        </p:txBody>
      </p:sp>
      <p:sp>
        <p:nvSpPr>
          <p:cNvPr id="36" name="Rectangle 35"/>
          <p:cNvSpPr/>
          <p:nvPr/>
        </p:nvSpPr>
        <p:spPr>
          <a:xfrm>
            <a:off x="548640" y="4572000"/>
            <a:ext cx="2834640" cy="50292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1E88C8"/>
                </a:solidFill>
                <a:latin typeface="Arial"/>
              </a:rPr>
              <a:t>Surveys on / off</a:t>
            </a:r>
          </a:p>
        </p:txBody>
      </p:sp>
      <p:sp>
        <p:nvSpPr>
          <p:cNvPr id="37" name="Rectangle 36"/>
          <p:cNvSpPr/>
          <p:nvPr/>
        </p:nvSpPr>
        <p:spPr>
          <a:xfrm>
            <a:off x="3657600" y="4572000"/>
            <a:ext cx="2834640" cy="50292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C8102E"/>
                </a:solidFill>
                <a:latin typeface="Arial"/>
              </a:rPr>
              <a:t>Longitudinal on / off</a:t>
            </a:r>
          </a:p>
        </p:txBody>
      </p:sp>
      <p:sp>
        <p:nvSpPr>
          <p:cNvPr id="38" name="Rectangle 37"/>
          <p:cNvSpPr/>
          <p:nvPr/>
        </p:nvSpPr>
        <p:spPr>
          <a:xfrm>
            <a:off x="6766559" y="4572000"/>
            <a:ext cx="2834640" cy="5029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41464C"/>
                </a:solidFill>
                <a:latin typeface="Arial"/>
              </a:rPr>
              <a:t>+ Scheduling module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Which project type fits your study?</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3 of 6: Choosing a project type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22</a:t>
            </a:r>
          </a:p>
        </p:txBody>
      </p:sp>
      <p:sp>
        <p:nvSpPr>
          <p:cNvPr id="8" name="Rectangle 7"/>
          <p:cNvSpPr/>
          <p:nvPr/>
        </p:nvSpPr>
        <p:spPr>
          <a:xfrm>
            <a:off x="548640" y="1554480"/>
            <a:ext cx="3017520" cy="731520"/>
          </a:xfrm>
          <a:prstGeom prst="rect">
            <a:avLst/>
          </a:prstGeom>
          <a:solidFill>
            <a:srgbClr val="F2F4F6"/>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600"/>
              </a:spcAft>
            </a:pPr>
            <a:r>
              <a:rPr sz="1400" b="1" i="0">
                <a:solidFill>
                  <a:srgbClr val="41464C"/>
                </a:solidFill>
                <a:latin typeface="Arial"/>
              </a:rPr>
              <a:t>Is it research data collection?</a:t>
            </a:r>
          </a:p>
        </p:txBody>
      </p:sp>
      <p:sp>
        <p:nvSpPr>
          <p:cNvPr id="9" name="Rectangle 8"/>
          <p:cNvSpPr/>
          <p:nvPr/>
        </p:nvSpPr>
        <p:spPr>
          <a:xfrm>
            <a:off x="868680" y="3017520"/>
            <a:ext cx="2377440" cy="6400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400" b="1" i="0">
                <a:solidFill>
                  <a:srgbClr val="FFFFFF"/>
                </a:solidFill>
                <a:latin typeface="Arial"/>
              </a:rPr>
              <a:t>Operations project</a:t>
            </a:r>
          </a:p>
        </p:txBody>
      </p:sp>
      <p:sp>
        <p:nvSpPr>
          <p:cNvPr id="10" name="TextBox 9"/>
          <p:cNvSpPr txBox="1"/>
          <p:nvPr/>
        </p:nvSpPr>
        <p:spPr>
          <a:xfrm>
            <a:off x="914400" y="2377440"/>
            <a:ext cx="914400" cy="365760"/>
          </a:xfrm>
          <a:prstGeom prst="rect">
            <a:avLst/>
          </a:prstGeom>
          <a:noFill/>
        </p:spPr>
        <p:txBody>
          <a:bodyPr wrap="square" lIns="0" tIns="0" rIns="0" bIns="0" anchor="t"/>
          <a:lstStyle/>
          <a:p>
            <a:pPr algn="l">
              <a:spcAft>
                <a:spcPts val="600"/>
              </a:spcAft>
            </a:pPr>
            <a:r>
              <a:rPr sz="1200" b="1" i="0">
                <a:solidFill>
                  <a:srgbClr val="62676D"/>
                </a:solidFill>
                <a:latin typeface="Arial"/>
              </a:rPr>
              <a:t>no</a:t>
            </a:r>
          </a:p>
        </p:txBody>
      </p:sp>
      <p:cxnSp>
        <p:nvCxnSpPr>
          <p:cNvPr id="11" name="Connector 10"/>
          <p:cNvCxnSpPr/>
          <p:nvPr/>
        </p:nvCxnSpPr>
        <p:spPr>
          <a:xfrm>
            <a:off x="2057400" y="2286000"/>
            <a:ext cx="0" cy="713232"/>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66160" y="1920240"/>
            <a:ext cx="640080" cy="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0" y="155448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yes</a:t>
            </a:r>
          </a:p>
        </p:txBody>
      </p:sp>
      <p:sp>
        <p:nvSpPr>
          <p:cNvPr id="14" name="Rectangle 13"/>
          <p:cNvSpPr/>
          <p:nvPr/>
        </p:nvSpPr>
        <p:spPr>
          <a:xfrm>
            <a:off x="4206240" y="1554480"/>
            <a:ext cx="3017520" cy="731520"/>
          </a:xfrm>
          <a:prstGeom prst="rect">
            <a:avLst/>
          </a:prstGeom>
          <a:solidFill>
            <a:srgbClr val="F2F4F6"/>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600"/>
              </a:spcAft>
            </a:pPr>
            <a:r>
              <a:rPr sz="1400" b="1" i="0">
                <a:solidFill>
                  <a:srgbClr val="41464C"/>
                </a:solidFill>
                <a:latin typeface="Arial"/>
              </a:rPr>
              <a:t>Same participant seen more than once?</a:t>
            </a:r>
          </a:p>
        </p:txBody>
      </p:sp>
      <p:cxnSp>
        <p:nvCxnSpPr>
          <p:cNvPr id="15" name="Connector 14"/>
          <p:cNvCxnSpPr/>
          <p:nvPr/>
        </p:nvCxnSpPr>
        <p:spPr>
          <a:xfrm>
            <a:off x="5715000" y="2286000"/>
            <a:ext cx="0" cy="713232"/>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06440" y="242316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no</a:t>
            </a:r>
          </a:p>
        </p:txBody>
      </p:sp>
      <p:sp>
        <p:nvSpPr>
          <p:cNvPr id="17" name="Rectangle 16"/>
          <p:cNvSpPr/>
          <p:nvPr/>
        </p:nvSpPr>
        <p:spPr>
          <a:xfrm>
            <a:off x="4206240" y="3017520"/>
            <a:ext cx="3017520" cy="731520"/>
          </a:xfrm>
          <a:prstGeom prst="rect">
            <a:avLst/>
          </a:prstGeom>
          <a:solidFill>
            <a:srgbClr val="F2F4F6"/>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600"/>
              </a:spcAft>
            </a:pPr>
            <a:r>
              <a:rPr sz="1400" b="1" i="0">
                <a:solidFill>
                  <a:srgbClr val="41464C"/>
                </a:solidFill>
                <a:latin typeface="Arial"/>
              </a:rPr>
              <a:t>Do participants fill it in themselves?</a:t>
            </a:r>
          </a:p>
        </p:txBody>
      </p:sp>
      <p:sp>
        <p:nvSpPr>
          <p:cNvPr id="18" name="Rectangle 17"/>
          <p:cNvSpPr/>
          <p:nvPr/>
        </p:nvSpPr>
        <p:spPr>
          <a:xfrm>
            <a:off x="4526280" y="4480560"/>
            <a:ext cx="2377440" cy="640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400" b="1" i="0">
                <a:solidFill>
                  <a:srgbClr val="FFFFFF"/>
                </a:solidFill>
                <a:latin typeface="Arial"/>
              </a:rPr>
              <a:t>Single survey</a:t>
            </a:r>
          </a:p>
        </p:txBody>
      </p:sp>
      <p:sp>
        <p:nvSpPr>
          <p:cNvPr id="19" name="Rectangle 18"/>
          <p:cNvSpPr/>
          <p:nvPr/>
        </p:nvSpPr>
        <p:spPr>
          <a:xfrm>
            <a:off x="7223760" y="4480560"/>
            <a:ext cx="2377440" cy="64008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400" b="1" i="0">
                <a:solidFill>
                  <a:srgbClr val="FFFFFF"/>
                </a:solidFill>
                <a:latin typeface="Arial"/>
              </a:rPr>
              <a:t>Traditional</a:t>
            </a:r>
          </a:p>
        </p:txBody>
      </p:sp>
      <p:cxnSp>
        <p:nvCxnSpPr>
          <p:cNvPr id="20" name="Connector 19"/>
          <p:cNvCxnSpPr/>
          <p:nvPr/>
        </p:nvCxnSpPr>
        <p:spPr>
          <a:xfrm>
            <a:off x="5120640" y="3749039"/>
            <a:ext cx="365760" cy="713233"/>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0" y="393192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yes</a:t>
            </a:r>
          </a:p>
        </p:txBody>
      </p:sp>
      <p:cxnSp>
        <p:nvCxnSpPr>
          <p:cNvPr id="22" name="Connector 21"/>
          <p:cNvCxnSpPr/>
          <p:nvPr/>
        </p:nvCxnSpPr>
        <p:spPr>
          <a:xfrm>
            <a:off x="6400800" y="3749039"/>
            <a:ext cx="1463040" cy="713233"/>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23760" y="393192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no</a:t>
            </a:r>
          </a:p>
        </p:txBody>
      </p:sp>
      <p:cxnSp>
        <p:nvCxnSpPr>
          <p:cNvPr id="24" name="Connector 23"/>
          <p:cNvCxnSpPr/>
          <p:nvPr/>
        </p:nvCxnSpPr>
        <p:spPr>
          <a:xfrm>
            <a:off x="7223760" y="1920240"/>
            <a:ext cx="640080" cy="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0" y="155448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yes</a:t>
            </a:r>
          </a:p>
        </p:txBody>
      </p:sp>
      <p:sp>
        <p:nvSpPr>
          <p:cNvPr id="26" name="Rectangle 25"/>
          <p:cNvSpPr/>
          <p:nvPr/>
        </p:nvSpPr>
        <p:spPr>
          <a:xfrm>
            <a:off x="7863840" y="1554480"/>
            <a:ext cx="3017520" cy="731520"/>
          </a:xfrm>
          <a:prstGeom prst="rect">
            <a:avLst/>
          </a:prstGeom>
          <a:solidFill>
            <a:srgbClr val="F2F4F6"/>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600"/>
              </a:spcAft>
            </a:pPr>
            <a:r>
              <a:rPr sz="1400" b="1" i="0">
                <a:solidFill>
                  <a:srgbClr val="41464C"/>
                </a:solidFill>
                <a:latin typeface="Arial"/>
              </a:rPr>
              <a:t>Visits on planned dates?</a:t>
            </a:r>
          </a:p>
        </p:txBody>
      </p:sp>
      <p:sp>
        <p:nvSpPr>
          <p:cNvPr id="27" name="Rectangle 26"/>
          <p:cNvSpPr/>
          <p:nvPr/>
        </p:nvSpPr>
        <p:spPr>
          <a:xfrm>
            <a:off x="8183879" y="3017520"/>
            <a:ext cx="237744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400" b="1" i="0">
                <a:solidFill>
                  <a:srgbClr val="FFFFFF"/>
                </a:solidFill>
                <a:latin typeface="Arial"/>
              </a:rPr>
              <a:t>Longitudinal</a:t>
            </a:r>
          </a:p>
        </p:txBody>
      </p:sp>
      <p:cxnSp>
        <p:nvCxnSpPr>
          <p:cNvPr id="28" name="Connector 27"/>
          <p:cNvCxnSpPr/>
          <p:nvPr/>
        </p:nvCxnSpPr>
        <p:spPr>
          <a:xfrm>
            <a:off x="9372600" y="2286000"/>
            <a:ext cx="0" cy="713232"/>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464040" y="2423160"/>
            <a:ext cx="548640" cy="365760"/>
          </a:xfrm>
          <a:prstGeom prst="rect">
            <a:avLst/>
          </a:prstGeom>
          <a:noFill/>
        </p:spPr>
        <p:txBody>
          <a:bodyPr wrap="square" lIns="0" tIns="0" rIns="0" bIns="0" anchor="t"/>
          <a:lstStyle/>
          <a:p>
            <a:pPr algn="l">
              <a:spcAft>
                <a:spcPts val="600"/>
              </a:spcAft>
            </a:pPr>
            <a:r>
              <a:rPr sz="1200" b="1" i="0">
                <a:solidFill>
                  <a:srgbClr val="62676D"/>
                </a:solidFill>
                <a:latin typeface="Arial"/>
              </a:rPr>
              <a:t>no</a:t>
            </a:r>
          </a:p>
        </p:txBody>
      </p:sp>
      <p:sp>
        <p:nvSpPr>
          <p:cNvPr id="30" name="Rectangle 29"/>
          <p:cNvSpPr/>
          <p:nvPr/>
        </p:nvSpPr>
        <p:spPr>
          <a:xfrm>
            <a:off x="9262872" y="3749039"/>
            <a:ext cx="237744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400" b="1" i="0">
                <a:solidFill>
                  <a:srgbClr val="FFFFFF"/>
                </a:solidFill>
                <a:latin typeface="Arial"/>
              </a:rPr>
              <a:t>+ scheduling</a:t>
            </a:r>
          </a:p>
        </p:txBody>
      </p:sp>
      <p:cxnSp>
        <p:nvCxnSpPr>
          <p:cNvPr id="31" name="Connector 30"/>
          <p:cNvCxnSpPr/>
          <p:nvPr/>
        </p:nvCxnSpPr>
        <p:spPr>
          <a:xfrm>
            <a:off x="10881360" y="1920240"/>
            <a:ext cx="0" cy="1810512"/>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72800" y="2423160"/>
            <a:ext cx="640080" cy="365760"/>
          </a:xfrm>
          <a:prstGeom prst="rect">
            <a:avLst/>
          </a:prstGeom>
          <a:noFill/>
        </p:spPr>
        <p:txBody>
          <a:bodyPr wrap="square" lIns="0" tIns="0" rIns="0" bIns="0" anchor="t"/>
          <a:lstStyle/>
          <a:p>
            <a:pPr algn="l">
              <a:spcAft>
                <a:spcPts val="600"/>
              </a:spcAft>
            </a:pPr>
            <a:r>
              <a:rPr sz="1200" b="1" i="0">
                <a:solidFill>
                  <a:srgbClr val="62676D"/>
                </a:solidFill>
                <a:latin typeface="Arial"/>
              </a:rPr>
              <a:t>yes</a:t>
            </a:r>
          </a:p>
        </p:txBody>
      </p:sp>
      <p:sp>
        <p:nvSpPr>
          <p:cNvPr id="33" name="Rectangle 32"/>
          <p:cNvSpPr/>
          <p:nvPr/>
        </p:nvSpPr>
        <p:spPr>
          <a:xfrm>
            <a:off x="548640" y="539496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48640" y="539496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E787_C8102E.png"/>
          <p:cNvPicPr>
            <a:picLocks noChangeAspect="1"/>
          </p:cNvPicPr>
          <p:nvPr/>
        </p:nvPicPr>
        <p:blipFill>
          <a:blip r:embed="rId3"/>
          <a:stretch>
            <a:fillRect/>
          </a:stretch>
        </p:blipFill>
        <p:spPr>
          <a:xfrm>
            <a:off x="777240" y="5486400"/>
            <a:ext cx="365760" cy="365760"/>
          </a:xfrm>
          <a:prstGeom prst="rect">
            <a:avLst/>
          </a:prstGeom>
        </p:spPr>
      </p:pic>
      <p:sp>
        <p:nvSpPr>
          <p:cNvPr id="36" name="TextBox 35"/>
          <p:cNvSpPr txBox="1"/>
          <p:nvPr/>
        </p:nvSpPr>
        <p:spPr>
          <a:xfrm>
            <a:off x="1280160" y="539496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TBCARE: </a:t>
            </a:r>
            <a:r>
              <a:rPr sz="1500" b="1" i="0">
                <a:solidFill>
                  <a:srgbClr val="C8102E"/>
                </a:solidFill>
                <a:latin typeface="Arial"/>
              </a:rPr>
              <a:t>longitudinal</a:t>
            </a:r>
            <a:r>
              <a:rPr sz="1500" b="0" i="0">
                <a:solidFill>
                  <a:srgbClr val="222222"/>
                </a:solidFill>
                <a:latin typeface="Arial"/>
              </a:rPr>
              <a:t> (4 visits), with surveys on for the quality-of-life form.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Traditional and single-survey projects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3 of 6: Choosing a project type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23</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Traditional project (3 min)  ·  Single survey project (5 min)</a:t>
            </a:r>
          </a:p>
        </p:txBody>
      </p:sp>
      <p:sp>
        <p:nvSpPr>
          <p:cNvPr id="10" name="Rectangle 9"/>
          <p:cNvSpPr/>
          <p:nvPr/>
        </p:nvSpPr>
        <p:spPr>
          <a:xfrm>
            <a:off x="548640" y="1463040"/>
            <a:ext cx="542239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0E3_FFFFFF.png"/>
          <p:cNvPicPr>
            <a:picLocks noChangeAspect="1"/>
          </p:cNvPicPr>
          <p:nvPr/>
        </p:nvPicPr>
        <p:blipFill>
          <a:blip r:embed="rId4"/>
          <a:stretch>
            <a:fillRect/>
          </a:stretch>
        </p:blipFill>
        <p:spPr>
          <a:xfrm>
            <a:off x="658368" y="1527048"/>
            <a:ext cx="329184" cy="329184"/>
          </a:xfrm>
          <a:prstGeom prst="rect">
            <a:avLst/>
          </a:prstGeom>
        </p:spPr>
      </p:pic>
      <p:sp>
        <p:nvSpPr>
          <p:cNvPr id="12" name="TextBox 11"/>
          <p:cNvSpPr txBox="1"/>
          <p:nvPr/>
        </p:nvSpPr>
        <p:spPr>
          <a:xfrm>
            <a:off x="1097280"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Traditional</a:t>
            </a:r>
          </a:p>
        </p:txBody>
      </p:sp>
      <p:sp>
        <p:nvSpPr>
          <p:cNvPr id="13" name="Rectangle 12"/>
          <p:cNvSpPr/>
          <p:nvPr/>
        </p:nvSpPr>
        <p:spPr>
          <a:xfrm>
            <a:off x="548640" y="1920240"/>
            <a:ext cx="5422392" cy="2834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5148072" cy="2651760"/>
          </a:xfrm>
          <a:prstGeom prst="rect">
            <a:avLst/>
          </a:prstGeom>
          <a:noFill/>
        </p:spPr>
        <p:txBody>
          <a:bodyPr wrap="square" lIns="0" tIns="0" rIns="0" bIns="0" anchor="t"/>
          <a:lstStyle/>
          <a:p>
            <a:pPr algn="l">
              <a:spcAft>
                <a:spcPts val="400"/>
              </a:spcAft>
            </a:pPr>
            <a:r>
              <a:rPr sz="1600" b="0" i="0">
                <a:solidFill>
                  <a:srgbClr val="222222"/>
                </a:solidFill>
                <a:latin typeface="Arial"/>
              </a:rPr>
              <a:t>Staff enter data on forms</a:t>
            </a:r>
          </a:p>
          <a:p>
            <a:pPr algn="l">
              <a:spcAft>
                <a:spcPts val="400"/>
              </a:spcAft>
            </a:pPr>
            <a:r>
              <a:rPr sz="1600" b="0" i="0">
                <a:solidFill>
                  <a:srgbClr val="222222"/>
                </a:solidFill>
                <a:latin typeface="Arial"/>
              </a:rPr>
              <a:t>One time point</a:t>
            </a:r>
          </a:p>
          <a:p>
            <a:pPr algn="l">
              <a:spcAft>
                <a:spcPts val="400"/>
              </a:spcAft>
            </a:pPr>
            <a:r>
              <a:rPr sz="1600" b="0" i="0">
                <a:solidFill>
                  <a:srgbClr val="222222"/>
                </a:solidFill>
                <a:latin typeface="Arial"/>
              </a:rPr>
              <a:t>e.g., cross-sectional survey, chart review</a:t>
            </a:r>
          </a:p>
          <a:p>
            <a:pPr algn="l">
              <a:spcAft>
                <a:spcPts val="400"/>
              </a:spcAft>
            </a:pPr>
            <a:r>
              <a:rPr sz="1600" b="1" i="0">
                <a:solidFill>
                  <a:srgbClr val="1E88C8"/>
                </a:solidFill>
                <a:latin typeface="Arial"/>
              </a:rPr>
              <a:t>Record Status Dashboard</a:t>
            </a:r>
            <a:r>
              <a:rPr sz="1600" b="0" i="0">
                <a:solidFill>
                  <a:srgbClr val="222222"/>
                </a:solidFill>
                <a:latin typeface="Arial"/>
              </a:rPr>
              <a:t> shows progress</a:t>
            </a:r>
          </a:p>
        </p:txBody>
      </p:sp>
      <p:sp>
        <p:nvSpPr>
          <p:cNvPr id="15" name="Rectangle 14"/>
          <p:cNvSpPr/>
          <p:nvPr/>
        </p:nvSpPr>
        <p:spPr>
          <a:xfrm>
            <a:off x="6217920" y="1463040"/>
            <a:ext cx="5422392"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BD_FFFFFF.png"/>
          <p:cNvPicPr>
            <a:picLocks noChangeAspect="1"/>
          </p:cNvPicPr>
          <p:nvPr/>
        </p:nvPicPr>
        <p:blipFill>
          <a:blip r:embed="rId5"/>
          <a:stretch>
            <a:fillRect/>
          </a:stretch>
        </p:blipFill>
        <p:spPr>
          <a:xfrm>
            <a:off x="6327648" y="1527048"/>
            <a:ext cx="329184" cy="329184"/>
          </a:xfrm>
          <a:prstGeom prst="rect">
            <a:avLst/>
          </a:prstGeom>
        </p:spPr>
      </p:pic>
      <p:sp>
        <p:nvSpPr>
          <p:cNvPr id="17" name="TextBox 16"/>
          <p:cNvSpPr txBox="1"/>
          <p:nvPr/>
        </p:nvSpPr>
        <p:spPr>
          <a:xfrm>
            <a:off x="6766559"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Single survey</a:t>
            </a:r>
          </a:p>
        </p:txBody>
      </p:sp>
      <p:sp>
        <p:nvSpPr>
          <p:cNvPr id="18" name="Rectangle 17"/>
          <p:cNvSpPr/>
          <p:nvPr/>
        </p:nvSpPr>
        <p:spPr>
          <a:xfrm>
            <a:off x="6217920" y="1920240"/>
            <a:ext cx="5422392" cy="2834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29968"/>
            <a:ext cx="5148072" cy="2651760"/>
          </a:xfrm>
          <a:prstGeom prst="rect">
            <a:avLst/>
          </a:prstGeom>
          <a:noFill/>
        </p:spPr>
        <p:txBody>
          <a:bodyPr wrap="square" lIns="0" tIns="0" rIns="0" bIns="0" anchor="t"/>
          <a:lstStyle/>
          <a:p>
            <a:pPr algn="l">
              <a:spcAft>
                <a:spcPts val="400"/>
              </a:spcAft>
            </a:pPr>
            <a:r>
              <a:rPr sz="1600" b="0" i="0">
                <a:solidFill>
                  <a:srgbClr val="222222"/>
                </a:solidFill>
                <a:latin typeface="Arial"/>
              </a:rPr>
              <a:t>Participants answer online</a:t>
            </a:r>
          </a:p>
          <a:p>
            <a:pPr algn="l">
              <a:spcAft>
                <a:spcPts val="400"/>
              </a:spcAft>
            </a:pPr>
            <a:r>
              <a:rPr sz="1600" b="0" i="0">
                <a:solidFill>
                  <a:srgbClr val="222222"/>
                </a:solidFill>
                <a:latin typeface="Arial"/>
              </a:rPr>
              <a:t>Public link or QR code</a:t>
            </a:r>
          </a:p>
          <a:p>
            <a:pPr algn="l">
              <a:spcAft>
                <a:spcPts val="400"/>
              </a:spcAft>
            </a:pPr>
            <a:r>
              <a:rPr sz="1600" b="0" i="0">
                <a:solidFill>
                  <a:srgbClr val="222222"/>
                </a:solidFill>
                <a:latin typeface="Arial"/>
              </a:rPr>
              <a:t>e.g., anonymous staff survey</a:t>
            </a:r>
          </a:p>
          <a:p>
            <a:pPr algn="l">
              <a:spcAft>
                <a:spcPts val="400"/>
              </a:spcAft>
            </a:pPr>
            <a:r>
              <a:rPr sz="1600" b="1" i="0">
                <a:solidFill>
                  <a:srgbClr val="C8102E"/>
                </a:solidFill>
                <a:latin typeface="Arial"/>
              </a:rPr>
              <a:t>Public link = no identity check</a:t>
            </a:r>
          </a:p>
        </p:txBody>
      </p:sp>
      <p:sp>
        <p:nvSpPr>
          <p:cNvPr id="20" name="Rectangle 19"/>
          <p:cNvSpPr/>
          <p:nvPr/>
        </p:nvSpPr>
        <p:spPr>
          <a:xfrm>
            <a:off x="548640" y="50292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50292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716_1E88C8.png"/>
          <p:cNvPicPr>
            <a:picLocks noChangeAspect="1"/>
          </p:cNvPicPr>
          <p:nvPr/>
        </p:nvPicPr>
        <p:blipFill>
          <a:blip r:embed="rId6"/>
          <a:stretch>
            <a:fillRect/>
          </a:stretch>
        </p:blipFill>
        <p:spPr>
          <a:xfrm>
            <a:off x="777240" y="5120640"/>
            <a:ext cx="365760" cy="365760"/>
          </a:xfrm>
          <a:prstGeom prst="rect">
            <a:avLst/>
          </a:prstGeom>
        </p:spPr>
      </p:pic>
      <p:sp>
        <p:nvSpPr>
          <p:cNvPr id="23" name="TextBox 22"/>
          <p:cNvSpPr txBox="1"/>
          <p:nvPr/>
        </p:nvSpPr>
        <p:spPr>
          <a:xfrm>
            <a:off x="1280160" y="50292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Identified participants? Use the </a:t>
            </a:r>
            <a:r>
              <a:rPr sz="1500" b="1" i="0">
                <a:solidFill>
                  <a:srgbClr val="1E88C8"/>
                </a:solidFill>
                <a:latin typeface="Arial"/>
              </a:rPr>
              <a:t>participant list</a:t>
            </a:r>
            <a:r>
              <a:rPr sz="1500" b="0" i="0">
                <a:solidFill>
                  <a:srgbClr val="222222"/>
                </a:solidFill>
                <a:latin typeface="Arial"/>
              </a:rPr>
              <a:t>, not the public link.</a:t>
            </a:r>
          </a:p>
        </p:txBody>
      </p:sp>
      <p:sp>
        <p:nvSpPr>
          <p:cNvPr id="24" name="TextBox 23"/>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QR: quick response (code)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Longitudinal, scheduling and operations projects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3 of 6: Choosing a project type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24</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Longitudinal project (3 min)  ·  Longitudinal + scheduling (3 min)  ·  Operations project (2 min)</a:t>
            </a:r>
          </a:p>
        </p:txBody>
      </p:sp>
      <p:sp>
        <p:nvSpPr>
          <p:cNvPr id="10" name="Rectangle 9"/>
          <p:cNvSpPr/>
          <p:nvPr/>
        </p:nvSpPr>
        <p:spPr>
          <a:xfrm>
            <a:off x="548640"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787_FFFFFF.png"/>
          <p:cNvPicPr>
            <a:picLocks noChangeAspect="1"/>
          </p:cNvPicPr>
          <p:nvPr/>
        </p:nvPicPr>
        <p:blipFill>
          <a:blip r:embed="rId4"/>
          <a:stretch>
            <a:fillRect/>
          </a:stretch>
        </p:blipFill>
        <p:spPr>
          <a:xfrm>
            <a:off x="658368" y="1527048"/>
            <a:ext cx="329184" cy="329184"/>
          </a:xfrm>
          <a:prstGeom prst="rect">
            <a:avLst/>
          </a:prstGeom>
        </p:spPr>
      </p:pic>
      <p:sp>
        <p:nvSpPr>
          <p:cNvPr id="12" name="TextBox 11"/>
          <p:cNvSpPr txBox="1"/>
          <p:nvPr/>
        </p:nvSpPr>
        <p:spPr>
          <a:xfrm>
            <a:off x="1097280" y="1463040"/>
            <a:ext cx="2880360" cy="457200"/>
          </a:xfrm>
          <a:prstGeom prst="rect">
            <a:avLst/>
          </a:prstGeom>
          <a:noFill/>
        </p:spPr>
        <p:txBody>
          <a:bodyPr wrap="square" lIns="0" tIns="0" rIns="0" bIns="0" anchor="ctr"/>
          <a:lstStyle/>
          <a:p>
            <a:pPr algn="l">
              <a:spcAft>
                <a:spcPts val="600"/>
              </a:spcAft>
            </a:pPr>
            <a:r>
              <a:rPr sz="1800" b="1" i="0">
                <a:solidFill>
                  <a:srgbClr val="FFFFFF"/>
                </a:solidFill>
                <a:latin typeface="Arial"/>
              </a:rPr>
              <a:t>Longitudinal</a:t>
            </a:r>
          </a:p>
        </p:txBody>
      </p:sp>
      <p:sp>
        <p:nvSpPr>
          <p:cNvPr id="13" name="Rectangle 12"/>
          <p:cNvSpPr/>
          <p:nvPr/>
        </p:nvSpPr>
        <p:spPr>
          <a:xfrm>
            <a:off x="548640" y="1920240"/>
            <a:ext cx="3520440" cy="26517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3246120" cy="2468880"/>
          </a:xfrm>
          <a:prstGeom prst="rect">
            <a:avLst/>
          </a:prstGeom>
          <a:noFill/>
        </p:spPr>
        <p:txBody>
          <a:bodyPr wrap="square" lIns="0" tIns="0" rIns="0" bIns="0" anchor="t"/>
          <a:lstStyle/>
          <a:p>
            <a:pPr marL="256032" indent="-256032" algn="l">
              <a:spcAft>
                <a:spcPts val="400"/>
              </a:spcAft>
              <a:buClr>
                <a:srgbClr val="C8102E"/>
              </a:buClr>
              <a:buSzPct val="75000"/>
              <a:buFont typeface="Arial"/>
              <a:buChar char="■"/>
            </a:pPr>
            <a:r>
              <a:rPr sz="1600" b="0" i="0">
                <a:solidFill>
                  <a:srgbClr val="222222"/>
                </a:solidFill>
                <a:latin typeface="Arial"/>
              </a:rPr>
              <a:t>Events = visits</a:t>
            </a:r>
          </a:p>
          <a:p>
            <a:pPr marL="256032" indent="-256032" algn="l">
              <a:spcAft>
                <a:spcPts val="400"/>
              </a:spcAft>
              <a:buClr>
                <a:srgbClr val="C8102E"/>
              </a:buClr>
              <a:buSzPct val="75000"/>
              <a:buFont typeface="Arial"/>
              <a:buChar char="■"/>
            </a:pPr>
            <a:r>
              <a:rPr sz="1600" b="0" i="0">
                <a:solidFill>
                  <a:srgbClr val="222222"/>
                </a:solidFill>
                <a:latin typeface="Arial"/>
              </a:rPr>
              <a:t>Same form at several events</a:t>
            </a:r>
          </a:p>
          <a:p>
            <a:pPr marL="256032" indent="-256032" algn="l">
              <a:spcAft>
                <a:spcPts val="400"/>
              </a:spcAft>
              <a:buClr>
                <a:srgbClr val="C8102E"/>
              </a:buClr>
              <a:buSzPct val="75000"/>
              <a:buFont typeface="Arial"/>
              <a:buChar char="■"/>
            </a:pPr>
            <a:r>
              <a:rPr sz="1600" b="0" i="0">
                <a:solidFill>
                  <a:srgbClr val="222222"/>
                </a:solidFill>
                <a:latin typeface="Arial"/>
              </a:rPr>
              <a:t>Cohorts, trials, follow-up</a:t>
            </a:r>
          </a:p>
        </p:txBody>
      </p:sp>
      <p:sp>
        <p:nvSpPr>
          <p:cNvPr id="15" name="Rectangle 14"/>
          <p:cNvSpPr/>
          <p:nvPr/>
        </p:nvSpPr>
        <p:spPr>
          <a:xfrm>
            <a:off x="4297679"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23_FFFFFF.png"/>
          <p:cNvPicPr>
            <a:picLocks noChangeAspect="1"/>
          </p:cNvPicPr>
          <p:nvPr/>
        </p:nvPicPr>
        <p:blipFill>
          <a:blip r:embed="rId5"/>
          <a:stretch>
            <a:fillRect/>
          </a:stretch>
        </p:blipFill>
        <p:spPr>
          <a:xfrm>
            <a:off x="4407407" y="1527048"/>
            <a:ext cx="329184" cy="329184"/>
          </a:xfrm>
          <a:prstGeom prst="rect">
            <a:avLst/>
          </a:prstGeom>
        </p:spPr>
      </p:pic>
      <p:sp>
        <p:nvSpPr>
          <p:cNvPr id="17" name="TextBox 16"/>
          <p:cNvSpPr txBox="1"/>
          <p:nvPr/>
        </p:nvSpPr>
        <p:spPr>
          <a:xfrm>
            <a:off x="4846319" y="1463040"/>
            <a:ext cx="2880360" cy="457200"/>
          </a:xfrm>
          <a:prstGeom prst="rect">
            <a:avLst/>
          </a:prstGeom>
          <a:noFill/>
        </p:spPr>
        <p:txBody>
          <a:bodyPr wrap="square" lIns="0" tIns="0" rIns="0" bIns="0" anchor="ctr"/>
          <a:lstStyle/>
          <a:p>
            <a:pPr algn="l">
              <a:spcAft>
                <a:spcPts val="600"/>
              </a:spcAft>
            </a:pPr>
            <a:r>
              <a:rPr sz="1800" b="1" i="0">
                <a:solidFill>
                  <a:srgbClr val="FFFFFF"/>
                </a:solidFill>
                <a:latin typeface="Arial"/>
              </a:rPr>
              <a:t>+ Scheduling</a:t>
            </a:r>
          </a:p>
        </p:txBody>
      </p:sp>
      <p:sp>
        <p:nvSpPr>
          <p:cNvPr id="18" name="Rectangle 17"/>
          <p:cNvSpPr/>
          <p:nvPr/>
        </p:nvSpPr>
        <p:spPr>
          <a:xfrm>
            <a:off x="4297679" y="1920240"/>
            <a:ext cx="3520440" cy="26517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40" y="2029968"/>
            <a:ext cx="3246120" cy="2468880"/>
          </a:xfrm>
          <a:prstGeom prst="rect">
            <a:avLst/>
          </a:prstGeom>
          <a:noFill/>
        </p:spPr>
        <p:txBody>
          <a:bodyPr wrap="square" lIns="0" tIns="0" rIns="0" bIns="0" anchor="t"/>
          <a:lstStyle/>
          <a:p>
            <a:pPr marL="256032" indent="-256032" algn="l">
              <a:spcAft>
                <a:spcPts val="400"/>
              </a:spcAft>
              <a:buClr>
                <a:srgbClr val="C8102E"/>
              </a:buClr>
              <a:buSzPct val="75000"/>
              <a:buFont typeface="Arial"/>
              <a:buChar char="■"/>
            </a:pPr>
            <a:r>
              <a:rPr sz="1600" b="0" i="0">
                <a:solidFill>
                  <a:srgbClr val="222222"/>
                </a:solidFill>
                <a:latin typeface="Arial"/>
              </a:rPr>
              <a:t>Planned dates and windows</a:t>
            </a:r>
          </a:p>
          <a:p>
            <a:pPr marL="256032" indent="-256032" algn="l">
              <a:spcAft>
                <a:spcPts val="400"/>
              </a:spcAft>
              <a:buClr>
                <a:srgbClr val="C8102E"/>
              </a:buClr>
              <a:buSzPct val="75000"/>
              <a:buFont typeface="Arial"/>
              <a:buChar char="■"/>
            </a:pPr>
            <a:r>
              <a:rPr sz="1600" b="0" i="0">
                <a:solidFill>
                  <a:srgbClr val="222222"/>
                </a:solidFill>
                <a:latin typeface="Arial"/>
              </a:rPr>
              <a:t>A schedule per participant</a:t>
            </a:r>
          </a:p>
          <a:p>
            <a:pPr marL="256032" indent="-256032" algn="l">
              <a:spcAft>
                <a:spcPts val="400"/>
              </a:spcAft>
              <a:buClr>
                <a:srgbClr val="C8102E"/>
              </a:buClr>
              <a:buSzPct val="75000"/>
              <a:buFont typeface="Arial"/>
              <a:buChar char="■"/>
            </a:pPr>
            <a:r>
              <a:rPr sz="1600" b="0" i="0">
                <a:solidFill>
                  <a:srgbClr val="222222"/>
                </a:solidFill>
                <a:latin typeface="Arial"/>
              </a:rPr>
              <a:t>Shown in the Calendar</a:t>
            </a:r>
          </a:p>
        </p:txBody>
      </p:sp>
      <p:sp>
        <p:nvSpPr>
          <p:cNvPr id="20" name="Rectangle 19"/>
          <p:cNvSpPr/>
          <p:nvPr/>
        </p:nvSpPr>
        <p:spPr>
          <a:xfrm>
            <a:off x="8046719" y="1463040"/>
            <a:ext cx="3520440" cy="45720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713_FFFFFF.png"/>
          <p:cNvPicPr>
            <a:picLocks noChangeAspect="1"/>
          </p:cNvPicPr>
          <p:nvPr/>
        </p:nvPicPr>
        <p:blipFill>
          <a:blip r:embed="rId6"/>
          <a:stretch>
            <a:fillRect/>
          </a:stretch>
        </p:blipFill>
        <p:spPr>
          <a:xfrm>
            <a:off x="8156447" y="1527048"/>
            <a:ext cx="329184" cy="329184"/>
          </a:xfrm>
          <a:prstGeom prst="rect">
            <a:avLst/>
          </a:prstGeom>
        </p:spPr>
      </p:pic>
      <p:sp>
        <p:nvSpPr>
          <p:cNvPr id="22" name="TextBox 21"/>
          <p:cNvSpPr txBox="1"/>
          <p:nvPr/>
        </p:nvSpPr>
        <p:spPr>
          <a:xfrm>
            <a:off x="8595359" y="1463040"/>
            <a:ext cx="2880360" cy="457200"/>
          </a:xfrm>
          <a:prstGeom prst="rect">
            <a:avLst/>
          </a:prstGeom>
          <a:noFill/>
        </p:spPr>
        <p:txBody>
          <a:bodyPr wrap="square" lIns="0" tIns="0" rIns="0" bIns="0" anchor="ctr"/>
          <a:lstStyle/>
          <a:p>
            <a:pPr algn="l">
              <a:spcAft>
                <a:spcPts val="600"/>
              </a:spcAft>
            </a:pPr>
            <a:r>
              <a:rPr sz="1800" b="1" i="0">
                <a:solidFill>
                  <a:srgbClr val="FFFFFF"/>
                </a:solidFill>
                <a:latin typeface="Arial"/>
              </a:rPr>
              <a:t>Operations</a:t>
            </a:r>
          </a:p>
        </p:txBody>
      </p:sp>
      <p:sp>
        <p:nvSpPr>
          <p:cNvPr id="23" name="Rectangle 22"/>
          <p:cNvSpPr/>
          <p:nvPr/>
        </p:nvSpPr>
        <p:spPr>
          <a:xfrm>
            <a:off x="8046719" y="1920240"/>
            <a:ext cx="3520440" cy="265176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83879" y="2029968"/>
            <a:ext cx="3246120" cy="2468880"/>
          </a:xfrm>
          <a:prstGeom prst="rect">
            <a:avLst/>
          </a:prstGeom>
          <a:noFill/>
        </p:spPr>
        <p:txBody>
          <a:bodyPr wrap="square" lIns="0" tIns="0" rIns="0" bIns="0" anchor="t"/>
          <a:lstStyle/>
          <a:p>
            <a:pPr marL="256032" indent="-256032" algn="l">
              <a:spcAft>
                <a:spcPts val="400"/>
              </a:spcAft>
              <a:buClr>
                <a:srgbClr val="41464C"/>
              </a:buClr>
              <a:buSzPct val="75000"/>
              <a:buFont typeface="Arial"/>
              <a:buChar char="■"/>
            </a:pPr>
            <a:r>
              <a:rPr sz="1600" b="0" i="0">
                <a:solidFill>
                  <a:srgbClr val="222222"/>
                </a:solidFill>
                <a:latin typeface="Arial"/>
              </a:rPr>
              <a:t>Not research data</a:t>
            </a:r>
          </a:p>
          <a:p>
            <a:pPr marL="256032" indent="-256032" algn="l">
              <a:spcAft>
                <a:spcPts val="400"/>
              </a:spcAft>
              <a:buClr>
                <a:srgbClr val="41464C"/>
              </a:buClr>
              <a:buSzPct val="75000"/>
              <a:buFont typeface="Arial"/>
              <a:buChar char="■"/>
            </a:pPr>
            <a:r>
              <a:rPr sz="1600" b="0" i="0">
                <a:solidFill>
                  <a:srgbClr val="222222"/>
                </a:solidFill>
                <a:latin typeface="Arial"/>
              </a:rPr>
              <a:t>Tracking, registers, requests</a:t>
            </a:r>
          </a:p>
          <a:p>
            <a:pPr marL="256032" indent="-256032" algn="l">
              <a:spcAft>
                <a:spcPts val="400"/>
              </a:spcAft>
              <a:buClr>
                <a:srgbClr val="41464C"/>
              </a:buClr>
              <a:buSzPct val="75000"/>
              <a:buFont typeface="Arial"/>
              <a:buChar char="■"/>
            </a:pPr>
            <a:r>
              <a:rPr sz="1600" b="0" i="0">
                <a:solidFill>
                  <a:srgbClr val="222222"/>
                </a:solidFill>
                <a:latin typeface="Arial"/>
              </a:rPr>
              <a:t>e.g., sample shipments</a:t>
            </a:r>
          </a:p>
        </p:txBody>
      </p:sp>
      <p:sp>
        <p:nvSpPr>
          <p:cNvPr id="25" name="Rectangle 24"/>
          <p:cNvSpPr/>
          <p:nvPr/>
        </p:nvSpPr>
        <p:spPr>
          <a:xfrm>
            <a:off x="548640" y="489204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 y="489204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E7BA_C8102E.png"/>
          <p:cNvPicPr>
            <a:picLocks noChangeAspect="1"/>
          </p:cNvPicPr>
          <p:nvPr/>
        </p:nvPicPr>
        <p:blipFill>
          <a:blip r:embed="rId7"/>
          <a:stretch>
            <a:fillRect/>
          </a:stretch>
        </p:blipFill>
        <p:spPr>
          <a:xfrm>
            <a:off x="777240" y="4983479"/>
            <a:ext cx="365760" cy="365760"/>
          </a:xfrm>
          <a:prstGeom prst="rect">
            <a:avLst/>
          </a:prstGeom>
        </p:spPr>
      </p:pic>
      <p:sp>
        <p:nvSpPr>
          <p:cNvPr id="28" name="TextBox 27"/>
          <p:cNvSpPr txBox="1"/>
          <p:nvPr/>
        </p:nvSpPr>
        <p:spPr>
          <a:xfrm>
            <a:off x="1280160" y="48920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Switch on longitudinal </a:t>
            </a:r>
            <a:r>
              <a:rPr sz="1500" b="1" i="0">
                <a:solidFill>
                  <a:srgbClr val="C8102E"/>
                </a:solidFill>
                <a:latin typeface="Arial"/>
              </a:rPr>
              <a:t>before</a:t>
            </a:r>
            <a:r>
              <a:rPr sz="1500" b="0" i="0">
                <a:solidFill>
                  <a:srgbClr val="222222"/>
                </a:solidFill>
                <a:latin typeface="Arial"/>
              </a:rPr>
              <a:t> collecting data: changing later is complex.</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25</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Oval 7"/>
          <p:cNvSpPr/>
          <p:nvPr/>
        </p:nvSpPr>
        <p:spPr>
          <a:xfrm>
            <a:off x="777240" y="1234440"/>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417320" y="1197864"/>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Getting started</a:t>
            </a:r>
          </a:p>
        </p:txBody>
      </p:sp>
      <p:sp>
        <p:nvSpPr>
          <p:cNvPr id="10" name="Oval 9"/>
          <p:cNvSpPr/>
          <p:nvPr/>
        </p:nvSpPr>
        <p:spPr>
          <a:xfrm>
            <a:off x="777240" y="1984248"/>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1" name="TextBox 10"/>
          <p:cNvSpPr txBox="1"/>
          <p:nvPr/>
        </p:nvSpPr>
        <p:spPr>
          <a:xfrm>
            <a:off x="1417320" y="1947672"/>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Building instruments</a:t>
            </a:r>
          </a:p>
        </p:txBody>
      </p:sp>
      <p:sp>
        <p:nvSpPr>
          <p:cNvPr id="12" name="Oval 11"/>
          <p:cNvSpPr/>
          <p:nvPr/>
        </p:nvSpPr>
        <p:spPr>
          <a:xfrm>
            <a:off x="777240" y="2734056"/>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3</a:t>
            </a:r>
          </a:p>
        </p:txBody>
      </p:sp>
      <p:sp>
        <p:nvSpPr>
          <p:cNvPr id="13" name="TextBox 12"/>
          <p:cNvSpPr txBox="1"/>
          <p:nvPr/>
        </p:nvSpPr>
        <p:spPr>
          <a:xfrm>
            <a:off x="1417320" y="2697480"/>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Choosing a project type</a:t>
            </a:r>
          </a:p>
        </p:txBody>
      </p:sp>
      <p:sp>
        <p:nvSpPr>
          <p:cNvPr id="14" name="Rectangle 13"/>
          <p:cNvSpPr/>
          <p:nvPr/>
        </p:nvSpPr>
        <p:spPr>
          <a:xfrm>
            <a:off x="548640" y="3392424"/>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392424"/>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3483864"/>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4</a:t>
            </a:r>
          </a:p>
        </p:txBody>
      </p:sp>
      <p:sp>
        <p:nvSpPr>
          <p:cNvPr id="17" name="TextBox 16"/>
          <p:cNvSpPr txBox="1"/>
          <p:nvPr/>
        </p:nvSpPr>
        <p:spPr>
          <a:xfrm>
            <a:off x="1417320" y="3447288"/>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Longitudinal and repeating data</a:t>
            </a:r>
          </a:p>
        </p:txBody>
      </p:sp>
      <p:sp>
        <p:nvSpPr>
          <p:cNvPr id="18" name="Oval 17"/>
          <p:cNvSpPr/>
          <p:nvPr/>
        </p:nvSpPr>
        <p:spPr>
          <a:xfrm>
            <a:off x="777240" y="4233672"/>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5</a:t>
            </a:r>
          </a:p>
        </p:txBody>
      </p:sp>
      <p:sp>
        <p:nvSpPr>
          <p:cNvPr id="19" name="TextBox 18"/>
          <p:cNvSpPr txBox="1"/>
          <p:nvPr/>
        </p:nvSpPr>
        <p:spPr>
          <a:xfrm>
            <a:off x="1417320" y="4197096"/>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Data entry, quality and multi-site work</a:t>
            </a:r>
          </a:p>
        </p:txBody>
      </p:sp>
      <p:sp>
        <p:nvSpPr>
          <p:cNvPr id="20" name="Oval 19"/>
          <p:cNvSpPr/>
          <p:nvPr/>
        </p:nvSpPr>
        <p:spPr>
          <a:xfrm>
            <a:off x="777240" y="4983479"/>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4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Longitudinal and repeating data</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Arms and events</a:t>
            </a:r>
          </a:p>
          <a:p>
            <a:pPr marL="256032" indent="-256032" algn="l">
              <a:spcAft>
                <a:spcPts val="800"/>
              </a:spcAft>
              <a:buClr>
                <a:srgbClr val="1E88C8"/>
              </a:buClr>
              <a:buSzPct val="75000"/>
              <a:buFont typeface="Arial"/>
              <a:buChar char="■"/>
            </a:pPr>
            <a:r>
              <a:rPr sz="1700" b="0" i="0">
                <a:solidFill>
                  <a:srgbClr val="222222"/>
                </a:solidFill>
                <a:latin typeface="Arial"/>
              </a:rPr>
              <a:t>Designating instruments for events</a:t>
            </a:r>
          </a:p>
          <a:p>
            <a:pPr marL="256032" indent="-256032" algn="l">
              <a:spcAft>
                <a:spcPts val="800"/>
              </a:spcAft>
              <a:buClr>
                <a:srgbClr val="1E88C8"/>
              </a:buClr>
              <a:buSzPct val="75000"/>
              <a:buFont typeface="Arial"/>
              <a:buChar char="■"/>
            </a:pPr>
            <a:r>
              <a:rPr sz="1700" b="0" i="0">
                <a:solidFill>
                  <a:srgbClr val="222222"/>
                </a:solidFill>
                <a:latin typeface="Arial"/>
              </a:rPr>
              <a:t>Repeating instruments and repeating events</a:t>
            </a:r>
          </a:p>
          <a:p>
            <a:pPr marL="256032" indent="-256032" algn="l">
              <a:spcAft>
                <a:spcPts val="800"/>
              </a:spcAft>
              <a:buClr>
                <a:srgbClr val="1E88C8"/>
              </a:buClr>
              <a:buSzPct val="75000"/>
              <a:buFont typeface="Arial"/>
              <a:buChar char="■"/>
            </a:pPr>
            <a:r>
              <a:rPr sz="1700" b="0" i="0">
                <a:solidFill>
                  <a:srgbClr val="222222"/>
                </a:solidFill>
                <a:latin typeface="Arial"/>
              </a:rPr>
              <a:t>Scheduling and the Calendar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Arms and events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4 of 6: Longitudinal and repeating data</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26</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Defining longitudinal events (5 min)</a:t>
            </a:r>
          </a:p>
        </p:txBody>
      </p:sp>
      <p:sp>
        <p:nvSpPr>
          <p:cNvPr id="10" name="Rectangle 9"/>
          <p:cNvSpPr/>
          <p:nvPr/>
        </p:nvSpPr>
        <p:spPr>
          <a:xfrm>
            <a:off x="548640" y="1417320"/>
            <a:ext cx="6949440" cy="329184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694944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6729983"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5943600" cy="329184"/>
          </a:xfrm>
          <a:prstGeom prst="rect">
            <a:avLst/>
          </a:prstGeom>
          <a:noFill/>
        </p:spPr>
        <p:txBody>
          <a:bodyPr wrap="square" lIns="0" tIns="0" rIns="0" bIns="0" anchor="ctr"/>
          <a:lstStyle/>
          <a:p>
            <a:pPr algn="r">
              <a:spcAft>
                <a:spcPts val="600"/>
              </a:spcAft>
            </a:pPr>
            <a:r>
              <a:rPr sz="900" b="0" i="0">
                <a:solidFill>
                  <a:srgbClr val="F3D9DC"/>
                </a:solidFill>
                <a:latin typeface="Arial"/>
              </a:rPr>
              <a:t>Define My Events  ·  Arm 1</a:t>
            </a:r>
          </a:p>
        </p:txBody>
      </p:sp>
      <p:graphicFrame>
        <p:nvGraphicFramePr>
          <p:cNvPr id="14" name="Table 13"/>
          <p:cNvGraphicFramePr>
            <a:graphicFrameLocks noGrp="1"/>
          </p:cNvGraphicFramePr>
          <p:nvPr/>
        </p:nvGraphicFramePr>
        <p:xfrm>
          <a:off x="685800" y="1965960"/>
          <a:ext cx="6675119" cy="205740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651759">
                  <a:extLst>
                    <a:ext uri="{9D8B030D-6E8A-4147-A177-3AD203B41FA5}">
                      <a16:colId xmlns:a16="http://schemas.microsoft.com/office/drawing/2014/main" val="20003"/>
                    </a:ext>
                  </a:extLst>
                </a:gridCol>
              </a:tblGrid>
              <a:tr h="411480">
                <a:tc>
                  <a:txBody>
                    <a:bodyPr/>
                    <a:lstStyle/>
                    <a:p>
                      <a:pPr algn="l">
                        <a:spcAft>
                          <a:spcPts val="0"/>
                        </a:spcAft>
                      </a:pPr>
                      <a:r>
                        <a:rPr sz="1100" b="1" i="0">
                          <a:solidFill>
                            <a:srgbClr val="FFFFFF"/>
                          </a:solidFill>
                          <a:latin typeface="Arial"/>
                        </a:rPr>
                        <a:t>Event</a:t>
                      </a:r>
                    </a:p>
                  </a:txBody>
                  <a:tcPr marT="36576" marB="36576" anchor="ctr">
                    <a:solidFill>
                      <a:srgbClr val="8496B0"/>
                    </a:solidFill>
                  </a:tcPr>
                </a:tc>
                <a:tc>
                  <a:txBody>
                    <a:bodyPr/>
                    <a:lstStyle/>
                    <a:p>
                      <a:pPr algn="ctr">
                        <a:spcAft>
                          <a:spcPts val="0"/>
                        </a:spcAft>
                      </a:pPr>
                      <a:r>
                        <a:rPr sz="1100" b="1" i="0">
                          <a:solidFill>
                            <a:srgbClr val="FFFFFF"/>
                          </a:solidFill>
                          <a:latin typeface="Arial"/>
                        </a:rPr>
                        <a:t>Days offset</a:t>
                      </a:r>
                    </a:p>
                  </a:txBody>
                  <a:tcPr marT="36576" marB="36576" anchor="ctr">
                    <a:solidFill>
                      <a:srgbClr val="8496B0"/>
                    </a:solidFill>
                  </a:tcPr>
                </a:tc>
                <a:tc>
                  <a:txBody>
                    <a:bodyPr/>
                    <a:lstStyle/>
                    <a:p>
                      <a:pPr algn="ctr">
                        <a:spcAft>
                          <a:spcPts val="0"/>
                        </a:spcAft>
                      </a:pPr>
                      <a:r>
                        <a:rPr sz="1100" b="1" i="0">
                          <a:solidFill>
                            <a:srgbClr val="FFFFFF"/>
                          </a:solidFill>
                          <a:latin typeface="Arial"/>
                        </a:rPr>
                        <a:t>Window (–/+)</a:t>
                      </a:r>
                    </a:p>
                  </a:txBody>
                  <a:tcPr marT="36576" marB="36576" anchor="ctr">
                    <a:solidFill>
                      <a:srgbClr val="8496B0"/>
                    </a:solidFill>
                  </a:tcPr>
                </a:tc>
                <a:tc>
                  <a:txBody>
                    <a:bodyPr/>
                    <a:lstStyle/>
                    <a:p>
                      <a:pPr algn="l">
                        <a:spcAft>
                          <a:spcPts val="0"/>
                        </a:spcAft>
                      </a:pPr>
                      <a:r>
                        <a:rPr sz="1100" b="1" i="0">
                          <a:solidFill>
                            <a:srgbClr val="FFFFFF"/>
                          </a:solidFill>
                          <a:latin typeface="Arial"/>
                        </a:rPr>
                        <a:t>Unique event name</a:t>
                      </a:r>
                    </a:p>
                  </a:txBody>
                  <a:tcPr marT="36576" marB="36576" anchor="ctr">
                    <a:solidFill>
                      <a:srgbClr val="8496B0"/>
                    </a:solidFill>
                  </a:tcPr>
                </a:tc>
                <a:extLst>
                  <a:ext uri="{0D108BD9-81ED-4DB2-BD59-A6C34878D82A}">
                    <a16:rowId xmlns:a16="http://schemas.microsoft.com/office/drawing/2014/main" val="10000"/>
                  </a:ext>
                </a:extLst>
              </a:tr>
              <a:tr h="411480">
                <a:tc>
                  <a:txBody>
                    <a:bodyPr/>
                    <a:lstStyle/>
                    <a:p>
                      <a:pPr algn="l">
                        <a:spcAft>
                          <a:spcPts val="0"/>
                        </a:spcAft>
                      </a:pPr>
                      <a:r>
                        <a:rPr sz="1100" b="0" i="0">
                          <a:solidFill>
                            <a:srgbClr val="222222"/>
                          </a:solidFill>
                          <a:latin typeface="Arial"/>
                        </a:rPr>
                        <a:t>Baseline</a:t>
                      </a:r>
                    </a:p>
                  </a:txBody>
                  <a:tcPr marT="36576" marB="36576" anchor="ctr">
                    <a:solidFill>
                      <a:srgbClr val="FFFFFF"/>
                    </a:solidFill>
                  </a:tcPr>
                </a:tc>
                <a:tc>
                  <a:txBody>
                    <a:bodyPr/>
                    <a:lstStyle/>
                    <a:p>
                      <a:pPr algn="ctr">
                        <a:spcAft>
                          <a:spcPts val="0"/>
                        </a:spcAft>
                      </a:pPr>
                      <a:r>
                        <a:rPr sz="1100" b="0" i="0">
                          <a:solidFill>
                            <a:srgbClr val="222222"/>
                          </a:solidFill>
                          <a:latin typeface="Arial"/>
                        </a:rPr>
                        <a:t>0</a:t>
                      </a:r>
                    </a:p>
                  </a:txBody>
                  <a:tcPr marT="36576" marB="36576" anchor="ctr">
                    <a:solidFill>
                      <a:srgbClr val="FFFFFF"/>
                    </a:solidFill>
                  </a:tcPr>
                </a:tc>
                <a:tc>
                  <a:txBody>
                    <a:bodyPr/>
                    <a:lstStyle/>
                    <a:p>
                      <a:pPr algn="ctr">
                        <a:spcAft>
                          <a:spcPts val="0"/>
                        </a:spcAft>
                      </a:pPr>
                      <a:r>
                        <a:rPr sz="1100" b="0" i="0">
                          <a:solidFill>
                            <a:srgbClr val="222222"/>
                          </a:solidFill>
                          <a:latin typeface="Arial"/>
                        </a:rPr>
                        <a:t>0 / 0</a:t>
                      </a:r>
                    </a:p>
                  </a:txBody>
                  <a:tcPr marT="36576" marB="36576" anchor="ctr">
                    <a:solidFill>
                      <a:srgbClr val="FFFFFF"/>
                    </a:solidFill>
                  </a:tcPr>
                </a:tc>
                <a:tc>
                  <a:txBody>
                    <a:bodyPr/>
                    <a:lstStyle/>
                    <a:p>
                      <a:pPr algn="l">
                        <a:spcAft>
                          <a:spcPts val="0"/>
                        </a:spcAft>
                      </a:pPr>
                      <a:r>
                        <a:rPr sz="1100" b="0" i="0">
                          <a:solidFill>
                            <a:srgbClr val="222222"/>
                          </a:solidFill>
                          <a:latin typeface="Arial"/>
                        </a:rPr>
                        <a:t>baseline_arm_1</a:t>
                      </a:r>
                    </a:p>
                  </a:txBody>
                  <a:tcPr marT="36576" marB="36576" anchor="ctr">
                    <a:solidFill>
                      <a:srgbClr val="FFFFFF"/>
                    </a:solidFill>
                  </a:tcPr>
                </a:tc>
                <a:extLst>
                  <a:ext uri="{0D108BD9-81ED-4DB2-BD59-A6C34878D82A}">
                    <a16:rowId xmlns:a16="http://schemas.microsoft.com/office/drawing/2014/main" val="10001"/>
                  </a:ext>
                </a:extLst>
              </a:tr>
              <a:tr h="411480">
                <a:tc>
                  <a:txBody>
                    <a:bodyPr/>
                    <a:lstStyle/>
                    <a:p>
                      <a:pPr algn="l">
                        <a:spcAft>
                          <a:spcPts val="0"/>
                        </a:spcAft>
                      </a:pPr>
                      <a:r>
                        <a:rPr sz="1100" b="0" i="0">
                          <a:solidFill>
                            <a:srgbClr val="222222"/>
                          </a:solidFill>
                          <a:latin typeface="Arial"/>
                        </a:rPr>
                        <a:t>Month 2</a:t>
                      </a:r>
                    </a:p>
                  </a:txBody>
                  <a:tcPr marT="36576" marB="36576" anchor="ctr">
                    <a:solidFill>
                      <a:srgbClr val="F2F4F6"/>
                    </a:solidFill>
                  </a:tcPr>
                </a:tc>
                <a:tc>
                  <a:txBody>
                    <a:bodyPr/>
                    <a:lstStyle/>
                    <a:p>
                      <a:pPr algn="ctr">
                        <a:spcAft>
                          <a:spcPts val="0"/>
                        </a:spcAft>
                      </a:pPr>
                      <a:r>
                        <a:rPr sz="1100" b="0" i="0">
                          <a:solidFill>
                            <a:srgbClr val="222222"/>
                          </a:solidFill>
                          <a:latin typeface="Arial"/>
                        </a:rPr>
                        <a:t>60</a:t>
                      </a:r>
                    </a:p>
                  </a:txBody>
                  <a:tcPr marT="36576" marB="36576" anchor="ctr">
                    <a:solidFill>
                      <a:srgbClr val="F2F4F6"/>
                    </a:solidFill>
                  </a:tcPr>
                </a:tc>
                <a:tc>
                  <a:txBody>
                    <a:bodyPr/>
                    <a:lstStyle/>
                    <a:p>
                      <a:pPr algn="ctr">
                        <a:spcAft>
                          <a:spcPts val="0"/>
                        </a:spcAft>
                      </a:pPr>
                      <a:r>
                        <a:rPr sz="1100" b="0" i="0">
                          <a:solidFill>
                            <a:srgbClr val="222222"/>
                          </a:solidFill>
                          <a:latin typeface="Arial"/>
                        </a:rPr>
                        <a:t>7 / 7</a:t>
                      </a:r>
                    </a:p>
                  </a:txBody>
                  <a:tcPr marT="36576" marB="36576" anchor="ctr">
                    <a:solidFill>
                      <a:srgbClr val="F2F4F6"/>
                    </a:solidFill>
                  </a:tcPr>
                </a:tc>
                <a:tc>
                  <a:txBody>
                    <a:bodyPr/>
                    <a:lstStyle/>
                    <a:p>
                      <a:pPr algn="l">
                        <a:spcAft>
                          <a:spcPts val="0"/>
                        </a:spcAft>
                      </a:pPr>
                      <a:r>
                        <a:rPr sz="1100" b="0" i="0">
                          <a:solidFill>
                            <a:srgbClr val="222222"/>
                          </a:solidFill>
                          <a:latin typeface="Arial"/>
                        </a:rPr>
                        <a:t>month_2_arm_1</a:t>
                      </a:r>
                    </a:p>
                  </a:txBody>
                  <a:tcPr marT="36576" marB="36576" anchor="ctr">
                    <a:solidFill>
                      <a:srgbClr val="F2F4F6"/>
                    </a:solidFill>
                  </a:tcPr>
                </a:tc>
                <a:extLst>
                  <a:ext uri="{0D108BD9-81ED-4DB2-BD59-A6C34878D82A}">
                    <a16:rowId xmlns:a16="http://schemas.microsoft.com/office/drawing/2014/main" val="10002"/>
                  </a:ext>
                </a:extLst>
              </a:tr>
              <a:tr h="411480">
                <a:tc>
                  <a:txBody>
                    <a:bodyPr/>
                    <a:lstStyle/>
                    <a:p>
                      <a:pPr algn="l">
                        <a:spcAft>
                          <a:spcPts val="0"/>
                        </a:spcAft>
                      </a:pPr>
                      <a:r>
                        <a:rPr sz="1100" b="0" i="0">
                          <a:solidFill>
                            <a:srgbClr val="222222"/>
                          </a:solidFill>
                          <a:latin typeface="Arial"/>
                        </a:rPr>
                        <a:t>Month 6</a:t>
                      </a:r>
                    </a:p>
                  </a:txBody>
                  <a:tcPr marT="36576" marB="36576" anchor="ctr">
                    <a:solidFill>
                      <a:srgbClr val="FFFFFF"/>
                    </a:solidFill>
                  </a:tcPr>
                </a:tc>
                <a:tc>
                  <a:txBody>
                    <a:bodyPr/>
                    <a:lstStyle/>
                    <a:p>
                      <a:pPr algn="ctr">
                        <a:spcAft>
                          <a:spcPts val="0"/>
                        </a:spcAft>
                      </a:pPr>
                      <a:r>
                        <a:rPr sz="1100" b="0" i="0">
                          <a:solidFill>
                            <a:srgbClr val="222222"/>
                          </a:solidFill>
                          <a:latin typeface="Arial"/>
                        </a:rPr>
                        <a:t>180</a:t>
                      </a:r>
                    </a:p>
                  </a:txBody>
                  <a:tcPr marT="36576" marB="36576" anchor="ctr">
                    <a:solidFill>
                      <a:srgbClr val="FFFFFF"/>
                    </a:solidFill>
                  </a:tcPr>
                </a:tc>
                <a:tc>
                  <a:txBody>
                    <a:bodyPr/>
                    <a:lstStyle/>
                    <a:p>
                      <a:pPr algn="ctr">
                        <a:spcAft>
                          <a:spcPts val="0"/>
                        </a:spcAft>
                      </a:pPr>
                      <a:r>
                        <a:rPr sz="1100" b="0" i="0">
                          <a:solidFill>
                            <a:srgbClr val="222222"/>
                          </a:solidFill>
                          <a:latin typeface="Arial"/>
                        </a:rPr>
                        <a:t>14 / 14</a:t>
                      </a:r>
                    </a:p>
                  </a:txBody>
                  <a:tcPr marT="36576" marB="36576" anchor="ctr">
                    <a:solidFill>
                      <a:srgbClr val="FFFFFF"/>
                    </a:solidFill>
                  </a:tcPr>
                </a:tc>
                <a:tc>
                  <a:txBody>
                    <a:bodyPr/>
                    <a:lstStyle/>
                    <a:p>
                      <a:pPr algn="l">
                        <a:spcAft>
                          <a:spcPts val="0"/>
                        </a:spcAft>
                      </a:pPr>
                      <a:r>
                        <a:rPr sz="1100" b="0" i="0">
                          <a:solidFill>
                            <a:srgbClr val="222222"/>
                          </a:solidFill>
                          <a:latin typeface="Arial"/>
                        </a:rPr>
                        <a:t>month_6_arm_1</a:t>
                      </a:r>
                    </a:p>
                  </a:txBody>
                  <a:tcPr marT="36576" marB="36576" anchor="ctr">
                    <a:solidFill>
                      <a:srgbClr val="FFFFFF"/>
                    </a:solidFill>
                  </a:tcPr>
                </a:tc>
                <a:extLst>
                  <a:ext uri="{0D108BD9-81ED-4DB2-BD59-A6C34878D82A}">
                    <a16:rowId xmlns:a16="http://schemas.microsoft.com/office/drawing/2014/main" val="10003"/>
                  </a:ext>
                </a:extLst>
              </a:tr>
              <a:tr h="411480">
                <a:tc>
                  <a:txBody>
                    <a:bodyPr/>
                    <a:lstStyle/>
                    <a:p>
                      <a:pPr algn="l">
                        <a:spcAft>
                          <a:spcPts val="0"/>
                        </a:spcAft>
                      </a:pPr>
                      <a:r>
                        <a:rPr sz="1100" b="0" i="0">
                          <a:solidFill>
                            <a:srgbClr val="222222"/>
                          </a:solidFill>
                          <a:latin typeface="Arial"/>
                        </a:rPr>
                        <a:t>Month 12</a:t>
                      </a:r>
                    </a:p>
                  </a:txBody>
                  <a:tcPr marT="36576" marB="36576" anchor="ctr">
                    <a:solidFill>
                      <a:srgbClr val="F2F4F6"/>
                    </a:solidFill>
                  </a:tcPr>
                </a:tc>
                <a:tc>
                  <a:txBody>
                    <a:bodyPr/>
                    <a:lstStyle/>
                    <a:p>
                      <a:pPr algn="ctr">
                        <a:spcAft>
                          <a:spcPts val="0"/>
                        </a:spcAft>
                      </a:pPr>
                      <a:r>
                        <a:rPr sz="1100" b="0" i="0">
                          <a:solidFill>
                            <a:srgbClr val="222222"/>
                          </a:solidFill>
                          <a:latin typeface="Arial"/>
                        </a:rPr>
                        <a:t>365</a:t>
                      </a:r>
                    </a:p>
                  </a:txBody>
                  <a:tcPr marT="36576" marB="36576" anchor="ctr">
                    <a:solidFill>
                      <a:srgbClr val="F2F4F6"/>
                    </a:solidFill>
                  </a:tcPr>
                </a:tc>
                <a:tc>
                  <a:txBody>
                    <a:bodyPr/>
                    <a:lstStyle/>
                    <a:p>
                      <a:pPr algn="ctr">
                        <a:spcAft>
                          <a:spcPts val="0"/>
                        </a:spcAft>
                      </a:pPr>
                      <a:r>
                        <a:rPr sz="1100" b="0" i="0">
                          <a:solidFill>
                            <a:srgbClr val="222222"/>
                          </a:solidFill>
                          <a:latin typeface="Arial"/>
                        </a:rPr>
                        <a:t>14 / 14</a:t>
                      </a:r>
                    </a:p>
                  </a:txBody>
                  <a:tcPr marT="36576" marB="36576" anchor="ctr">
                    <a:solidFill>
                      <a:srgbClr val="F2F4F6"/>
                    </a:solidFill>
                  </a:tcPr>
                </a:tc>
                <a:tc>
                  <a:txBody>
                    <a:bodyPr/>
                    <a:lstStyle/>
                    <a:p>
                      <a:pPr algn="l">
                        <a:spcAft>
                          <a:spcPts val="0"/>
                        </a:spcAft>
                      </a:pPr>
                      <a:r>
                        <a:rPr sz="1100" b="0" i="0">
                          <a:solidFill>
                            <a:srgbClr val="222222"/>
                          </a:solidFill>
                          <a:latin typeface="Arial"/>
                        </a:rPr>
                        <a:t>month_12_arm_1</a:t>
                      </a:r>
                    </a:p>
                  </a:txBody>
                  <a:tcPr marT="36576" marB="36576" anchor="ctr">
                    <a:solidFill>
                      <a:srgbClr val="F2F4F6"/>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7863840" y="1417320"/>
            <a:ext cx="3776472"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787_FFFFFF.png"/>
          <p:cNvPicPr>
            <a:picLocks noChangeAspect="1"/>
          </p:cNvPicPr>
          <p:nvPr/>
        </p:nvPicPr>
        <p:blipFill>
          <a:blip r:embed="rId4"/>
          <a:stretch>
            <a:fillRect/>
          </a:stretch>
        </p:blipFill>
        <p:spPr>
          <a:xfrm>
            <a:off x="7973567" y="1481328"/>
            <a:ext cx="329184" cy="329184"/>
          </a:xfrm>
          <a:prstGeom prst="rect">
            <a:avLst/>
          </a:prstGeom>
        </p:spPr>
      </p:pic>
      <p:sp>
        <p:nvSpPr>
          <p:cNvPr id="17" name="TextBox 16"/>
          <p:cNvSpPr txBox="1"/>
          <p:nvPr/>
        </p:nvSpPr>
        <p:spPr>
          <a:xfrm>
            <a:off x="8412480" y="1417320"/>
            <a:ext cx="3136392" cy="457200"/>
          </a:xfrm>
          <a:prstGeom prst="rect">
            <a:avLst/>
          </a:prstGeom>
          <a:noFill/>
        </p:spPr>
        <p:txBody>
          <a:bodyPr wrap="square" lIns="0" tIns="0" rIns="0" bIns="0" anchor="ctr"/>
          <a:lstStyle/>
          <a:p>
            <a:pPr algn="l">
              <a:spcAft>
                <a:spcPts val="600"/>
              </a:spcAft>
            </a:pPr>
            <a:r>
              <a:rPr sz="1500" b="1" i="0">
                <a:solidFill>
                  <a:srgbClr val="FFFFFF"/>
                </a:solidFill>
                <a:latin typeface="Arial"/>
              </a:rPr>
              <a:t>Event</a:t>
            </a:r>
          </a:p>
        </p:txBody>
      </p:sp>
      <p:sp>
        <p:nvSpPr>
          <p:cNvPr id="18" name="Rectangle 17"/>
          <p:cNvSpPr/>
          <p:nvPr/>
        </p:nvSpPr>
        <p:spPr>
          <a:xfrm>
            <a:off x="7863840" y="1874519"/>
            <a:ext cx="3776472" cy="10058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1984248"/>
            <a:ext cx="3502152" cy="822960"/>
          </a:xfrm>
          <a:prstGeom prst="rect">
            <a:avLst/>
          </a:prstGeom>
          <a:noFill/>
        </p:spPr>
        <p:txBody>
          <a:bodyPr wrap="square" lIns="0" tIns="0" rIns="0" bIns="0" anchor="t"/>
          <a:lstStyle/>
          <a:p>
            <a:pPr algn="l">
              <a:spcAft>
                <a:spcPts val="400"/>
              </a:spcAft>
            </a:pPr>
            <a:r>
              <a:rPr sz="1400" b="0" i="0">
                <a:solidFill>
                  <a:srgbClr val="222222"/>
                </a:solidFill>
                <a:latin typeface="Arial"/>
              </a:rPr>
              <a:t>a time point, e.g. Month 2</a:t>
            </a:r>
          </a:p>
        </p:txBody>
      </p:sp>
      <p:sp>
        <p:nvSpPr>
          <p:cNvPr id="20" name="Rectangle 19"/>
          <p:cNvSpPr/>
          <p:nvPr/>
        </p:nvSpPr>
        <p:spPr>
          <a:xfrm>
            <a:off x="7863840" y="3063240"/>
            <a:ext cx="3776472" cy="45720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716_FFFFFF.png"/>
          <p:cNvPicPr>
            <a:picLocks noChangeAspect="1"/>
          </p:cNvPicPr>
          <p:nvPr/>
        </p:nvPicPr>
        <p:blipFill>
          <a:blip r:embed="rId5"/>
          <a:stretch>
            <a:fillRect/>
          </a:stretch>
        </p:blipFill>
        <p:spPr>
          <a:xfrm>
            <a:off x="7973567" y="3127248"/>
            <a:ext cx="329184" cy="329184"/>
          </a:xfrm>
          <a:prstGeom prst="rect">
            <a:avLst/>
          </a:prstGeom>
        </p:spPr>
      </p:pic>
      <p:sp>
        <p:nvSpPr>
          <p:cNvPr id="22" name="TextBox 21"/>
          <p:cNvSpPr txBox="1"/>
          <p:nvPr/>
        </p:nvSpPr>
        <p:spPr>
          <a:xfrm>
            <a:off x="8412480" y="3063240"/>
            <a:ext cx="3136392" cy="457200"/>
          </a:xfrm>
          <a:prstGeom prst="rect">
            <a:avLst/>
          </a:prstGeom>
          <a:noFill/>
        </p:spPr>
        <p:txBody>
          <a:bodyPr wrap="square" lIns="0" tIns="0" rIns="0" bIns="0" anchor="ctr"/>
          <a:lstStyle/>
          <a:p>
            <a:pPr algn="l">
              <a:spcAft>
                <a:spcPts val="600"/>
              </a:spcAft>
            </a:pPr>
            <a:r>
              <a:rPr sz="1500" b="1" i="0">
                <a:solidFill>
                  <a:srgbClr val="FFFFFF"/>
                </a:solidFill>
                <a:latin typeface="Arial"/>
              </a:rPr>
              <a:t>Arm</a:t>
            </a:r>
          </a:p>
        </p:txBody>
      </p:sp>
      <p:sp>
        <p:nvSpPr>
          <p:cNvPr id="23" name="Rectangle 22"/>
          <p:cNvSpPr/>
          <p:nvPr/>
        </p:nvSpPr>
        <p:spPr>
          <a:xfrm>
            <a:off x="7863840" y="3520440"/>
            <a:ext cx="3776472" cy="11887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01000" y="3630168"/>
            <a:ext cx="3502152" cy="1005840"/>
          </a:xfrm>
          <a:prstGeom prst="rect">
            <a:avLst/>
          </a:prstGeom>
          <a:noFill/>
        </p:spPr>
        <p:txBody>
          <a:bodyPr wrap="square" lIns="0" tIns="0" rIns="0" bIns="0" anchor="t"/>
          <a:lstStyle/>
          <a:p>
            <a:pPr algn="l">
              <a:spcAft>
                <a:spcPts val="400"/>
              </a:spcAft>
            </a:pPr>
            <a:r>
              <a:rPr sz="1400" b="0" i="0">
                <a:solidFill>
                  <a:srgbClr val="222222"/>
                </a:solidFill>
                <a:latin typeface="Arial"/>
              </a:rPr>
              <a:t>a group with its own schedule</a:t>
            </a:r>
          </a:p>
          <a:p>
            <a:pPr algn="l">
              <a:spcAft>
                <a:spcPts val="400"/>
              </a:spcAft>
            </a:pPr>
            <a:r>
              <a:rPr sz="1400" b="0" i="0">
                <a:solidFill>
                  <a:srgbClr val="222222"/>
                </a:solidFill>
                <a:latin typeface="Arial"/>
              </a:rPr>
              <a:t>most studies: one arm</a:t>
            </a:r>
          </a:p>
        </p:txBody>
      </p:sp>
      <p:sp>
        <p:nvSpPr>
          <p:cNvPr id="25" name="Rectangle 24"/>
          <p:cNvSpPr/>
          <p:nvPr/>
        </p:nvSpPr>
        <p:spPr>
          <a:xfrm>
            <a:off x="548640" y="50292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 y="50292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E943_1E88C8.png"/>
          <p:cNvPicPr>
            <a:picLocks noChangeAspect="1"/>
          </p:cNvPicPr>
          <p:nvPr/>
        </p:nvPicPr>
        <p:blipFill>
          <a:blip r:embed="rId6"/>
          <a:stretch>
            <a:fillRect/>
          </a:stretch>
        </p:blipFill>
        <p:spPr>
          <a:xfrm>
            <a:off x="777240" y="5120640"/>
            <a:ext cx="365760" cy="365760"/>
          </a:xfrm>
          <a:prstGeom prst="rect">
            <a:avLst/>
          </a:prstGeom>
        </p:spPr>
      </p:pic>
      <p:sp>
        <p:nvSpPr>
          <p:cNvPr id="28" name="TextBox 27"/>
          <p:cNvSpPr txBox="1"/>
          <p:nvPr/>
        </p:nvSpPr>
        <p:spPr>
          <a:xfrm>
            <a:off x="1280160" y="50292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Unique event names (</a:t>
            </a:r>
            <a:r>
              <a:rPr sz="1500" b="1" i="0">
                <a:solidFill>
                  <a:srgbClr val="1E88C8"/>
                </a:solidFill>
                <a:latin typeface="Arial"/>
              </a:rPr>
              <a:t>baseline_arm_1</a:t>
            </a:r>
            <a:r>
              <a:rPr sz="1500" b="0" i="0">
                <a:solidFill>
                  <a:srgbClr val="222222"/>
                </a:solidFill>
                <a:latin typeface="Arial"/>
              </a:rPr>
              <a:t>) appear in logic and exports.</a:t>
            </a:r>
          </a:p>
        </p:txBody>
      </p:sp>
      <p:sp>
        <p:nvSpPr>
          <p:cNvPr id="29" name="TextBox 28"/>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Designate instruments: what is collected when</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4 of 6: Longitudinal and repeating data</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27</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Designating instruments for events (3 min)</a:t>
            </a:r>
          </a:p>
        </p:txBody>
      </p:sp>
      <p:sp>
        <p:nvSpPr>
          <p:cNvPr id="10" name="Rectangle 9"/>
          <p:cNvSpPr/>
          <p:nvPr/>
        </p:nvSpPr>
        <p:spPr>
          <a:xfrm>
            <a:off x="548640" y="1463040"/>
            <a:ext cx="8229600" cy="3428999"/>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536192"/>
            <a:ext cx="1234439"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Baseline</a:t>
            </a:r>
          </a:p>
        </p:txBody>
      </p:sp>
      <p:sp>
        <p:nvSpPr>
          <p:cNvPr id="12" name="Rectangle 11"/>
          <p:cNvSpPr/>
          <p:nvPr/>
        </p:nvSpPr>
        <p:spPr>
          <a:xfrm>
            <a:off x="4846320" y="1536192"/>
            <a:ext cx="1234439"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Month 2</a:t>
            </a:r>
          </a:p>
        </p:txBody>
      </p:sp>
      <p:sp>
        <p:nvSpPr>
          <p:cNvPr id="13" name="Rectangle 12"/>
          <p:cNvSpPr/>
          <p:nvPr/>
        </p:nvSpPr>
        <p:spPr>
          <a:xfrm>
            <a:off x="6172200" y="1536192"/>
            <a:ext cx="1234439"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Month 6</a:t>
            </a:r>
          </a:p>
        </p:txBody>
      </p:sp>
      <p:sp>
        <p:nvSpPr>
          <p:cNvPr id="14" name="Rectangle 13"/>
          <p:cNvSpPr/>
          <p:nvPr/>
        </p:nvSpPr>
        <p:spPr>
          <a:xfrm>
            <a:off x="7498080" y="1536192"/>
            <a:ext cx="1234439" cy="411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200" b="1" i="0">
                <a:solidFill>
                  <a:srgbClr val="FFFFFF"/>
                </a:solidFill>
                <a:latin typeface="Arial"/>
              </a:rPr>
              <a:t>Month 12</a:t>
            </a:r>
          </a:p>
        </p:txBody>
      </p:sp>
      <p:sp>
        <p:nvSpPr>
          <p:cNvPr id="15" name="TextBox 14"/>
          <p:cNvSpPr txBox="1"/>
          <p:nvPr/>
        </p:nvSpPr>
        <p:spPr>
          <a:xfrm>
            <a:off x="731520" y="2084832"/>
            <a:ext cx="2743200" cy="411480"/>
          </a:xfrm>
          <a:prstGeom prst="rect">
            <a:avLst/>
          </a:prstGeom>
          <a:noFill/>
        </p:spPr>
        <p:txBody>
          <a:bodyPr wrap="square" lIns="0" tIns="0" rIns="0" bIns="0" anchor="ctr"/>
          <a:lstStyle/>
          <a:p>
            <a:pPr algn="l">
              <a:spcAft>
                <a:spcPts val="600"/>
              </a:spcAft>
            </a:pPr>
            <a:r>
              <a:rPr sz="1400" b="1" i="0">
                <a:solidFill>
                  <a:srgbClr val="41464C"/>
                </a:solidFill>
                <a:latin typeface="Arial"/>
              </a:rPr>
              <a:t>Enrolment</a:t>
            </a:r>
          </a:p>
        </p:txBody>
      </p:sp>
      <p:pic>
        <p:nvPicPr>
          <p:cNvPr id="16" name="Picture 15" descr="E73E_2E7D32.png"/>
          <p:cNvPicPr>
            <a:picLocks noChangeAspect="1"/>
          </p:cNvPicPr>
          <p:nvPr/>
        </p:nvPicPr>
        <p:blipFill>
          <a:blip r:embed="rId4"/>
          <a:stretch>
            <a:fillRect/>
          </a:stretch>
        </p:blipFill>
        <p:spPr>
          <a:xfrm>
            <a:off x="3973068" y="2130552"/>
            <a:ext cx="329184" cy="329184"/>
          </a:xfrm>
          <a:prstGeom prst="rect">
            <a:avLst/>
          </a:prstGeom>
        </p:spPr>
      </p:pic>
      <p:sp>
        <p:nvSpPr>
          <p:cNvPr id="17" name="Oval 16"/>
          <p:cNvSpPr/>
          <p:nvPr/>
        </p:nvSpPr>
        <p:spPr>
          <a:xfrm>
            <a:off x="5408676" y="224028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34556" y="224028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060436" y="224028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633472"/>
            <a:ext cx="2743200" cy="411480"/>
          </a:xfrm>
          <a:prstGeom prst="rect">
            <a:avLst/>
          </a:prstGeom>
          <a:noFill/>
        </p:spPr>
        <p:txBody>
          <a:bodyPr wrap="square" lIns="0" tIns="0" rIns="0" bIns="0" anchor="ctr"/>
          <a:lstStyle/>
          <a:p>
            <a:pPr algn="l">
              <a:spcAft>
                <a:spcPts val="600"/>
              </a:spcAft>
            </a:pPr>
            <a:r>
              <a:rPr sz="1400" b="1" i="0">
                <a:solidFill>
                  <a:srgbClr val="41464C"/>
                </a:solidFill>
                <a:latin typeface="Arial"/>
              </a:rPr>
              <a:t>Clinical</a:t>
            </a:r>
          </a:p>
        </p:txBody>
      </p:sp>
      <p:pic>
        <p:nvPicPr>
          <p:cNvPr id="21" name="Picture 20" descr="E73E_2E7D32.png"/>
          <p:cNvPicPr>
            <a:picLocks noChangeAspect="1"/>
          </p:cNvPicPr>
          <p:nvPr/>
        </p:nvPicPr>
        <p:blipFill>
          <a:blip r:embed="rId4"/>
          <a:stretch>
            <a:fillRect/>
          </a:stretch>
        </p:blipFill>
        <p:spPr>
          <a:xfrm>
            <a:off x="3973068" y="2679191"/>
            <a:ext cx="329184" cy="329184"/>
          </a:xfrm>
          <a:prstGeom prst="rect">
            <a:avLst/>
          </a:prstGeom>
        </p:spPr>
      </p:pic>
      <p:pic>
        <p:nvPicPr>
          <p:cNvPr id="22" name="Picture 21" descr="E73E_2E7D32.png"/>
          <p:cNvPicPr>
            <a:picLocks noChangeAspect="1"/>
          </p:cNvPicPr>
          <p:nvPr/>
        </p:nvPicPr>
        <p:blipFill>
          <a:blip r:embed="rId4"/>
          <a:stretch>
            <a:fillRect/>
          </a:stretch>
        </p:blipFill>
        <p:spPr>
          <a:xfrm>
            <a:off x="5298948" y="2679191"/>
            <a:ext cx="329184" cy="329184"/>
          </a:xfrm>
          <a:prstGeom prst="rect">
            <a:avLst/>
          </a:prstGeom>
        </p:spPr>
      </p:pic>
      <p:pic>
        <p:nvPicPr>
          <p:cNvPr id="23" name="Picture 22" descr="E73E_2E7D32.png"/>
          <p:cNvPicPr>
            <a:picLocks noChangeAspect="1"/>
          </p:cNvPicPr>
          <p:nvPr/>
        </p:nvPicPr>
        <p:blipFill>
          <a:blip r:embed="rId4"/>
          <a:stretch>
            <a:fillRect/>
          </a:stretch>
        </p:blipFill>
        <p:spPr>
          <a:xfrm>
            <a:off x="6624828" y="2679191"/>
            <a:ext cx="329184" cy="329184"/>
          </a:xfrm>
          <a:prstGeom prst="rect">
            <a:avLst/>
          </a:prstGeom>
        </p:spPr>
      </p:pic>
      <p:pic>
        <p:nvPicPr>
          <p:cNvPr id="24" name="Picture 23" descr="E73E_2E7D32.png"/>
          <p:cNvPicPr>
            <a:picLocks noChangeAspect="1"/>
          </p:cNvPicPr>
          <p:nvPr/>
        </p:nvPicPr>
        <p:blipFill>
          <a:blip r:embed="rId4"/>
          <a:stretch>
            <a:fillRect/>
          </a:stretch>
        </p:blipFill>
        <p:spPr>
          <a:xfrm>
            <a:off x="7950708" y="2679191"/>
            <a:ext cx="329184" cy="329184"/>
          </a:xfrm>
          <a:prstGeom prst="rect">
            <a:avLst/>
          </a:prstGeom>
        </p:spPr>
      </p:pic>
      <p:sp>
        <p:nvSpPr>
          <p:cNvPr id="25" name="TextBox 24"/>
          <p:cNvSpPr txBox="1"/>
          <p:nvPr/>
        </p:nvSpPr>
        <p:spPr>
          <a:xfrm>
            <a:off x="731520" y="3182112"/>
            <a:ext cx="2743200" cy="411480"/>
          </a:xfrm>
          <a:prstGeom prst="rect">
            <a:avLst/>
          </a:prstGeom>
          <a:noFill/>
        </p:spPr>
        <p:txBody>
          <a:bodyPr wrap="square" lIns="0" tIns="0" rIns="0" bIns="0" anchor="ctr"/>
          <a:lstStyle/>
          <a:p>
            <a:pPr algn="l">
              <a:spcAft>
                <a:spcPts val="600"/>
              </a:spcAft>
            </a:pPr>
            <a:r>
              <a:rPr sz="1400" b="1" i="0">
                <a:solidFill>
                  <a:srgbClr val="41464C"/>
                </a:solidFill>
                <a:latin typeface="Arial"/>
              </a:rPr>
              <a:t>Laboratory</a:t>
            </a:r>
          </a:p>
        </p:txBody>
      </p:sp>
      <p:pic>
        <p:nvPicPr>
          <p:cNvPr id="26" name="Picture 25" descr="E73E_2E7D32.png"/>
          <p:cNvPicPr>
            <a:picLocks noChangeAspect="1"/>
          </p:cNvPicPr>
          <p:nvPr/>
        </p:nvPicPr>
        <p:blipFill>
          <a:blip r:embed="rId4"/>
          <a:stretch>
            <a:fillRect/>
          </a:stretch>
        </p:blipFill>
        <p:spPr>
          <a:xfrm>
            <a:off x="3973068" y="3227832"/>
            <a:ext cx="329184" cy="329184"/>
          </a:xfrm>
          <a:prstGeom prst="rect">
            <a:avLst/>
          </a:prstGeom>
        </p:spPr>
      </p:pic>
      <p:pic>
        <p:nvPicPr>
          <p:cNvPr id="27" name="Picture 26" descr="E73E_2E7D32.png"/>
          <p:cNvPicPr>
            <a:picLocks noChangeAspect="1"/>
          </p:cNvPicPr>
          <p:nvPr/>
        </p:nvPicPr>
        <p:blipFill>
          <a:blip r:embed="rId4"/>
          <a:stretch>
            <a:fillRect/>
          </a:stretch>
        </p:blipFill>
        <p:spPr>
          <a:xfrm>
            <a:off x="5298948" y="3227832"/>
            <a:ext cx="329184" cy="329184"/>
          </a:xfrm>
          <a:prstGeom prst="rect">
            <a:avLst/>
          </a:prstGeom>
        </p:spPr>
      </p:pic>
      <p:pic>
        <p:nvPicPr>
          <p:cNvPr id="28" name="Picture 27" descr="E73E_2E7D32.png"/>
          <p:cNvPicPr>
            <a:picLocks noChangeAspect="1"/>
          </p:cNvPicPr>
          <p:nvPr/>
        </p:nvPicPr>
        <p:blipFill>
          <a:blip r:embed="rId4"/>
          <a:stretch>
            <a:fillRect/>
          </a:stretch>
        </p:blipFill>
        <p:spPr>
          <a:xfrm>
            <a:off x="6624828" y="3227832"/>
            <a:ext cx="329184" cy="329184"/>
          </a:xfrm>
          <a:prstGeom prst="rect">
            <a:avLst/>
          </a:prstGeom>
        </p:spPr>
      </p:pic>
      <p:pic>
        <p:nvPicPr>
          <p:cNvPr id="29" name="Picture 28" descr="E73E_2E7D32.png"/>
          <p:cNvPicPr>
            <a:picLocks noChangeAspect="1"/>
          </p:cNvPicPr>
          <p:nvPr/>
        </p:nvPicPr>
        <p:blipFill>
          <a:blip r:embed="rId4"/>
          <a:stretch>
            <a:fillRect/>
          </a:stretch>
        </p:blipFill>
        <p:spPr>
          <a:xfrm>
            <a:off x="7950708" y="3227832"/>
            <a:ext cx="329184" cy="329184"/>
          </a:xfrm>
          <a:prstGeom prst="rect">
            <a:avLst/>
          </a:prstGeom>
        </p:spPr>
      </p:pic>
      <p:sp>
        <p:nvSpPr>
          <p:cNvPr id="30" name="TextBox 29"/>
          <p:cNvSpPr txBox="1"/>
          <p:nvPr/>
        </p:nvSpPr>
        <p:spPr>
          <a:xfrm>
            <a:off x="731520" y="3730752"/>
            <a:ext cx="2743200" cy="411480"/>
          </a:xfrm>
          <a:prstGeom prst="rect">
            <a:avLst/>
          </a:prstGeom>
          <a:noFill/>
        </p:spPr>
        <p:txBody>
          <a:bodyPr wrap="square" lIns="0" tIns="0" rIns="0" bIns="0" anchor="ctr"/>
          <a:lstStyle/>
          <a:p>
            <a:pPr algn="l">
              <a:spcAft>
                <a:spcPts val="600"/>
              </a:spcAft>
            </a:pPr>
            <a:r>
              <a:rPr sz="1400" b="1" i="0">
                <a:solidFill>
                  <a:srgbClr val="41464C"/>
                </a:solidFill>
                <a:latin typeface="Arial"/>
              </a:rPr>
              <a:t>Quality of life (survey)</a:t>
            </a:r>
          </a:p>
        </p:txBody>
      </p:sp>
      <p:pic>
        <p:nvPicPr>
          <p:cNvPr id="31" name="Picture 30" descr="E73E_2E7D32.png"/>
          <p:cNvPicPr>
            <a:picLocks noChangeAspect="1"/>
          </p:cNvPicPr>
          <p:nvPr/>
        </p:nvPicPr>
        <p:blipFill>
          <a:blip r:embed="rId4"/>
          <a:stretch>
            <a:fillRect/>
          </a:stretch>
        </p:blipFill>
        <p:spPr>
          <a:xfrm>
            <a:off x="3973068" y="3776472"/>
            <a:ext cx="329184" cy="329184"/>
          </a:xfrm>
          <a:prstGeom prst="rect">
            <a:avLst/>
          </a:prstGeom>
        </p:spPr>
      </p:pic>
      <p:sp>
        <p:nvSpPr>
          <p:cNvPr id="32" name="Oval 31"/>
          <p:cNvSpPr/>
          <p:nvPr/>
        </p:nvSpPr>
        <p:spPr>
          <a:xfrm>
            <a:off x="5408676" y="388620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E73E_2E7D32.png"/>
          <p:cNvPicPr>
            <a:picLocks noChangeAspect="1"/>
          </p:cNvPicPr>
          <p:nvPr/>
        </p:nvPicPr>
        <p:blipFill>
          <a:blip r:embed="rId4"/>
          <a:stretch>
            <a:fillRect/>
          </a:stretch>
        </p:blipFill>
        <p:spPr>
          <a:xfrm>
            <a:off x="6624828" y="3776472"/>
            <a:ext cx="329184" cy="329184"/>
          </a:xfrm>
          <a:prstGeom prst="rect">
            <a:avLst/>
          </a:prstGeom>
        </p:spPr>
      </p:pic>
      <p:pic>
        <p:nvPicPr>
          <p:cNvPr id="34" name="Picture 33" descr="E73E_2E7D32.png"/>
          <p:cNvPicPr>
            <a:picLocks noChangeAspect="1"/>
          </p:cNvPicPr>
          <p:nvPr/>
        </p:nvPicPr>
        <p:blipFill>
          <a:blip r:embed="rId4"/>
          <a:stretch>
            <a:fillRect/>
          </a:stretch>
        </p:blipFill>
        <p:spPr>
          <a:xfrm>
            <a:off x="7950708" y="3776472"/>
            <a:ext cx="329184" cy="329184"/>
          </a:xfrm>
          <a:prstGeom prst="rect">
            <a:avLst/>
          </a:prstGeom>
        </p:spPr>
      </p:pic>
      <p:sp>
        <p:nvSpPr>
          <p:cNvPr id="35" name="TextBox 34"/>
          <p:cNvSpPr txBox="1"/>
          <p:nvPr/>
        </p:nvSpPr>
        <p:spPr>
          <a:xfrm>
            <a:off x="731520" y="4279392"/>
            <a:ext cx="2743200" cy="411480"/>
          </a:xfrm>
          <a:prstGeom prst="rect">
            <a:avLst/>
          </a:prstGeom>
          <a:noFill/>
        </p:spPr>
        <p:txBody>
          <a:bodyPr wrap="square" lIns="0" tIns="0" rIns="0" bIns="0" anchor="ctr"/>
          <a:lstStyle/>
          <a:p>
            <a:pPr algn="l">
              <a:spcAft>
                <a:spcPts val="600"/>
              </a:spcAft>
            </a:pPr>
            <a:r>
              <a:rPr sz="1400" b="1" i="0">
                <a:solidFill>
                  <a:srgbClr val="41464C"/>
                </a:solidFill>
                <a:latin typeface="Arial"/>
              </a:rPr>
              <a:t>Treatment outcome</a:t>
            </a:r>
          </a:p>
        </p:txBody>
      </p:sp>
      <p:sp>
        <p:nvSpPr>
          <p:cNvPr id="36" name="Oval 35"/>
          <p:cNvSpPr/>
          <p:nvPr/>
        </p:nvSpPr>
        <p:spPr>
          <a:xfrm>
            <a:off x="4082796" y="443484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408676" y="4434840"/>
            <a:ext cx="109728" cy="10972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73E_2E7D32.png"/>
          <p:cNvPicPr>
            <a:picLocks noChangeAspect="1"/>
          </p:cNvPicPr>
          <p:nvPr/>
        </p:nvPicPr>
        <p:blipFill>
          <a:blip r:embed="rId4"/>
          <a:stretch>
            <a:fillRect/>
          </a:stretch>
        </p:blipFill>
        <p:spPr>
          <a:xfrm>
            <a:off x="6624828" y="4325112"/>
            <a:ext cx="329184" cy="329184"/>
          </a:xfrm>
          <a:prstGeom prst="rect">
            <a:avLst/>
          </a:prstGeom>
        </p:spPr>
      </p:pic>
      <p:pic>
        <p:nvPicPr>
          <p:cNvPr id="39" name="Picture 38" descr="E73E_2E7D32.png"/>
          <p:cNvPicPr>
            <a:picLocks noChangeAspect="1"/>
          </p:cNvPicPr>
          <p:nvPr/>
        </p:nvPicPr>
        <p:blipFill>
          <a:blip r:embed="rId4"/>
          <a:stretch>
            <a:fillRect/>
          </a:stretch>
        </p:blipFill>
        <p:spPr>
          <a:xfrm>
            <a:off x="7950708" y="4325112"/>
            <a:ext cx="329184" cy="329184"/>
          </a:xfrm>
          <a:prstGeom prst="rect">
            <a:avLst/>
          </a:prstGeom>
        </p:spPr>
      </p:pic>
      <p:sp>
        <p:nvSpPr>
          <p:cNvPr id="40" name="Rectangle 39"/>
          <p:cNvSpPr/>
          <p:nvPr/>
        </p:nvSpPr>
        <p:spPr>
          <a:xfrm>
            <a:off x="8778240" y="1463040"/>
            <a:ext cx="286207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E713_FFFFFF.png"/>
          <p:cNvPicPr>
            <a:picLocks noChangeAspect="1"/>
          </p:cNvPicPr>
          <p:nvPr/>
        </p:nvPicPr>
        <p:blipFill>
          <a:blip r:embed="rId5"/>
          <a:stretch>
            <a:fillRect/>
          </a:stretch>
        </p:blipFill>
        <p:spPr>
          <a:xfrm>
            <a:off x="8887967" y="1527048"/>
            <a:ext cx="329184" cy="329184"/>
          </a:xfrm>
          <a:prstGeom prst="rect">
            <a:avLst/>
          </a:prstGeom>
        </p:spPr>
      </p:pic>
      <p:sp>
        <p:nvSpPr>
          <p:cNvPr id="42" name="TextBox 41"/>
          <p:cNvSpPr txBox="1"/>
          <p:nvPr/>
        </p:nvSpPr>
        <p:spPr>
          <a:xfrm>
            <a:off x="9326880" y="1463040"/>
            <a:ext cx="2221992" cy="457200"/>
          </a:xfrm>
          <a:prstGeom prst="rect">
            <a:avLst/>
          </a:prstGeom>
          <a:noFill/>
        </p:spPr>
        <p:txBody>
          <a:bodyPr wrap="square" lIns="0" tIns="0" rIns="0" bIns="0" anchor="ctr"/>
          <a:lstStyle/>
          <a:p>
            <a:pPr algn="l">
              <a:spcAft>
                <a:spcPts val="600"/>
              </a:spcAft>
            </a:pPr>
            <a:r>
              <a:rPr sz="1500" b="1" i="0">
                <a:solidFill>
                  <a:srgbClr val="FFFFFF"/>
                </a:solidFill>
                <a:latin typeface="Arial"/>
              </a:rPr>
              <a:t>In REDCap</a:t>
            </a:r>
          </a:p>
        </p:txBody>
      </p:sp>
      <p:sp>
        <p:nvSpPr>
          <p:cNvPr id="43" name="Rectangle 42"/>
          <p:cNvSpPr/>
          <p:nvPr/>
        </p:nvSpPr>
        <p:spPr>
          <a:xfrm>
            <a:off x="8778240" y="1920240"/>
            <a:ext cx="2862072" cy="29718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915400" y="2029968"/>
            <a:ext cx="2587752" cy="2788920"/>
          </a:xfrm>
          <a:prstGeom prst="rect">
            <a:avLst/>
          </a:prstGeom>
          <a:noFill/>
        </p:spPr>
        <p:txBody>
          <a:bodyPr wrap="square" lIns="0" tIns="0" rIns="0" bIns="0" anchor="t"/>
          <a:lstStyle/>
          <a:p>
            <a:pPr algn="l">
              <a:spcAft>
                <a:spcPts val="400"/>
              </a:spcAft>
            </a:pPr>
            <a:r>
              <a:rPr sz="1500" b="0" i="0">
                <a:solidFill>
                  <a:srgbClr val="222222"/>
                </a:solidFill>
                <a:latin typeface="Arial"/>
              </a:rPr>
              <a:t>Project Setup</a:t>
            </a:r>
          </a:p>
          <a:p>
            <a:pPr algn="l">
              <a:spcAft>
                <a:spcPts val="400"/>
              </a:spcAft>
            </a:pPr>
            <a:r>
              <a:rPr sz="1500" b="0" i="0">
                <a:solidFill>
                  <a:srgbClr val="222222"/>
                </a:solidFill>
                <a:latin typeface="Arial"/>
              </a:rPr>
              <a:t>Define My Events</a:t>
            </a:r>
          </a:p>
          <a:p>
            <a:pPr algn="l">
              <a:spcAft>
                <a:spcPts val="400"/>
              </a:spcAft>
            </a:pPr>
            <a:r>
              <a:rPr sz="1500" b="0" i="0">
                <a:solidFill>
                  <a:srgbClr val="222222"/>
                </a:solidFill>
                <a:latin typeface="Arial"/>
              </a:rPr>
              <a:t>Designate Instruments</a:t>
            </a:r>
          </a:p>
          <a:p>
            <a:pPr algn="l">
              <a:spcAft>
                <a:spcPts val="400"/>
              </a:spcAft>
            </a:pPr>
            <a:r>
              <a:rPr sz="1500" b="0" i="0">
                <a:solidFill>
                  <a:srgbClr val="222222"/>
                </a:solidFill>
                <a:latin typeface="Arial"/>
              </a:rPr>
              <a:t>Tick the grid</a:t>
            </a:r>
          </a:p>
        </p:txBody>
      </p:sp>
      <p:sp>
        <p:nvSpPr>
          <p:cNvPr id="45" name="Rectangle 44"/>
          <p:cNvSpPr/>
          <p:nvPr/>
        </p:nvSpPr>
        <p:spPr>
          <a:xfrm>
            <a:off x="548640" y="512064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48640" y="512064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E73E_2E7D32.png"/>
          <p:cNvPicPr>
            <a:picLocks noChangeAspect="1"/>
          </p:cNvPicPr>
          <p:nvPr/>
        </p:nvPicPr>
        <p:blipFill>
          <a:blip r:embed="rId4"/>
          <a:stretch>
            <a:fillRect/>
          </a:stretch>
        </p:blipFill>
        <p:spPr>
          <a:xfrm>
            <a:off x="777240" y="5212079"/>
            <a:ext cx="365760" cy="365760"/>
          </a:xfrm>
          <a:prstGeom prst="rect">
            <a:avLst/>
          </a:prstGeom>
        </p:spPr>
      </p:pic>
      <p:sp>
        <p:nvSpPr>
          <p:cNvPr id="48" name="TextBox 47"/>
          <p:cNvSpPr txBox="1"/>
          <p:nvPr/>
        </p:nvSpPr>
        <p:spPr>
          <a:xfrm>
            <a:off x="1280160" y="51206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This grid becomes each participant's </a:t>
            </a:r>
            <a:r>
              <a:rPr sz="1500" b="1" i="0">
                <a:solidFill>
                  <a:srgbClr val="1E88C8"/>
                </a:solidFill>
                <a:latin typeface="Arial"/>
              </a:rPr>
              <a:t>Record Status Dashboard</a:t>
            </a:r>
            <a:r>
              <a:rPr sz="1500" b="0" i="0">
                <a:solidFill>
                  <a:srgbClr val="222222"/>
                </a:solidFill>
                <a:latin typeface="Arial"/>
              </a:rPr>
              <a:t>.</a:t>
            </a:r>
          </a:p>
        </p:txBody>
      </p:sp>
      <p:sp>
        <p:nvSpPr>
          <p:cNvPr id="49" name="TextBox 48"/>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Repeating instruments and repeating events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4 of 6: Longitudinal and repeating data</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28</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Repeating instruments and events (33 min)</a:t>
            </a:r>
          </a:p>
        </p:txBody>
      </p:sp>
      <p:sp>
        <p:nvSpPr>
          <p:cNvPr id="10" name="Rectangle 9"/>
          <p:cNvSpPr/>
          <p:nvPr/>
        </p:nvSpPr>
        <p:spPr>
          <a:xfrm>
            <a:off x="548640" y="1463040"/>
            <a:ext cx="542239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8EE_FFFFFF.png"/>
          <p:cNvPicPr>
            <a:picLocks noChangeAspect="1"/>
          </p:cNvPicPr>
          <p:nvPr/>
        </p:nvPicPr>
        <p:blipFill>
          <a:blip r:embed="rId4"/>
          <a:stretch>
            <a:fillRect/>
          </a:stretch>
        </p:blipFill>
        <p:spPr>
          <a:xfrm>
            <a:off x="658368" y="1527048"/>
            <a:ext cx="329184" cy="329184"/>
          </a:xfrm>
          <a:prstGeom prst="rect">
            <a:avLst/>
          </a:prstGeom>
        </p:spPr>
      </p:pic>
      <p:sp>
        <p:nvSpPr>
          <p:cNvPr id="12" name="TextBox 11"/>
          <p:cNvSpPr txBox="1"/>
          <p:nvPr/>
        </p:nvSpPr>
        <p:spPr>
          <a:xfrm>
            <a:off x="1097280" y="1463040"/>
            <a:ext cx="4782312" cy="457200"/>
          </a:xfrm>
          <a:prstGeom prst="rect">
            <a:avLst/>
          </a:prstGeom>
          <a:noFill/>
        </p:spPr>
        <p:txBody>
          <a:bodyPr wrap="square" lIns="0" tIns="0" rIns="0" bIns="0" anchor="ctr"/>
          <a:lstStyle/>
          <a:p>
            <a:pPr algn="l">
              <a:spcAft>
                <a:spcPts val="600"/>
              </a:spcAft>
            </a:pPr>
            <a:r>
              <a:rPr sz="1700" b="1" i="0">
                <a:solidFill>
                  <a:srgbClr val="FFFFFF"/>
                </a:solidFill>
                <a:latin typeface="Arial"/>
              </a:rPr>
              <a:t>Repeating instrument</a:t>
            </a:r>
          </a:p>
        </p:txBody>
      </p:sp>
      <p:sp>
        <p:nvSpPr>
          <p:cNvPr id="13" name="Rectangle 12"/>
          <p:cNvSpPr/>
          <p:nvPr/>
        </p:nvSpPr>
        <p:spPr>
          <a:xfrm>
            <a:off x="548640" y="1920240"/>
            <a:ext cx="5422392" cy="23774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5148072" cy="2194560"/>
          </a:xfrm>
          <a:prstGeom prst="rect">
            <a:avLst/>
          </a:prstGeom>
          <a:noFill/>
        </p:spPr>
        <p:txBody>
          <a:bodyPr wrap="square" lIns="0" tIns="0" rIns="0" bIns="0" anchor="t"/>
          <a:lstStyle/>
          <a:p>
            <a:pPr algn="l">
              <a:spcAft>
                <a:spcPts val="400"/>
              </a:spcAft>
            </a:pPr>
            <a:r>
              <a:rPr sz="1600" b="0" i="0">
                <a:solidFill>
                  <a:srgbClr val="222222"/>
                </a:solidFill>
                <a:latin typeface="Arial"/>
              </a:rPr>
              <a:t>One form, as often as needed</a:t>
            </a:r>
          </a:p>
          <a:p>
            <a:pPr algn="l">
              <a:spcAft>
                <a:spcPts val="400"/>
              </a:spcAft>
            </a:pPr>
            <a:r>
              <a:rPr sz="1600" b="0" i="0">
                <a:solidFill>
                  <a:srgbClr val="222222"/>
                </a:solidFill>
                <a:latin typeface="Arial"/>
              </a:rPr>
              <a:t>e.g., each medication, each adverse event</a:t>
            </a:r>
          </a:p>
          <a:p>
            <a:pPr algn="l">
              <a:spcAft>
                <a:spcPts val="400"/>
              </a:spcAft>
            </a:pPr>
            <a:r>
              <a:rPr sz="1600" b="0" i="0">
                <a:solidFill>
                  <a:srgbClr val="222222"/>
                </a:solidFill>
                <a:latin typeface="Arial"/>
              </a:rPr>
              <a:t>Within an event</a:t>
            </a:r>
          </a:p>
        </p:txBody>
      </p:sp>
      <p:sp>
        <p:nvSpPr>
          <p:cNvPr id="15" name="Rectangle 14"/>
          <p:cNvSpPr/>
          <p:nvPr/>
        </p:nvSpPr>
        <p:spPr>
          <a:xfrm>
            <a:off x="6217920" y="1463040"/>
            <a:ext cx="5422392"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EE_FFFFFF.png"/>
          <p:cNvPicPr>
            <a:picLocks noChangeAspect="1"/>
          </p:cNvPicPr>
          <p:nvPr/>
        </p:nvPicPr>
        <p:blipFill>
          <a:blip r:embed="rId4"/>
          <a:stretch>
            <a:fillRect/>
          </a:stretch>
        </p:blipFill>
        <p:spPr>
          <a:xfrm>
            <a:off x="6327648" y="1527048"/>
            <a:ext cx="329184" cy="329184"/>
          </a:xfrm>
          <a:prstGeom prst="rect">
            <a:avLst/>
          </a:prstGeom>
        </p:spPr>
      </p:pic>
      <p:sp>
        <p:nvSpPr>
          <p:cNvPr id="17" name="TextBox 16"/>
          <p:cNvSpPr txBox="1"/>
          <p:nvPr/>
        </p:nvSpPr>
        <p:spPr>
          <a:xfrm>
            <a:off x="6766559" y="1463040"/>
            <a:ext cx="4782312" cy="457200"/>
          </a:xfrm>
          <a:prstGeom prst="rect">
            <a:avLst/>
          </a:prstGeom>
          <a:noFill/>
        </p:spPr>
        <p:txBody>
          <a:bodyPr wrap="square" lIns="0" tIns="0" rIns="0" bIns="0" anchor="ctr"/>
          <a:lstStyle/>
          <a:p>
            <a:pPr algn="l">
              <a:spcAft>
                <a:spcPts val="600"/>
              </a:spcAft>
            </a:pPr>
            <a:r>
              <a:rPr sz="1700" b="1" i="0">
                <a:solidFill>
                  <a:srgbClr val="FFFFFF"/>
                </a:solidFill>
                <a:latin typeface="Arial"/>
              </a:rPr>
              <a:t>Repeating event</a:t>
            </a:r>
          </a:p>
        </p:txBody>
      </p:sp>
      <p:sp>
        <p:nvSpPr>
          <p:cNvPr id="18" name="Rectangle 17"/>
          <p:cNvSpPr/>
          <p:nvPr/>
        </p:nvSpPr>
        <p:spPr>
          <a:xfrm>
            <a:off x="6217920" y="1920240"/>
            <a:ext cx="5422392" cy="23774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29968"/>
            <a:ext cx="5148072" cy="2194560"/>
          </a:xfrm>
          <a:prstGeom prst="rect">
            <a:avLst/>
          </a:prstGeom>
          <a:noFill/>
        </p:spPr>
        <p:txBody>
          <a:bodyPr wrap="square" lIns="0" tIns="0" rIns="0" bIns="0" anchor="t"/>
          <a:lstStyle/>
          <a:p>
            <a:pPr algn="l">
              <a:spcAft>
                <a:spcPts val="400"/>
              </a:spcAft>
            </a:pPr>
            <a:r>
              <a:rPr sz="1600" b="0" i="0">
                <a:solidFill>
                  <a:srgbClr val="222222"/>
                </a:solidFill>
                <a:latin typeface="Arial"/>
              </a:rPr>
              <a:t>A whole visit, repeated</a:t>
            </a:r>
          </a:p>
          <a:p>
            <a:pPr algn="l">
              <a:spcAft>
                <a:spcPts val="400"/>
              </a:spcAft>
            </a:pPr>
            <a:r>
              <a:rPr sz="1600" b="0" i="0">
                <a:solidFill>
                  <a:srgbClr val="222222"/>
                </a:solidFill>
                <a:latin typeface="Arial"/>
              </a:rPr>
              <a:t>e.g., unscheduled visits</a:t>
            </a:r>
          </a:p>
          <a:p>
            <a:pPr algn="l">
              <a:spcAft>
                <a:spcPts val="400"/>
              </a:spcAft>
            </a:pPr>
            <a:r>
              <a:rPr sz="1600" b="0" i="0">
                <a:solidFill>
                  <a:srgbClr val="222222"/>
                </a:solidFill>
                <a:latin typeface="Arial"/>
              </a:rPr>
              <a:t>All forms of that event</a:t>
            </a:r>
          </a:p>
        </p:txBody>
      </p:sp>
      <p:sp>
        <p:nvSpPr>
          <p:cNvPr id="20" name="TextBox 19"/>
          <p:cNvSpPr txBox="1"/>
          <p:nvPr/>
        </p:nvSpPr>
        <p:spPr>
          <a:xfrm>
            <a:off x="548640" y="4526280"/>
            <a:ext cx="10972800" cy="457200"/>
          </a:xfrm>
          <a:prstGeom prst="rect">
            <a:avLst/>
          </a:prstGeom>
          <a:noFill/>
        </p:spPr>
        <p:txBody>
          <a:bodyPr wrap="square" lIns="0" tIns="0" rIns="0" bIns="0" anchor="t"/>
          <a:lstStyle/>
          <a:p>
            <a:pPr algn="l">
              <a:spcAft>
                <a:spcPts val="600"/>
              </a:spcAft>
            </a:pPr>
            <a:r>
              <a:rPr sz="1500" b="0" i="0">
                <a:solidFill>
                  <a:srgbClr val="222222"/>
                </a:solidFill>
                <a:latin typeface="Arial"/>
              </a:rPr>
              <a:t>In the export, each repeat is a row: </a:t>
            </a:r>
            <a:r>
              <a:rPr sz="1500" b="1" i="0">
                <a:solidFill>
                  <a:srgbClr val="1E88C8"/>
                </a:solidFill>
                <a:latin typeface="Arial"/>
              </a:rPr>
              <a:t>redcap_repeat_instrument</a:t>
            </a:r>
            <a:r>
              <a:rPr sz="1500" b="0" i="0">
                <a:solidFill>
                  <a:srgbClr val="222222"/>
                </a:solidFill>
                <a:latin typeface="Arial"/>
              </a:rPr>
              <a:t> and </a:t>
            </a:r>
            <a:r>
              <a:rPr sz="1500" b="1" i="0">
                <a:solidFill>
                  <a:srgbClr val="1E88C8"/>
                </a:solidFill>
                <a:latin typeface="Arial"/>
              </a:rPr>
              <a:t>redcap_repeat_instance</a:t>
            </a:r>
            <a:r>
              <a:rPr sz="1500" b="0" i="0">
                <a:solidFill>
                  <a:srgbClr val="222222"/>
                </a:solidFill>
                <a:latin typeface="Arial"/>
              </a:rPr>
              <a:t>.</a:t>
            </a:r>
          </a:p>
        </p:txBody>
      </p:sp>
      <p:sp>
        <p:nvSpPr>
          <p:cNvPr id="21" name="Rectangle 20"/>
          <p:cNvSpPr/>
          <p:nvPr/>
        </p:nvSpPr>
        <p:spPr>
          <a:xfrm>
            <a:off x="548640" y="512064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12064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73E_2E7D32.png"/>
          <p:cNvPicPr>
            <a:picLocks noChangeAspect="1"/>
          </p:cNvPicPr>
          <p:nvPr/>
        </p:nvPicPr>
        <p:blipFill>
          <a:blip r:embed="rId5"/>
          <a:stretch>
            <a:fillRect/>
          </a:stretch>
        </p:blipFill>
        <p:spPr>
          <a:xfrm>
            <a:off x="777240" y="5212079"/>
            <a:ext cx="365760" cy="365760"/>
          </a:xfrm>
          <a:prstGeom prst="rect">
            <a:avLst/>
          </a:prstGeom>
        </p:spPr>
      </p:pic>
      <p:sp>
        <p:nvSpPr>
          <p:cNvPr id="24" name="TextBox 23"/>
          <p:cNvSpPr txBox="1"/>
          <p:nvPr/>
        </p:nvSpPr>
        <p:spPr>
          <a:xfrm>
            <a:off x="1280160" y="51206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Unknown number of occurrences? </a:t>
            </a:r>
            <a:r>
              <a:rPr sz="1500" b="1" i="0">
                <a:solidFill>
                  <a:srgbClr val="2E7D32"/>
                </a:solidFill>
                <a:latin typeface="Arial"/>
              </a:rPr>
              <a:t>Repeat</a:t>
            </a:r>
            <a:r>
              <a:rPr sz="1500" b="0" i="0">
                <a:solidFill>
                  <a:srgbClr val="222222"/>
                </a:solidFill>
                <a:latin typeface="Arial"/>
              </a:rPr>
              <a:t>; do not create med_1, med_2, med_3 fields.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Scheduling and the Calendar</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4 of 6: Longitudinal and repeating data</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29</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Scheduling module (7 min)  ·  The Calendar (7 min)</a:t>
            </a:r>
          </a:p>
        </p:txBody>
      </p:sp>
      <p:sp>
        <p:nvSpPr>
          <p:cNvPr id="10" name="Rectangle 9"/>
          <p:cNvSpPr/>
          <p:nvPr/>
        </p:nvSpPr>
        <p:spPr>
          <a:xfrm>
            <a:off x="548640" y="1417320"/>
            <a:ext cx="6949440" cy="420624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694944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6729983"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5943600" cy="329184"/>
          </a:xfrm>
          <a:prstGeom prst="rect">
            <a:avLst/>
          </a:prstGeom>
          <a:noFill/>
        </p:spPr>
        <p:txBody>
          <a:bodyPr wrap="square" lIns="0" tIns="0" rIns="0" bIns="0" anchor="ctr"/>
          <a:lstStyle/>
          <a:p>
            <a:pPr algn="r">
              <a:spcAft>
                <a:spcPts val="600"/>
              </a:spcAft>
            </a:pPr>
            <a:r>
              <a:rPr sz="900" b="0" i="0">
                <a:solidFill>
                  <a:srgbClr val="F3D9DC"/>
                </a:solidFill>
                <a:latin typeface="Arial"/>
              </a:rPr>
              <a:t>Calendar  ·  November 2026</a:t>
            </a:r>
          </a:p>
        </p:txBody>
      </p:sp>
      <p:sp>
        <p:nvSpPr>
          <p:cNvPr id="14" name="Rectangle 13"/>
          <p:cNvSpPr/>
          <p:nvPr/>
        </p:nvSpPr>
        <p:spPr>
          <a:xfrm>
            <a:off x="685800" y="1874519"/>
            <a:ext cx="1289304" cy="292608"/>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900" b="1" i="0">
                <a:solidFill>
                  <a:srgbClr val="FFFFFF"/>
                </a:solidFill>
                <a:latin typeface="Arial"/>
              </a:rPr>
              <a:t>Mon</a:t>
            </a:r>
          </a:p>
        </p:txBody>
      </p:sp>
      <p:sp>
        <p:nvSpPr>
          <p:cNvPr id="15" name="Rectangle 14"/>
          <p:cNvSpPr/>
          <p:nvPr/>
        </p:nvSpPr>
        <p:spPr>
          <a:xfrm>
            <a:off x="2020824" y="1874519"/>
            <a:ext cx="1289304" cy="292608"/>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900" b="1" i="0">
                <a:solidFill>
                  <a:srgbClr val="FFFFFF"/>
                </a:solidFill>
                <a:latin typeface="Arial"/>
              </a:rPr>
              <a:t>Tue</a:t>
            </a:r>
          </a:p>
        </p:txBody>
      </p:sp>
      <p:sp>
        <p:nvSpPr>
          <p:cNvPr id="16" name="Rectangle 15"/>
          <p:cNvSpPr/>
          <p:nvPr/>
        </p:nvSpPr>
        <p:spPr>
          <a:xfrm>
            <a:off x="3355848" y="1874519"/>
            <a:ext cx="1289304" cy="292608"/>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900" b="1" i="0">
                <a:solidFill>
                  <a:srgbClr val="FFFFFF"/>
                </a:solidFill>
                <a:latin typeface="Arial"/>
              </a:rPr>
              <a:t>Wed</a:t>
            </a:r>
          </a:p>
        </p:txBody>
      </p:sp>
      <p:sp>
        <p:nvSpPr>
          <p:cNvPr id="17" name="Rectangle 16"/>
          <p:cNvSpPr/>
          <p:nvPr/>
        </p:nvSpPr>
        <p:spPr>
          <a:xfrm>
            <a:off x="4690872" y="1874519"/>
            <a:ext cx="1289304" cy="292608"/>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900" b="1" i="0">
                <a:solidFill>
                  <a:srgbClr val="FFFFFF"/>
                </a:solidFill>
                <a:latin typeface="Arial"/>
              </a:rPr>
              <a:t>Thu</a:t>
            </a:r>
          </a:p>
        </p:txBody>
      </p:sp>
      <p:sp>
        <p:nvSpPr>
          <p:cNvPr id="18" name="Rectangle 17"/>
          <p:cNvSpPr/>
          <p:nvPr/>
        </p:nvSpPr>
        <p:spPr>
          <a:xfrm>
            <a:off x="6025896" y="1874519"/>
            <a:ext cx="1289304" cy="292608"/>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900" b="1" i="0">
                <a:solidFill>
                  <a:srgbClr val="FFFFFF"/>
                </a:solidFill>
                <a:latin typeface="Arial"/>
              </a:rPr>
              <a:t>Fri</a:t>
            </a:r>
          </a:p>
        </p:txBody>
      </p:sp>
      <p:sp>
        <p:nvSpPr>
          <p:cNvPr id="19" name="Rectangle 18"/>
          <p:cNvSpPr/>
          <p:nvPr/>
        </p:nvSpPr>
        <p:spPr>
          <a:xfrm>
            <a:off x="685800" y="224027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25856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a:t>
            </a:r>
          </a:p>
        </p:txBody>
      </p:sp>
      <p:sp>
        <p:nvSpPr>
          <p:cNvPr id="21" name="Rectangle 20"/>
          <p:cNvSpPr/>
          <p:nvPr/>
        </p:nvSpPr>
        <p:spPr>
          <a:xfrm>
            <a:off x="2020824" y="224027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66543" y="225856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3</a:t>
            </a:r>
          </a:p>
        </p:txBody>
      </p:sp>
      <p:sp>
        <p:nvSpPr>
          <p:cNvPr id="23" name="Rectangle 22"/>
          <p:cNvSpPr/>
          <p:nvPr/>
        </p:nvSpPr>
        <p:spPr>
          <a:xfrm>
            <a:off x="2066543" y="2514599"/>
            <a:ext cx="1197864" cy="329184"/>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l">
              <a:spcAft>
                <a:spcPts val="600"/>
              </a:spcAft>
            </a:pPr>
            <a:r>
              <a:rPr sz="750" b="1" i="0">
                <a:solidFill>
                  <a:srgbClr val="1E88C8"/>
                </a:solidFill>
                <a:latin typeface="Arial"/>
              </a:rPr>
              <a:t>TB-004  Month 2</a:t>
            </a:r>
          </a:p>
        </p:txBody>
      </p:sp>
      <p:sp>
        <p:nvSpPr>
          <p:cNvPr id="24" name="Rectangle 23"/>
          <p:cNvSpPr/>
          <p:nvPr/>
        </p:nvSpPr>
        <p:spPr>
          <a:xfrm>
            <a:off x="3355848" y="224027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01568" y="225856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4</a:t>
            </a:r>
          </a:p>
        </p:txBody>
      </p:sp>
      <p:sp>
        <p:nvSpPr>
          <p:cNvPr id="26" name="Rectangle 25"/>
          <p:cNvSpPr/>
          <p:nvPr/>
        </p:nvSpPr>
        <p:spPr>
          <a:xfrm>
            <a:off x="4690872" y="224027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36592" y="225856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5</a:t>
            </a:r>
          </a:p>
        </p:txBody>
      </p:sp>
      <p:sp>
        <p:nvSpPr>
          <p:cNvPr id="28" name="Rectangle 27"/>
          <p:cNvSpPr/>
          <p:nvPr/>
        </p:nvSpPr>
        <p:spPr>
          <a:xfrm>
            <a:off x="6025896" y="224027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71616" y="225856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6</a:t>
            </a:r>
          </a:p>
        </p:txBody>
      </p:sp>
      <p:sp>
        <p:nvSpPr>
          <p:cNvPr id="30" name="Rectangle 29"/>
          <p:cNvSpPr/>
          <p:nvPr/>
        </p:nvSpPr>
        <p:spPr>
          <a:xfrm>
            <a:off x="685800" y="301752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303580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9</a:t>
            </a:r>
          </a:p>
        </p:txBody>
      </p:sp>
      <p:sp>
        <p:nvSpPr>
          <p:cNvPr id="32" name="Rectangle 31"/>
          <p:cNvSpPr/>
          <p:nvPr/>
        </p:nvSpPr>
        <p:spPr>
          <a:xfrm>
            <a:off x="2020824" y="301752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66543" y="303580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10</a:t>
            </a:r>
          </a:p>
        </p:txBody>
      </p:sp>
      <p:sp>
        <p:nvSpPr>
          <p:cNvPr id="34" name="Rectangle 33"/>
          <p:cNvSpPr/>
          <p:nvPr/>
        </p:nvSpPr>
        <p:spPr>
          <a:xfrm>
            <a:off x="3355848" y="301752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01568" y="303580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11</a:t>
            </a:r>
          </a:p>
        </p:txBody>
      </p:sp>
      <p:sp>
        <p:nvSpPr>
          <p:cNvPr id="36" name="Rectangle 35"/>
          <p:cNvSpPr/>
          <p:nvPr/>
        </p:nvSpPr>
        <p:spPr>
          <a:xfrm>
            <a:off x="4690872" y="301752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36592" y="303580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12</a:t>
            </a:r>
          </a:p>
        </p:txBody>
      </p:sp>
      <p:sp>
        <p:nvSpPr>
          <p:cNvPr id="38" name="Rectangle 37"/>
          <p:cNvSpPr/>
          <p:nvPr/>
        </p:nvSpPr>
        <p:spPr>
          <a:xfrm>
            <a:off x="4736592" y="3291839"/>
            <a:ext cx="1197864" cy="329184"/>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l">
              <a:spcAft>
                <a:spcPts val="600"/>
              </a:spcAft>
            </a:pPr>
            <a:r>
              <a:rPr sz="750" b="1" i="0">
                <a:solidFill>
                  <a:srgbClr val="C8102E"/>
                </a:solidFill>
                <a:latin typeface="Arial"/>
              </a:rPr>
              <a:t>TB-001  Month 6</a:t>
            </a:r>
          </a:p>
        </p:txBody>
      </p:sp>
      <p:sp>
        <p:nvSpPr>
          <p:cNvPr id="39" name="Rectangle 38"/>
          <p:cNvSpPr/>
          <p:nvPr/>
        </p:nvSpPr>
        <p:spPr>
          <a:xfrm>
            <a:off x="6025896" y="301752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71616" y="303580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13</a:t>
            </a:r>
          </a:p>
        </p:txBody>
      </p:sp>
      <p:sp>
        <p:nvSpPr>
          <p:cNvPr id="41" name="Rectangle 40"/>
          <p:cNvSpPr/>
          <p:nvPr/>
        </p:nvSpPr>
        <p:spPr>
          <a:xfrm>
            <a:off x="685800" y="379475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3813047"/>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16</a:t>
            </a:r>
          </a:p>
        </p:txBody>
      </p:sp>
      <p:sp>
        <p:nvSpPr>
          <p:cNvPr id="43" name="Rectangle 42"/>
          <p:cNvSpPr/>
          <p:nvPr/>
        </p:nvSpPr>
        <p:spPr>
          <a:xfrm>
            <a:off x="731520" y="4069079"/>
            <a:ext cx="1197864" cy="329184"/>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l">
              <a:spcAft>
                <a:spcPts val="600"/>
              </a:spcAft>
            </a:pPr>
            <a:r>
              <a:rPr sz="750" b="1" i="0">
                <a:solidFill>
                  <a:srgbClr val="1E88C8"/>
                </a:solidFill>
                <a:latin typeface="Arial"/>
              </a:rPr>
              <a:t>TB-007  Month 2</a:t>
            </a:r>
          </a:p>
        </p:txBody>
      </p:sp>
      <p:sp>
        <p:nvSpPr>
          <p:cNvPr id="44" name="Rectangle 43"/>
          <p:cNvSpPr/>
          <p:nvPr/>
        </p:nvSpPr>
        <p:spPr>
          <a:xfrm>
            <a:off x="2020824" y="379475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066543" y="3813047"/>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17</a:t>
            </a:r>
          </a:p>
        </p:txBody>
      </p:sp>
      <p:sp>
        <p:nvSpPr>
          <p:cNvPr id="46" name="Rectangle 45"/>
          <p:cNvSpPr/>
          <p:nvPr/>
        </p:nvSpPr>
        <p:spPr>
          <a:xfrm>
            <a:off x="3355848" y="379475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01568" y="3813047"/>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18</a:t>
            </a:r>
          </a:p>
        </p:txBody>
      </p:sp>
      <p:sp>
        <p:nvSpPr>
          <p:cNvPr id="48" name="Rectangle 47"/>
          <p:cNvSpPr/>
          <p:nvPr/>
        </p:nvSpPr>
        <p:spPr>
          <a:xfrm>
            <a:off x="4690872" y="379475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36592" y="3813047"/>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19</a:t>
            </a:r>
          </a:p>
        </p:txBody>
      </p:sp>
      <p:sp>
        <p:nvSpPr>
          <p:cNvPr id="50" name="Rectangle 49"/>
          <p:cNvSpPr/>
          <p:nvPr/>
        </p:nvSpPr>
        <p:spPr>
          <a:xfrm>
            <a:off x="6025896" y="3794759"/>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71616" y="3813047"/>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20</a:t>
            </a:r>
          </a:p>
        </p:txBody>
      </p:sp>
      <p:sp>
        <p:nvSpPr>
          <p:cNvPr id="52" name="Rectangle 51"/>
          <p:cNvSpPr/>
          <p:nvPr/>
        </p:nvSpPr>
        <p:spPr>
          <a:xfrm>
            <a:off x="6071616" y="4069079"/>
            <a:ext cx="1197864" cy="329184"/>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l">
              <a:spcAft>
                <a:spcPts val="600"/>
              </a:spcAft>
            </a:pPr>
            <a:r>
              <a:rPr sz="750" b="1" i="0">
                <a:solidFill>
                  <a:srgbClr val="2E7D32"/>
                </a:solidFill>
                <a:latin typeface="Arial"/>
              </a:rPr>
              <a:t>TB-002  Month 12</a:t>
            </a:r>
          </a:p>
        </p:txBody>
      </p:sp>
      <p:sp>
        <p:nvSpPr>
          <p:cNvPr id="53" name="Rectangle 52"/>
          <p:cNvSpPr/>
          <p:nvPr/>
        </p:nvSpPr>
        <p:spPr>
          <a:xfrm>
            <a:off x="685800" y="457200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31520" y="459028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23</a:t>
            </a:r>
          </a:p>
        </p:txBody>
      </p:sp>
      <p:sp>
        <p:nvSpPr>
          <p:cNvPr id="55" name="Rectangle 54"/>
          <p:cNvSpPr/>
          <p:nvPr/>
        </p:nvSpPr>
        <p:spPr>
          <a:xfrm>
            <a:off x="2020824" y="457200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066543" y="459028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24</a:t>
            </a:r>
          </a:p>
        </p:txBody>
      </p:sp>
      <p:sp>
        <p:nvSpPr>
          <p:cNvPr id="57" name="Rectangle 56"/>
          <p:cNvSpPr/>
          <p:nvPr/>
        </p:nvSpPr>
        <p:spPr>
          <a:xfrm>
            <a:off x="3355848" y="457200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401568" y="459028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25</a:t>
            </a:r>
          </a:p>
        </p:txBody>
      </p:sp>
      <p:sp>
        <p:nvSpPr>
          <p:cNvPr id="59" name="Rectangle 58"/>
          <p:cNvSpPr/>
          <p:nvPr/>
        </p:nvSpPr>
        <p:spPr>
          <a:xfrm>
            <a:off x="3401568" y="4846320"/>
            <a:ext cx="1197864" cy="329184"/>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l">
              <a:spcAft>
                <a:spcPts val="600"/>
              </a:spcAft>
            </a:pPr>
            <a:r>
              <a:rPr sz="750" b="1" i="0">
                <a:solidFill>
                  <a:srgbClr val="1E88C8"/>
                </a:solidFill>
                <a:latin typeface="Arial"/>
              </a:rPr>
              <a:t>TB-010  Month 2</a:t>
            </a:r>
          </a:p>
        </p:txBody>
      </p:sp>
      <p:sp>
        <p:nvSpPr>
          <p:cNvPr id="60" name="Rectangle 59"/>
          <p:cNvSpPr/>
          <p:nvPr/>
        </p:nvSpPr>
        <p:spPr>
          <a:xfrm>
            <a:off x="4690872" y="457200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36592" y="459028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26</a:t>
            </a:r>
          </a:p>
        </p:txBody>
      </p:sp>
      <p:sp>
        <p:nvSpPr>
          <p:cNvPr id="62" name="Rectangle 61"/>
          <p:cNvSpPr/>
          <p:nvPr/>
        </p:nvSpPr>
        <p:spPr>
          <a:xfrm>
            <a:off x="6025896" y="4572000"/>
            <a:ext cx="1289304" cy="73152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071616" y="4590288"/>
            <a:ext cx="365760" cy="182880"/>
          </a:xfrm>
          <a:prstGeom prst="rect">
            <a:avLst/>
          </a:prstGeom>
          <a:noFill/>
        </p:spPr>
        <p:txBody>
          <a:bodyPr wrap="square" lIns="0" tIns="0" rIns="0" bIns="0" anchor="t"/>
          <a:lstStyle/>
          <a:p>
            <a:pPr algn="l">
              <a:spcAft>
                <a:spcPts val="600"/>
              </a:spcAft>
            </a:pPr>
            <a:r>
              <a:rPr sz="700" b="0" i="0">
                <a:solidFill>
                  <a:srgbClr val="62676D"/>
                </a:solidFill>
                <a:latin typeface="Arial"/>
              </a:rPr>
              <a:t>27</a:t>
            </a:r>
          </a:p>
        </p:txBody>
      </p:sp>
      <p:pic>
        <p:nvPicPr>
          <p:cNvPr id="64" name="Picture 63" descr="E787_1E88C8.png"/>
          <p:cNvPicPr>
            <a:picLocks noChangeAspect="1"/>
          </p:cNvPicPr>
          <p:nvPr/>
        </p:nvPicPr>
        <p:blipFill>
          <a:blip r:embed="rId4"/>
          <a:stretch>
            <a:fillRect/>
          </a:stretch>
        </p:blipFill>
        <p:spPr>
          <a:xfrm>
            <a:off x="7863840" y="1554480"/>
            <a:ext cx="411480" cy="411480"/>
          </a:xfrm>
          <a:prstGeom prst="rect">
            <a:avLst/>
          </a:prstGeom>
        </p:spPr>
      </p:pic>
      <p:sp>
        <p:nvSpPr>
          <p:cNvPr id="65" name="TextBox 64"/>
          <p:cNvSpPr txBox="1"/>
          <p:nvPr/>
        </p:nvSpPr>
        <p:spPr>
          <a:xfrm>
            <a:off x="8458199" y="1572768"/>
            <a:ext cx="3154679" cy="1005840"/>
          </a:xfrm>
          <a:prstGeom prst="rect">
            <a:avLst/>
          </a:prstGeom>
          <a:noFill/>
        </p:spPr>
        <p:txBody>
          <a:bodyPr wrap="square" lIns="0" tIns="0" rIns="0" bIns="0" anchor="t"/>
          <a:lstStyle/>
          <a:p>
            <a:pPr algn="l">
              <a:spcAft>
                <a:spcPts val="600"/>
              </a:spcAft>
            </a:pPr>
            <a:r>
              <a:rPr sz="1500" b="1" i="0">
                <a:solidFill>
                  <a:srgbClr val="222222"/>
                </a:solidFill>
                <a:latin typeface="Arial"/>
              </a:rPr>
              <a:t>Schedule</a:t>
            </a:r>
            <a:r>
              <a:rPr sz="1500" b="0" i="0">
                <a:solidFill>
                  <a:srgbClr val="222222"/>
                </a:solidFill>
                <a:latin typeface="Arial"/>
              </a:rPr>
              <a:t>  from each event's offset and window</a:t>
            </a:r>
          </a:p>
        </p:txBody>
      </p:sp>
      <p:pic>
        <p:nvPicPr>
          <p:cNvPr id="66" name="Picture 65" descr="E716_1E88C8.png"/>
          <p:cNvPicPr>
            <a:picLocks noChangeAspect="1"/>
          </p:cNvPicPr>
          <p:nvPr/>
        </p:nvPicPr>
        <p:blipFill>
          <a:blip r:embed="rId5"/>
          <a:stretch>
            <a:fillRect/>
          </a:stretch>
        </p:blipFill>
        <p:spPr>
          <a:xfrm>
            <a:off x="7863840" y="2560320"/>
            <a:ext cx="411480" cy="411480"/>
          </a:xfrm>
          <a:prstGeom prst="rect">
            <a:avLst/>
          </a:prstGeom>
        </p:spPr>
      </p:pic>
      <p:sp>
        <p:nvSpPr>
          <p:cNvPr id="67" name="TextBox 66"/>
          <p:cNvSpPr txBox="1"/>
          <p:nvPr/>
        </p:nvSpPr>
        <p:spPr>
          <a:xfrm>
            <a:off x="8458199" y="2578608"/>
            <a:ext cx="3154679" cy="1005840"/>
          </a:xfrm>
          <a:prstGeom prst="rect">
            <a:avLst/>
          </a:prstGeom>
          <a:noFill/>
        </p:spPr>
        <p:txBody>
          <a:bodyPr wrap="square" lIns="0" tIns="0" rIns="0" bIns="0" anchor="t"/>
          <a:lstStyle/>
          <a:p>
            <a:pPr algn="l">
              <a:spcAft>
                <a:spcPts val="600"/>
              </a:spcAft>
            </a:pPr>
            <a:r>
              <a:rPr sz="1500" b="1" i="0">
                <a:solidFill>
                  <a:srgbClr val="222222"/>
                </a:solidFill>
                <a:latin typeface="Arial"/>
              </a:rPr>
              <a:t>Calendar</a:t>
            </a:r>
            <a:r>
              <a:rPr sz="1500" b="0" i="0">
                <a:solidFill>
                  <a:srgbClr val="222222"/>
                </a:solidFill>
                <a:latin typeface="Arial"/>
              </a:rPr>
              <a:t>  who is due this week</a:t>
            </a:r>
          </a:p>
        </p:txBody>
      </p:sp>
      <p:pic>
        <p:nvPicPr>
          <p:cNvPr id="68" name="Picture 67" descr="E73E_1E88C8.png"/>
          <p:cNvPicPr>
            <a:picLocks noChangeAspect="1"/>
          </p:cNvPicPr>
          <p:nvPr/>
        </p:nvPicPr>
        <p:blipFill>
          <a:blip r:embed="rId6"/>
          <a:stretch>
            <a:fillRect/>
          </a:stretch>
        </p:blipFill>
        <p:spPr>
          <a:xfrm>
            <a:off x="7863840" y="3566160"/>
            <a:ext cx="411480" cy="411480"/>
          </a:xfrm>
          <a:prstGeom prst="rect">
            <a:avLst/>
          </a:prstGeom>
        </p:spPr>
      </p:pic>
      <p:sp>
        <p:nvSpPr>
          <p:cNvPr id="69" name="TextBox 68"/>
          <p:cNvSpPr txBox="1"/>
          <p:nvPr/>
        </p:nvSpPr>
        <p:spPr>
          <a:xfrm>
            <a:off x="8458199" y="3584448"/>
            <a:ext cx="3154679" cy="1005840"/>
          </a:xfrm>
          <a:prstGeom prst="rect">
            <a:avLst/>
          </a:prstGeom>
          <a:noFill/>
        </p:spPr>
        <p:txBody>
          <a:bodyPr wrap="square" lIns="0" tIns="0" rIns="0" bIns="0" anchor="t"/>
          <a:lstStyle/>
          <a:p>
            <a:pPr algn="l">
              <a:spcAft>
                <a:spcPts val="600"/>
              </a:spcAft>
            </a:pPr>
            <a:r>
              <a:rPr sz="1500" b="1" i="0">
                <a:solidFill>
                  <a:srgbClr val="222222"/>
                </a:solidFill>
                <a:latin typeface="Arial"/>
              </a:rPr>
              <a:t>Status</a:t>
            </a:r>
            <a:r>
              <a:rPr sz="1500" b="0" i="0">
                <a:solidFill>
                  <a:srgbClr val="222222"/>
                </a:solidFill>
                <a:latin typeface="Arial"/>
              </a:rPr>
              <a:t>  attended, cancelled, no-show</a:t>
            </a:r>
          </a:p>
        </p:txBody>
      </p:sp>
      <p:sp>
        <p:nvSpPr>
          <p:cNvPr id="70" name="Rectangle 69"/>
          <p:cNvSpPr/>
          <p:nvPr/>
        </p:nvSpPr>
        <p:spPr>
          <a:xfrm>
            <a:off x="7863840" y="4846320"/>
            <a:ext cx="3776472" cy="7772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863840" y="4846320"/>
            <a:ext cx="73152" cy="7772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Picture 71" descr="E823_1E88C8.png"/>
          <p:cNvPicPr>
            <a:picLocks noChangeAspect="1"/>
          </p:cNvPicPr>
          <p:nvPr/>
        </p:nvPicPr>
        <p:blipFill>
          <a:blip r:embed="rId7"/>
          <a:stretch>
            <a:fillRect/>
          </a:stretch>
        </p:blipFill>
        <p:spPr>
          <a:xfrm>
            <a:off x="8092440" y="5052059"/>
            <a:ext cx="365760" cy="365760"/>
          </a:xfrm>
          <a:prstGeom prst="rect">
            <a:avLst/>
          </a:prstGeom>
        </p:spPr>
      </p:pic>
      <p:sp>
        <p:nvSpPr>
          <p:cNvPr id="73" name="TextBox 72"/>
          <p:cNvSpPr txBox="1"/>
          <p:nvPr/>
        </p:nvSpPr>
        <p:spPr>
          <a:xfrm>
            <a:off x="8595360" y="4846320"/>
            <a:ext cx="2953512" cy="777240"/>
          </a:xfrm>
          <a:prstGeom prst="rect">
            <a:avLst/>
          </a:prstGeom>
          <a:noFill/>
        </p:spPr>
        <p:txBody>
          <a:bodyPr wrap="square" lIns="0" tIns="0" rIns="0" bIns="0" anchor="ctr"/>
          <a:lstStyle/>
          <a:p>
            <a:pPr algn="l">
              <a:spcAft>
                <a:spcPts val="600"/>
              </a:spcAft>
            </a:pPr>
            <a:r>
              <a:rPr sz="1500" b="0" i="0">
                <a:solidFill>
                  <a:srgbClr val="222222"/>
                </a:solidFill>
                <a:latin typeface="Arial"/>
              </a:rPr>
              <a:t>Windows come from </a:t>
            </a:r>
            <a:r>
              <a:rPr sz="1500" b="1" i="0">
                <a:solidFill>
                  <a:srgbClr val="1E88C8"/>
                </a:solidFill>
                <a:latin typeface="Arial"/>
              </a:rPr>
              <a:t>Define My Events</a:t>
            </a:r>
            <a:r>
              <a:rPr sz="1500" b="0" i="0">
                <a:solidFill>
                  <a:srgbClr val="222222"/>
                </a:solidFill>
                <a:latin typeface="Arial"/>
              </a:rPr>
              <a:t>: set them carefully.</a:t>
            </a:r>
          </a:p>
        </p:txBody>
      </p:sp>
      <p:sp>
        <p:nvSpPr>
          <p:cNvPr id="74" name="TextBox 73"/>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TB: tuberculosis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30</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Oval 7"/>
          <p:cNvSpPr/>
          <p:nvPr/>
        </p:nvSpPr>
        <p:spPr>
          <a:xfrm>
            <a:off x="777240" y="1234440"/>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417320" y="1197864"/>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Getting started</a:t>
            </a:r>
          </a:p>
        </p:txBody>
      </p:sp>
      <p:sp>
        <p:nvSpPr>
          <p:cNvPr id="10" name="Oval 9"/>
          <p:cNvSpPr/>
          <p:nvPr/>
        </p:nvSpPr>
        <p:spPr>
          <a:xfrm>
            <a:off x="777240" y="1984248"/>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1" name="TextBox 10"/>
          <p:cNvSpPr txBox="1"/>
          <p:nvPr/>
        </p:nvSpPr>
        <p:spPr>
          <a:xfrm>
            <a:off x="1417320" y="1947672"/>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Building instruments</a:t>
            </a:r>
          </a:p>
        </p:txBody>
      </p:sp>
      <p:sp>
        <p:nvSpPr>
          <p:cNvPr id="12" name="Oval 11"/>
          <p:cNvSpPr/>
          <p:nvPr/>
        </p:nvSpPr>
        <p:spPr>
          <a:xfrm>
            <a:off x="777240" y="2734056"/>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3</a:t>
            </a:r>
          </a:p>
        </p:txBody>
      </p:sp>
      <p:sp>
        <p:nvSpPr>
          <p:cNvPr id="13" name="TextBox 12"/>
          <p:cNvSpPr txBox="1"/>
          <p:nvPr/>
        </p:nvSpPr>
        <p:spPr>
          <a:xfrm>
            <a:off x="1417320" y="2697480"/>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Choosing a project type</a:t>
            </a:r>
          </a:p>
        </p:txBody>
      </p:sp>
      <p:sp>
        <p:nvSpPr>
          <p:cNvPr id="14" name="Oval 13"/>
          <p:cNvSpPr/>
          <p:nvPr/>
        </p:nvSpPr>
        <p:spPr>
          <a:xfrm>
            <a:off x="777240" y="3483864"/>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4</a:t>
            </a:r>
          </a:p>
        </p:txBody>
      </p:sp>
      <p:sp>
        <p:nvSpPr>
          <p:cNvPr id="15" name="TextBox 14"/>
          <p:cNvSpPr txBox="1"/>
          <p:nvPr/>
        </p:nvSpPr>
        <p:spPr>
          <a:xfrm>
            <a:off x="1417320" y="3447288"/>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Longitudinal and repeating data</a:t>
            </a:r>
          </a:p>
        </p:txBody>
      </p:sp>
      <p:sp>
        <p:nvSpPr>
          <p:cNvPr id="16" name="Rectangle 15"/>
          <p:cNvSpPr/>
          <p:nvPr/>
        </p:nvSpPr>
        <p:spPr>
          <a:xfrm>
            <a:off x="548640" y="4142232"/>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142232"/>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77240" y="4233672"/>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5</a:t>
            </a:r>
          </a:p>
        </p:txBody>
      </p:sp>
      <p:sp>
        <p:nvSpPr>
          <p:cNvPr id="19" name="TextBox 18"/>
          <p:cNvSpPr txBox="1"/>
          <p:nvPr/>
        </p:nvSpPr>
        <p:spPr>
          <a:xfrm>
            <a:off x="1417320" y="4197096"/>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Data entry, quality and multi-site work</a:t>
            </a:r>
          </a:p>
        </p:txBody>
      </p:sp>
      <p:sp>
        <p:nvSpPr>
          <p:cNvPr id="20" name="Oval 19"/>
          <p:cNvSpPr/>
          <p:nvPr/>
        </p:nvSpPr>
        <p:spPr>
          <a:xfrm>
            <a:off x="777240" y="4983479"/>
            <a:ext cx="475488" cy="475488"/>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62676D"/>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500" b="0" i="0">
                <a:solidFill>
                  <a:srgbClr val="A3A9AF"/>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5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Data entry, quality and multi-site work</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Basic data entry and the Record Status Dashboard</a:t>
            </a:r>
          </a:p>
          <a:p>
            <a:pPr marL="256032" indent="-256032" algn="l">
              <a:spcAft>
                <a:spcPts val="800"/>
              </a:spcAft>
              <a:buClr>
                <a:srgbClr val="1E88C8"/>
              </a:buClr>
              <a:buSzPct val="75000"/>
              <a:buFont typeface="Arial"/>
              <a:buChar char="■"/>
            </a:pPr>
            <a:r>
              <a:rPr sz="1700" b="0" i="0">
                <a:solidFill>
                  <a:srgbClr val="222222"/>
                </a:solidFill>
                <a:latin typeface="Arial"/>
              </a:rPr>
              <a:t>Surveys and participants</a:t>
            </a:r>
          </a:p>
          <a:p>
            <a:pPr marL="256032" indent="-256032" algn="l">
              <a:spcAft>
                <a:spcPts val="800"/>
              </a:spcAft>
              <a:buClr>
                <a:srgbClr val="1E88C8"/>
              </a:buClr>
              <a:buSzPct val="75000"/>
              <a:buFont typeface="Arial"/>
              <a:buChar char="■"/>
            </a:pPr>
            <a:r>
              <a:rPr sz="1700" b="0" i="0">
                <a:solidFill>
                  <a:srgbClr val="222222"/>
                </a:solidFill>
                <a:latin typeface="Arial"/>
              </a:rPr>
              <a:t>Data Access Groups</a:t>
            </a:r>
          </a:p>
          <a:p>
            <a:pPr marL="256032" indent="-256032" algn="l">
              <a:spcAft>
                <a:spcPts val="800"/>
              </a:spcAft>
              <a:buClr>
                <a:srgbClr val="1E88C8"/>
              </a:buClr>
              <a:buSzPct val="75000"/>
              <a:buFont typeface="Arial"/>
              <a:buChar char="■"/>
            </a:pPr>
            <a:r>
              <a:rPr sz="1700" b="0" i="0">
                <a:solidFill>
                  <a:srgbClr val="222222"/>
                </a:solidFill>
                <a:latin typeface="Arial"/>
              </a:rPr>
              <a:t>Queries (Data Resolution Workflow)</a:t>
            </a:r>
          </a:p>
          <a:p>
            <a:pPr marL="256032" indent="-256032" algn="l">
              <a:spcAft>
                <a:spcPts val="800"/>
              </a:spcAft>
              <a:buClr>
                <a:srgbClr val="1E88C8"/>
              </a:buClr>
              <a:buSzPct val="75000"/>
              <a:buFont typeface="Arial"/>
              <a:buChar char="■"/>
            </a:pPr>
            <a:r>
              <a:rPr sz="1700" b="0" i="0">
                <a:solidFill>
                  <a:srgbClr val="222222"/>
                </a:solidFill>
                <a:latin typeface="Arial"/>
              </a:rPr>
              <a:t>Data Quality rules and locking</a:t>
            </a:r>
          </a:p>
          <a:p>
            <a:pPr marL="256032" indent="-256032" algn="l">
              <a:spcAft>
                <a:spcPts val="800"/>
              </a:spcAft>
              <a:buClr>
                <a:srgbClr val="1E88C8"/>
              </a:buClr>
              <a:buSzPct val="75000"/>
              <a:buFont typeface="Arial"/>
              <a:buChar char="■"/>
            </a:pPr>
            <a:r>
              <a:rPr sz="1700" b="0" i="0">
                <a:solidFill>
                  <a:srgbClr val="222222"/>
                </a:solidFill>
                <a:latin typeface="Arial"/>
              </a:rPr>
              <a:t>The Mobile App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Basic data entry: the Record Status Dashboard</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31</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Overview of basic data entry (19 min)</a:t>
            </a:r>
          </a:p>
        </p:txBody>
      </p:sp>
      <p:sp>
        <p:nvSpPr>
          <p:cNvPr id="10" name="Rectangle 9"/>
          <p:cNvSpPr/>
          <p:nvPr/>
        </p:nvSpPr>
        <p:spPr>
          <a:xfrm>
            <a:off x="548640" y="1417320"/>
            <a:ext cx="7315200" cy="420624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731520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7095744"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6309360" cy="329184"/>
          </a:xfrm>
          <a:prstGeom prst="rect">
            <a:avLst/>
          </a:prstGeom>
          <a:noFill/>
        </p:spPr>
        <p:txBody>
          <a:bodyPr wrap="square" lIns="0" tIns="0" rIns="0" bIns="0" anchor="ctr"/>
          <a:lstStyle/>
          <a:p>
            <a:pPr algn="r">
              <a:spcAft>
                <a:spcPts val="600"/>
              </a:spcAft>
            </a:pPr>
            <a:r>
              <a:rPr sz="900" b="0" i="0">
                <a:solidFill>
                  <a:srgbClr val="F3D9DC"/>
                </a:solidFill>
                <a:latin typeface="Arial"/>
              </a:rPr>
              <a:t>Record Status Dashboard</a:t>
            </a:r>
          </a:p>
        </p:txBody>
      </p:sp>
      <p:sp>
        <p:nvSpPr>
          <p:cNvPr id="14" name="Rectangle 13"/>
          <p:cNvSpPr/>
          <p:nvPr/>
        </p:nvSpPr>
        <p:spPr>
          <a:xfrm>
            <a:off x="548640" y="1746504"/>
            <a:ext cx="1508760" cy="3877055"/>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1828800"/>
            <a:ext cx="1371600" cy="3749039"/>
          </a:xfrm>
          <a:prstGeom prst="rect">
            <a:avLst/>
          </a:prstGeom>
          <a:noFill/>
        </p:spPr>
        <p:txBody>
          <a:bodyPr wrap="square" lIns="0" tIns="0" rIns="0" bIns="0" anchor="t"/>
          <a:lstStyle/>
          <a:p>
            <a:pPr algn="l">
              <a:spcAft>
                <a:spcPts val="400"/>
              </a:spcAft>
            </a:pPr>
            <a:r>
              <a:rPr sz="850" b="1" i="0">
                <a:solidFill>
                  <a:srgbClr val="41464C"/>
                </a:solidFill>
                <a:latin typeface="Arial"/>
              </a:rPr>
              <a:t>Data collection</a:t>
            </a:r>
          </a:p>
          <a:p>
            <a:pPr algn="l">
              <a:spcAft>
                <a:spcPts val="400"/>
              </a:spcAft>
            </a:pPr>
            <a:r>
              <a:rPr sz="850" b="0" i="0">
                <a:solidFill>
                  <a:srgbClr val="1E88C8"/>
                </a:solidFill>
                <a:latin typeface="Arial"/>
              </a:rPr>
              <a:t>Record Status Dashboard</a:t>
            </a:r>
          </a:p>
          <a:p>
            <a:pPr algn="l">
              <a:spcAft>
                <a:spcPts val="400"/>
              </a:spcAft>
            </a:pPr>
            <a:r>
              <a:rPr sz="850" b="0" i="0">
                <a:solidFill>
                  <a:srgbClr val="1E88C8"/>
                </a:solidFill>
                <a:latin typeface="Arial"/>
              </a:rPr>
              <a:t>Add / Edit Records</a:t>
            </a:r>
          </a:p>
          <a:p>
            <a:pPr algn="l">
              <a:spcAft>
                <a:spcPts val="400"/>
              </a:spcAft>
            </a:pPr>
            <a:r>
              <a:rPr sz="850" b="0" i="0">
                <a:solidFill>
                  <a:srgbClr val="1E88C8"/>
                </a:solidFill>
                <a:latin typeface="Arial"/>
              </a:rPr>
              <a:t>Calendar</a:t>
            </a:r>
          </a:p>
        </p:txBody>
      </p:sp>
      <p:sp>
        <p:nvSpPr>
          <p:cNvPr id="16" name="Rectangle 15"/>
          <p:cNvSpPr/>
          <p:nvPr/>
        </p:nvSpPr>
        <p:spPr>
          <a:xfrm>
            <a:off x="2194560"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Record</a:t>
            </a:r>
          </a:p>
        </p:txBody>
      </p:sp>
      <p:sp>
        <p:nvSpPr>
          <p:cNvPr id="17" name="Rectangle 16"/>
          <p:cNvSpPr/>
          <p:nvPr/>
        </p:nvSpPr>
        <p:spPr>
          <a:xfrm>
            <a:off x="3116580"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Enrol.</a:t>
            </a:r>
          </a:p>
        </p:txBody>
      </p:sp>
      <p:sp>
        <p:nvSpPr>
          <p:cNvPr id="18" name="Rectangle 17"/>
          <p:cNvSpPr/>
          <p:nvPr/>
        </p:nvSpPr>
        <p:spPr>
          <a:xfrm>
            <a:off x="4038599"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Clin. B</a:t>
            </a:r>
          </a:p>
        </p:txBody>
      </p:sp>
      <p:sp>
        <p:nvSpPr>
          <p:cNvPr id="19" name="Rectangle 18"/>
          <p:cNvSpPr/>
          <p:nvPr/>
        </p:nvSpPr>
        <p:spPr>
          <a:xfrm>
            <a:off x="4960620"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Lab B</a:t>
            </a:r>
          </a:p>
        </p:txBody>
      </p:sp>
      <p:sp>
        <p:nvSpPr>
          <p:cNvPr id="20" name="Rectangle 19"/>
          <p:cNvSpPr/>
          <p:nvPr/>
        </p:nvSpPr>
        <p:spPr>
          <a:xfrm>
            <a:off x="5882640"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Clin. M2</a:t>
            </a:r>
          </a:p>
        </p:txBody>
      </p:sp>
      <p:sp>
        <p:nvSpPr>
          <p:cNvPr id="21" name="Rectangle 20"/>
          <p:cNvSpPr/>
          <p:nvPr/>
        </p:nvSpPr>
        <p:spPr>
          <a:xfrm>
            <a:off x="6804660" y="1874519"/>
            <a:ext cx="885443" cy="36576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850" b="1" i="0">
                <a:solidFill>
                  <a:srgbClr val="FFFFFF"/>
                </a:solidFill>
                <a:latin typeface="Arial"/>
              </a:rPr>
              <a:t>Lab M2</a:t>
            </a:r>
          </a:p>
        </p:txBody>
      </p:sp>
      <p:sp>
        <p:nvSpPr>
          <p:cNvPr id="22" name="TextBox 21"/>
          <p:cNvSpPr txBox="1"/>
          <p:nvPr/>
        </p:nvSpPr>
        <p:spPr>
          <a:xfrm>
            <a:off x="2194560" y="2331720"/>
            <a:ext cx="922020" cy="411480"/>
          </a:xfrm>
          <a:prstGeom prst="rect">
            <a:avLst/>
          </a:prstGeom>
          <a:noFill/>
        </p:spPr>
        <p:txBody>
          <a:bodyPr wrap="square" lIns="0" tIns="0" rIns="0" bIns="0" anchor="ctr"/>
          <a:lstStyle/>
          <a:p>
            <a:pPr algn="ctr">
              <a:spcAft>
                <a:spcPts val="600"/>
              </a:spcAft>
            </a:pPr>
            <a:r>
              <a:rPr sz="1000" b="1" i="0">
                <a:solidFill>
                  <a:srgbClr val="1E88C8"/>
                </a:solidFill>
                <a:latin typeface="Arial"/>
              </a:rPr>
              <a:t>TB-001</a:t>
            </a:r>
          </a:p>
        </p:txBody>
      </p:sp>
      <p:sp>
        <p:nvSpPr>
          <p:cNvPr id="23" name="Oval 22"/>
          <p:cNvSpPr/>
          <p:nvPr/>
        </p:nvSpPr>
        <p:spPr>
          <a:xfrm>
            <a:off x="3467861" y="242316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389881" y="242316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311901" y="242316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33922" y="242316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55941" y="2423160"/>
            <a:ext cx="219456" cy="219456"/>
          </a:xfrm>
          <a:prstGeom prst="ellipse">
            <a:avLst/>
          </a:prstGeom>
          <a:solidFill>
            <a:srgbClr val="E8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194560" y="2880360"/>
            <a:ext cx="922020" cy="411480"/>
          </a:xfrm>
          <a:prstGeom prst="rect">
            <a:avLst/>
          </a:prstGeom>
          <a:noFill/>
        </p:spPr>
        <p:txBody>
          <a:bodyPr wrap="square" lIns="0" tIns="0" rIns="0" bIns="0" anchor="ctr"/>
          <a:lstStyle/>
          <a:p>
            <a:pPr algn="ctr">
              <a:spcAft>
                <a:spcPts val="600"/>
              </a:spcAft>
            </a:pPr>
            <a:r>
              <a:rPr sz="1000" b="1" i="0">
                <a:solidFill>
                  <a:srgbClr val="1E88C8"/>
                </a:solidFill>
                <a:latin typeface="Arial"/>
              </a:rPr>
              <a:t>TB-002</a:t>
            </a:r>
          </a:p>
        </p:txBody>
      </p:sp>
      <p:sp>
        <p:nvSpPr>
          <p:cNvPr id="29" name="Oval 28"/>
          <p:cNvSpPr/>
          <p:nvPr/>
        </p:nvSpPr>
        <p:spPr>
          <a:xfrm>
            <a:off x="3467861" y="297180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389881" y="297180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311901" y="2971800"/>
            <a:ext cx="219456" cy="219456"/>
          </a:xfrm>
          <a:prstGeom prst="ellipse">
            <a:avLst/>
          </a:prstGeom>
          <a:solidFill>
            <a:srgbClr val="E8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233922" y="2971800"/>
            <a:ext cx="219456" cy="219456"/>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155941" y="2971800"/>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3429000"/>
            <a:ext cx="922020" cy="411480"/>
          </a:xfrm>
          <a:prstGeom prst="rect">
            <a:avLst/>
          </a:prstGeom>
          <a:noFill/>
        </p:spPr>
        <p:txBody>
          <a:bodyPr wrap="square" lIns="0" tIns="0" rIns="0" bIns="0" anchor="ctr"/>
          <a:lstStyle/>
          <a:p>
            <a:pPr algn="ctr">
              <a:spcAft>
                <a:spcPts val="600"/>
              </a:spcAft>
            </a:pPr>
            <a:r>
              <a:rPr sz="1000" b="1" i="0">
                <a:solidFill>
                  <a:srgbClr val="1E88C8"/>
                </a:solidFill>
                <a:latin typeface="Arial"/>
              </a:rPr>
              <a:t>TB-003</a:t>
            </a:r>
          </a:p>
        </p:txBody>
      </p:sp>
      <p:sp>
        <p:nvSpPr>
          <p:cNvPr id="35" name="Oval 34"/>
          <p:cNvSpPr/>
          <p:nvPr/>
        </p:nvSpPr>
        <p:spPr>
          <a:xfrm>
            <a:off x="3467861" y="3520440"/>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389881" y="3520440"/>
            <a:ext cx="219456" cy="219456"/>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311901" y="3520440"/>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233922" y="3520440"/>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155941" y="3520440"/>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94560" y="3977639"/>
            <a:ext cx="922020" cy="411480"/>
          </a:xfrm>
          <a:prstGeom prst="rect">
            <a:avLst/>
          </a:prstGeom>
          <a:noFill/>
        </p:spPr>
        <p:txBody>
          <a:bodyPr wrap="square" lIns="0" tIns="0" rIns="0" bIns="0" anchor="ctr"/>
          <a:lstStyle/>
          <a:p>
            <a:pPr algn="ctr">
              <a:spcAft>
                <a:spcPts val="600"/>
              </a:spcAft>
            </a:pPr>
            <a:r>
              <a:rPr sz="1000" b="1" i="0">
                <a:solidFill>
                  <a:srgbClr val="1E88C8"/>
                </a:solidFill>
                <a:latin typeface="Arial"/>
              </a:rPr>
              <a:t>TB-004</a:t>
            </a:r>
          </a:p>
        </p:txBody>
      </p:sp>
      <p:sp>
        <p:nvSpPr>
          <p:cNvPr id="41" name="Oval 40"/>
          <p:cNvSpPr/>
          <p:nvPr/>
        </p:nvSpPr>
        <p:spPr>
          <a:xfrm>
            <a:off x="3467861" y="4069079"/>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89881" y="4069079"/>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311901" y="4069079"/>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233922" y="4069079"/>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155941" y="4069079"/>
            <a:ext cx="219456" cy="219456"/>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160020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41080" y="1554480"/>
            <a:ext cx="2926080" cy="365760"/>
          </a:xfrm>
          <a:prstGeom prst="rect">
            <a:avLst/>
          </a:prstGeom>
          <a:noFill/>
        </p:spPr>
        <p:txBody>
          <a:bodyPr wrap="square" lIns="0" tIns="0" rIns="0" bIns="0" anchor="ctr"/>
          <a:lstStyle/>
          <a:p>
            <a:pPr algn="l">
              <a:spcAft>
                <a:spcPts val="600"/>
              </a:spcAft>
            </a:pPr>
            <a:r>
              <a:rPr sz="1600" b="0" i="0">
                <a:solidFill>
                  <a:srgbClr val="222222"/>
                </a:solidFill>
                <a:latin typeface="Arial"/>
              </a:rPr>
              <a:t>Complete</a:t>
            </a:r>
          </a:p>
        </p:txBody>
      </p:sp>
      <p:sp>
        <p:nvSpPr>
          <p:cNvPr id="48" name="Oval 47"/>
          <p:cNvSpPr/>
          <p:nvPr/>
        </p:nvSpPr>
        <p:spPr>
          <a:xfrm>
            <a:off x="8229600" y="2148840"/>
            <a:ext cx="274320" cy="274320"/>
          </a:xfrm>
          <a:prstGeom prst="ellipse">
            <a:avLst/>
          </a:prstGeom>
          <a:solidFill>
            <a:srgbClr val="E8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41080" y="2103120"/>
            <a:ext cx="2926080" cy="365760"/>
          </a:xfrm>
          <a:prstGeom prst="rect">
            <a:avLst/>
          </a:prstGeom>
          <a:noFill/>
        </p:spPr>
        <p:txBody>
          <a:bodyPr wrap="square" lIns="0" tIns="0" rIns="0" bIns="0" anchor="ctr"/>
          <a:lstStyle/>
          <a:p>
            <a:pPr algn="l">
              <a:spcAft>
                <a:spcPts val="600"/>
              </a:spcAft>
            </a:pPr>
            <a:r>
              <a:rPr sz="1600" b="0" i="0">
                <a:solidFill>
                  <a:srgbClr val="222222"/>
                </a:solidFill>
                <a:latin typeface="Arial"/>
              </a:rPr>
              <a:t>Unverified</a:t>
            </a:r>
          </a:p>
        </p:txBody>
      </p:sp>
      <p:sp>
        <p:nvSpPr>
          <p:cNvPr id="50" name="Oval 49"/>
          <p:cNvSpPr/>
          <p:nvPr/>
        </p:nvSpPr>
        <p:spPr>
          <a:xfrm>
            <a:off x="8229600" y="2697480"/>
            <a:ext cx="274320" cy="2743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41080" y="2651760"/>
            <a:ext cx="2926080" cy="365760"/>
          </a:xfrm>
          <a:prstGeom prst="rect">
            <a:avLst/>
          </a:prstGeom>
          <a:noFill/>
        </p:spPr>
        <p:txBody>
          <a:bodyPr wrap="square" lIns="0" tIns="0" rIns="0" bIns="0" anchor="ctr"/>
          <a:lstStyle/>
          <a:p>
            <a:pPr algn="l">
              <a:spcAft>
                <a:spcPts val="600"/>
              </a:spcAft>
            </a:pPr>
            <a:r>
              <a:rPr sz="1600" b="0" i="0">
                <a:solidFill>
                  <a:srgbClr val="222222"/>
                </a:solidFill>
                <a:latin typeface="Arial"/>
              </a:rPr>
              <a:t>Incomplete</a:t>
            </a:r>
          </a:p>
        </p:txBody>
      </p:sp>
      <p:sp>
        <p:nvSpPr>
          <p:cNvPr id="52" name="Oval 51"/>
          <p:cNvSpPr/>
          <p:nvPr/>
        </p:nvSpPr>
        <p:spPr>
          <a:xfrm>
            <a:off x="8229600" y="3246120"/>
            <a:ext cx="274320" cy="274320"/>
          </a:xfrm>
          <a:prstGeom prst="ellipse">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641080" y="3200400"/>
            <a:ext cx="2926080" cy="365760"/>
          </a:xfrm>
          <a:prstGeom prst="rect">
            <a:avLst/>
          </a:prstGeom>
          <a:noFill/>
        </p:spPr>
        <p:txBody>
          <a:bodyPr wrap="square" lIns="0" tIns="0" rIns="0" bIns="0" anchor="ctr"/>
          <a:lstStyle/>
          <a:p>
            <a:pPr algn="l">
              <a:spcAft>
                <a:spcPts val="600"/>
              </a:spcAft>
            </a:pPr>
            <a:r>
              <a:rPr sz="1600" b="0" i="0">
                <a:solidFill>
                  <a:srgbClr val="222222"/>
                </a:solidFill>
                <a:latin typeface="Arial"/>
              </a:rPr>
              <a:t>No data</a:t>
            </a:r>
          </a:p>
        </p:txBody>
      </p:sp>
      <p:sp>
        <p:nvSpPr>
          <p:cNvPr id="54" name="Rectangle 53"/>
          <p:cNvSpPr/>
          <p:nvPr/>
        </p:nvSpPr>
        <p:spPr>
          <a:xfrm>
            <a:off x="8229600" y="4023360"/>
            <a:ext cx="3410712" cy="91440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229600" y="4023360"/>
            <a:ext cx="73152" cy="914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E73E_2E7D32.png"/>
          <p:cNvPicPr>
            <a:picLocks noChangeAspect="1"/>
          </p:cNvPicPr>
          <p:nvPr/>
        </p:nvPicPr>
        <p:blipFill>
          <a:blip r:embed="rId4"/>
          <a:stretch>
            <a:fillRect/>
          </a:stretch>
        </p:blipFill>
        <p:spPr>
          <a:xfrm>
            <a:off x="8458200" y="4297680"/>
            <a:ext cx="365760" cy="365760"/>
          </a:xfrm>
          <a:prstGeom prst="rect">
            <a:avLst/>
          </a:prstGeom>
        </p:spPr>
      </p:pic>
      <p:sp>
        <p:nvSpPr>
          <p:cNvPr id="57" name="TextBox 56"/>
          <p:cNvSpPr txBox="1"/>
          <p:nvPr/>
        </p:nvSpPr>
        <p:spPr>
          <a:xfrm>
            <a:off x="8961120" y="4023360"/>
            <a:ext cx="2587751" cy="914400"/>
          </a:xfrm>
          <a:prstGeom prst="rect">
            <a:avLst/>
          </a:prstGeom>
          <a:noFill/>
        </p:spPr>
        <p:txBody>
          <a:bodyPr wrap="square" lIns="0" tIns="0" rIns="0" bIns="0" anchor="ctr"/>
          <a:lstStyle/>
          <a:p>
            <a:pPr algn="l">
              <a:spcAft>
                <a:spcPts val="600"/>
              </a:spcAft>
            </a:pPr>
            <a:r>
              <a:rPr sz="1400" b="0" i="0">
                <a:solidFill>
                  <a:srgbClr val="222222"/>
                </a:solidFill>
                <a:latin typeface="Arial"/>
              </a:rPr>
              <a:t>Agree as a team what </a:t>
            </a:r>
            <a:r>
              <a:rPr sz="1400" b="1" i="0">
                <a:solidFill>
                  <a:srgbClr val="2E7D32"/>
                </a:solidFill>
                <a:latin typeface="Arial"/>
              </a:rPr>
              <a:t>green</a:t>
            </a:r>
            <a:r>
              <a:rPr sz="1400" b="0" i="0">
                <a:solidFill>
                  <a:srgbClr val="222222"/>
                </a:solidFill>
                <a:latin typeface="Arial"/>
              </a:rPr>
              <a:t> means (e.g., checked against the source).</a:t>
            </a:r>
          </a:p>
        </p:txBody>
      </p:sp>
      <p:sp>
        <p:nvSpPr>
          <p:cNvPr id="58" name="TextBox 57"/>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TB: tuberculosis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Surveys: let participants enter their own data</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32</a:t>
            </a:r>
          </a:p>
        </p:txBody>
      </p:sp>
      <p:sp>
        <p:nvSpPr>
          <p:cNvPr id="8" name="Rectangle 7"/>
          <p:cNvSpPr/>
          <p:nvPr/>
        </p:nvSpPr>
        <p:spPr>
          <a:xfrm>
            <a:off x="548640" y="1463040"/>
            <a:ext cx="3520440"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774_FFFFFF.png"/>
          <p:cNvPicPr>
            <a:picLocks noChangeAspect="1"/>
          </p:cNvPicPr>
          <p:nvPr/>
        </p:nvPicPr>
        <p:blipFill>
          <a:blip r:embed="rId3"/>
          <a:stretch>
            <a:fillRect/>
          </a:stretch>
        </p:blipFill>
        <p:spPr>
          <a:xfrm>
            <a:off x="658368" y="1527048"/>
            <a:ext cx="329184" cy="329184"/>
          </a:xfrm>
          <a:prstGeom prst="rect">
            <a:avLst/>
          </a:prstGeom>
        </p:spPr>
      </p:pic>
      <p:sp>
        <p:nvSpPr>
          <p:cNvPr id="10" name="TextBox 9"/>
          <p:cNvSpPr txBox="1"/>
          <p:nvPr/>
        </p:nvSpPr>
        <p:spPr>
          <a:xfrm>
            <a:off x="1097280" y="146304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Public link and QR code</a:t>
            </a:r>
          </a:p>
        </p:txBody>
      </p:sp>
      <p:sp>
        <p:nvSpPr>
          <p:cNvPr id="11" name="Rectangle 10"/>
          <p:cNvSpPr/>
          <p:nvPr/>
        </p:nvSpPr>
        <p:spPr>
          <a:xfrm>
            <a:off x="548640" y="1920240"/>
            <a:ext cx="3520440" cy="11430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02996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one link for everyone</a:t>
            </a:r>
          </a:p>
        </p:txBody>
      </p:sp>
      <p:sp>
        <p:nvSpPr>
          <p:cNvPr id="13" name="Rectangle 12"/>
          <p:cNvSpPr/>
          <p:nvPr/>
        </p:nvSpPr>
        <p:spPr>
          <a:xfrm>
            <a:off x="4297679" y="1463040"/>
            <a:ext cx="3520440"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715_FFFFFF.png"/>
          <p:cNvPicPr>
            <a:picLocks noChangeAspect="1"/>
          </p:cNvPicPr>
          <p:nvPr/>
        </p:nvPicPr>
        <p:blipFill>
          <a:blip r:embed="rId4"/>
          <a:stretch>
            <a:fillRect/>
          </a:stretch>
        </p:blipFill>
        <p:spPr>
          <a:xfrm>
            <a:off x="4407407" y="1527048"/>
            <a:ext cx="329184" cy="329184"/>
          </a:xfrm>
          <a:prstGeom prst="rect">
            <a:avLst/>
          </a:prstGeom>
        </p:spPr>
      </p:pic>
      <p:sp>
        <p:nvSpPr>
          <p:cNvPr id="15" name="TextBox 14"/>
          <p:cNvSpPr txBox="1"/>
          <p:nvPr/>
        </p:nvSpPr>
        <p:spPr>
          <a:xfrm>
            <a:off x="4846319" y="146304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Participant list</a:t>
            </a:r>
          </a:p>
        </p:txBody>
      </p:sp>
      <p:sp>
        <p:nvSpPr>
          <p:cNvPr id="16" name="Rectangle 15"/>
          <p:cNvSpPr/>
          <p:nvPr/>
        </p:nvSpPr>
        <p:spPr>
          <a:xfrm>
            <a:off x="4297679" y="1920240"/>
            <a:ext cx="3520440" cy="11430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202996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personal links, reminders</a:t>
            </a:r>
          </a:p>
        </p:txBody>
      </p:sp>
      <p:sp>
        <p:nvSpPr>
          <p:cNvPr id="18" name="Rectangle 17"/>
          <p:cNvSpPr/>
          <p:nvPr/>
        </p:nvSpPr>
        <p:spPr>
          <a:xfrm>
            <a:off x="8046719"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ECA7_FFFFFF.png"/>
          <p:cNvPicPr>
            <a:picLocks noChangeAspect="1"/>
          </p:cNvPicPr>
          <p:nvPr/>
        </p:nvPicPr>
        <p:blipFill>
          <a:blip r:embed="rId5"/>
          <a:stretch>
            <a:fillRect/>
          </a:stretch>
        </p:blipFill>
        <p:spPr>
          <a:xfrm>
            <a:off x="8156447" y="1527048"/>
            <a:ext cx="329184" cy="329184"/>
          </a:xfrm>
          <a:prstGeom prst="rect">
            <a:avLst/>
          </a:prstGeom>
        </p:spPr>
      </p:pic>
      <p:sp>
        <p:nvSpPr>
          <p:cNvPr id="20" name="TextBox 19"/>
          <p:cNvSpPr txBox="1"/>
          <p:nvPr/>
        </p:nvSpPr>
        <p:spPr>
          <a:xfrm>
            <a:off x="8595359" y="146304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e-Consent</a:t>
            </a:r>
          </a:p>
        </p:txBody>
      </p:sp>
      <p:sp>
        <p:nvSpPr>
          <p:cNvPr id="21" name="Rectangle 20"/>
          <p:cNvSpPr/>
          <p:nvPr/>
        </p:nvSpPr>
        <p:spPr>
          <a:xfrm>
            <a:off x="8046719" y="1920240"/>
            <a:ext cx="3520440" cy="114300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79" y="202996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signed PDF with version and date</a:t>
            </a:r>
          </a:p>
        </p:txBody>
      </p:sp>
      <p:sp>
        <p:nvSpPr>
          <p:cNvPr id="23" name="Rectangle 22"/>
          <p:cNvSpPr/>
          <p:nvPr/>
        </p:nvSpPr>
        <p:spPr>
          <a:xfrm>
            <a:off x="548640" y="3246120"/>
            <a:ext cx="3520440"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E7E7_FFFFFF.png"/>
          <p:cNvPicPr>
            <a:picLocks noChangeAspect="1"/>
          </p:cNvPicPr>
          <p:nvPr/>
        </p:nvPicPr>
        <p:blipFill>
          <a:blip r:embed="rId6"/>
          <a:stretch>
            <a:fillRect/>
          </a:stretch>
        </p:blipFill>
        <p:spPr>
          <a:xfrm>
            <a:off x="658368" y="3310127"/>
            <a:ext cx="329184" cy="329184"/>
          </a:xfrm>
          <a:prstGeom prst="rect">
            <a:avLst/>
          </a:prstGeom>
        </p:spPr>
      </p:pic>
      <p:sp>
        <p:nvSpPr>
          <p:cNvPr id="25" name="TextBox 24"/>
          <p:cNvSpPr txBox="1"/>
          <p:nvPr/>
        </p:nvSpPr>
        <p:spPr>
          <a:xfrm>
            <a:off x="1097280" y="324612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Alerts and notifications</a:t>
            </a:r>
          </a:p>
        </p:txBody>
      </p:sp>
      <p:sp>
        <p:nvSpPr>
          <p:cNvPr id="26" name="Rectangle 25"/>
          <p:cNvSpPr/>
          <p:nvPr/>
        </p:nvSpPr>
        <p:spPr>
          <a:xfrm>
            <a:off x="548640" y="3703320"/>
            <a:ext cx="3520440" cy="11430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81304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e.g., e-mail when an event is reported</a:t>
            </a:r>
          </a:p>
        </p:txBody>
      </p:sp>
      <p:sp>
        <p:nvSpPr>
          <p:cNvPr id="28" name="Rectangle 27"/>
          <p:cNvSpPr/>
          <p:nvPr/>
        </p:nvSpPr>
        <p:spPr>
          <a:xfrm>
            <a:off x="4297679" y="3246120"/>
            <a:ext cx="352044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E8C1_FFFFFF.png"/>
          <p:cNvPicPr>
            <a:picLocks noChangeAspect="1"/>
          </p:cNvPicPr>
          <p:nvPr/>
        </p:nvPicPr>
        <p:blipFill>
          <a:blip r:embed="rId7"/>
          <a:stretch>
            <a:fillRect/>
          </a:stretch>
        </p:blipFill>
        <p:spPr>
          <a:xfrm>
            <a:off x="4407407" y="3310127"/>
            <a:ext cx="329184" cy="329184"/>
          </a:xfrm>
          <a:prstGeom prst="rect">
            <a:avLst/>
          </a:prstGeom>
        </p:spPr>
      </p:pic>
      <p:sp>
        <p:nvSpPr>
          <p:cNvPr id="30" name="TextBox 29"/>
          <p:cNvSpPr txBox="1"/>
          <p:nvPr/>
        </p:nvSpPr>
        <p:spPr>
          <a:xfrm>
            <a:off x="4846319" y="324612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Multi-Language Management</a:t>
            </a:r>
          </a:p>
        </p:txBody>
      </p:sp>
      <p:sp>
        <p:nvSpPr>
          <p:cNvPr id="31" name="Rectangle 30"/>
          <p:cNvSpPr/>
          <p:nvPr/>
        </p:nvSpPr>
        <p:spPr>
          <a:xfrm>
            <a:off x="4297679" y="3703320"/>
            <a:ext cx="3520440" cy="114300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34840" y="381304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one form, many languages</a:t>
            </a:r>
          </a:p>
        </p:txBody>
      </p:sp>
      <p:sp>
        <p:nvSpPr>
          <p:cNvPr id="33" name="Rectangle 32"/>
          <p:cNvSpPr/>
          <p:nvPr/>
        </p:nvSpPr>
        <p:spPr>
          <a:xfrm>
            <a:off x="8046719" y="3246120"/>
            <a:ext cx="3520440"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E8CB_FFFFFF.png"/>
          <p:cNvPicPr>
            <a:picLocks noChangeAspect="1"/>
          </p:cNvPicPr>
          <p:nvPr/>
        </p:nvPicPr>
        <p:blipFill>
          <a:blip r:embed="rId8"/>
          <a:stretch>
            <a:fillRect/>
          </a:stretch>
        </p:blipFill>
        <p:spPr>
          <a:xfrm>
            <a:off x="8156447" y="3310127"/>
            <a:ext cx="329184" cy="329184"/>
          </a:xfrm>
          <a:prstGeom prst="rect">
            <a:avLst/>
          </a:prstGeom>
        </p:spPr>
      </p:pic>
      <p:sp>
        <p:nvSpPr>
          <p:cNvPr id="35" name="TextBox 34"/>
          <p:cNvSpPr txBox="1"/>
          <p:nvPr/>
        </p:nvSpPr>
        <p:spPr>
          <a:xfrm>
            <a:off x="8595359" y="3246120"/>
            <a:ext cx="2880360" cy="457200"/>
          </a:xfrm>
          <a:prstGeom prst="rect">
            <a:avLst/>
          </a:prstGeom>
          <a:noFill/>
        </p:spPr>
        <p:txBody>
          <a:bodyPr wrap="square" lIns="0" tIns="0" rIns="0" bIns="0" anchor="ctr"/>
          <a:lstStyle/>
          <a:p>
            <a:pPr algn="l">
              <a:spcAft>
                <a:spcPts val="600"/>
              </a:spcAft>
            </a:pPr>
            <a:r>
              <a:rPr sz="1400" b="1" i="0">
                <a:solidFill>
                  <a:srgbClr val="FFFFFF"/>
                </a:solidFill>
                <a:latin typeface="Arial"/>
              </a:rPr>
              <a:t>Survey queue</a:t>
            </a:r>
          </a:p>
        </p:txBody>
      </p:sp>
      <p:sp>
        <p:nvSpPr>
          <p:cNvPr id="36" name="Rectangle 35"/>
          <p:cNvSpPr/>
          <p:nvPr/>
        </p:nvSpPr>
        <p:spPr>
          <a:xfrm>
            <a:off x="8046719" y="3703320"/>
            <a:ext cx="3520440" cy="114300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83879" y="3813048"/>
            <a:ext cx="3246120" cy="960120"/>
          </a:xfrm>
          <a:prstGeom prst="rect">
            <a:avLst/>
          </a:prstGeom>
          <a:noFill/>
        </p:spPr>
        <p:txBody>
          <a:bodyPr wrap="square" lIns="0" tIns="0" rIns="0" bIns="0" anchor="t"/>
          <a:lstStyle/>
          <a:p>
            <a:pPr algn="l">
              <a:spcAft>
                <a:spcPts val="400"/>
              </a:spcAft>
            </a:pPr>
            <a:r>
              <a:rPr sz="1400" b="0" i="0">
                <a:solidFill>
                  <a:srgbClr val="222222"/>
                </a:solidFill>
                <a:latin typeface="Arial"/>
              </a:rPr>
              <a:t>several surveys in a row</a:t>
            </a:r>
          </a:p>
        </p:txBody>
      </p:sp>
      <p:sp>
        <p:nvSpPr>
          <p:cNvPr id="38" name="Rectangle 37"/>
          <p:cNvSpPr/>
          <p:nvPr/>
        </p:nvSpPr>
        <p:spPr>
          <a:xfrm>
            <a:off x="548640" y="521208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48640" y="521208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ECA7_C8102E.png"/>
          <p:cNvPicPr>
            <a:picLocks noChangeAspect="1"/>
          </p:cNvPicPr>
          <p:nvPr/>
        </p:nvPicPr>
        <p:blipFill>
          <a:blip r:embed="rId9"/>
          <a:stretch>
            <a:fillRect/>
          </a:stretch>
        </p:blipFill>
        <p:spPr>
          <a:xfrm>
            <a:off x="777240" y="5303520"/>
            <a:ext cx="365760" cy="365760"/>
          </a:xfrm>
          <a:prstGeom prst="rect">
            <a:avLst/>
          </a:prstGeom>
        </p:spPr>
      </p:pic>
      <p:sp>
        <p:nvSpPr>
          <p:cNvPr id="41" name="TextBox 40"/>
          <p:cNvSpPr txBox="1"/>
          <p:nvPr/>
        </p:nvSpPr>
        <p:spPr>
          <a:xfrm>
            <a:off x="1280160" y="521208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Electronic consent? Check that your </a:t>
            </a:r>
            <a:r>
              <a:rPr sz="1500" b="1" i="0">
                <a:solidFill>
                  <a:srgbClr val="C8102E"/>
                </a:solidFill>
                <a:latin typeface="Arial"/>
              </a:rPr>
              <a:t>ethics committee</a:t>
            </a:r>
            <a:r>
              <a:rPr sz="1500" b="0" i="0">
                <a:solidFill>
                  <a:srgbClr val="222222"/>
                </a:solidFill>
                <a:latin typeface="Arial"/>
              </a:rPr>
              <a:t> accepts it.</a:t>
            </a:r>
          </a:p>
        </p:txBody>
      </p:sp>
      <p:sp>
        <p:nvSpPr>
          <p:cNvPr id="42" name="TextBox 41"/>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QR: quick response (code)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Data Access Groups for multi-site projects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33</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Data Access Groups for multi-site projects (7 min)</a:t>
            </a:r>
          </a:p>
        </p:txBody>
      </p:sp>
      <p:sp>
        <p:nvSpPr>
          <p:cNvPr id="10" name="Rectangle 9"/>
          <p:cNvSpPr/>
          <p:nvPr/>
        </p:nvSpPr>
        <p:spPr>
          <a:xfrm>
            <a:off x="548640" y="1463040"/>
            <a:ext cx="6766560" cy="39319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651760" y="1645920"/>
            <a:ext cx="2560320" cy="73152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600"/>
              </a:spcAft>
            </a:pPr>
            <a:r>
              <a:rPr sz="1200" b="1" i="0">
                <a:solidFill>
                  <a:srgbClr val="FFFFFF"/>
                </a:solidFill>
                <a:latin typeface="Arial"/>
              </a:rPr>
              <a:t>Data manager (no DAG): sees all</a:t>
            </a:r>
          </a:p>
        </p:txBody>
      </p:sp>
      <p:sp>
        <p:nvSpPr>
          <p:cNvPr id="12" name="Rectangle 11"/>
          <p:cNvSpPr/>
          <p:nvPr/>
        </p:nvSpPr>
        <p:spPr>
          <a:xfrm>
            <a:off x="822960" y="3017520"/>
            <a:ext cx="2926080"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DAG Antwerp</a:t>
            </a:r>
          </a:p>
        </p:txBody>
      </p:sp>
      <p:sp>
        <p:nvSpPr>
          <p:cNvPr id="13" name="Rectangle 12"/>
          <p:cNvSpPr/>
          <p:nvPr/>
        </p:nvSpPr>
        <p:spPr>
          <a:xfrm>
            <a:off x="822960" y="3611880"/>
            <a:ext cx="2926080" cy="155448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pPr>
            <a:r>
              <a:rPr sz="1300" b="0" i="0">
                <a:solidFill>
                  <a:srgbClr val="222222"/>
                </a:solidFill>
                <a:latin typeface="Arial"/>
              </a:rPr>
              <a:t>site staff see only:</a:t>
            </a:r>
          </a:p>
          <a:p>
            <a:pPr algn="ctr">
              <a:spcAft>
                <a:spcPts val="600"/>
              </a:spcAft>
            </a:pPr>
            <a:r>
              <a:rPr sz="1300" b="0" i="0">
                <a:solidFill>
                  <a:srgbClr val="222222"/>
                </a:solidFill>
                <a:latin typeface="Arial"/>
              </a:rPr>
              <a:t>TB-001 … TB-300</a:t>
            </a:r>
          </a:p>
        </p:txBody>
      </p:sp>
      <p:cxnSp>
        <p:nvCxnSpPr>
          <p:cNvPr id="14" name="Connector 13"/>
          <p:cNvCxnSpPr/>
          <p:nvPr/>
        </p:nvCxnSpPr>
        <p:spPr>
          <a:xfrm flipH="1">
            <a:off x="2286000" y="2395728"/>
            <a:ext cx="1645920" cy="603504"/>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114800" y="3017520"/>
            <a:ext cx="2926080"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DAG Mbarara</a:t>
            </a:r>
          </a:p>
        </p:txBody>
      </p:sp>
      <p:sp>
        <p:nvSpPr>
          <p:cNvPr id="16" name="Rectangle 15"/>
          <p:cNvSpPr/>
          <p:nvPr/>
        </p:nvSpPr>
        <p:spPr>
          <a:xfrm>
            <a:off x="4114800" y="3611880"/>
            <a:ext cx="2926080" cy="155448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pPr>
            <a:r>
              <a:rPr sz="1300" b="0" i="0">
                <a:solidFill>
                  <a:srgbClr val="222222"/>
                </a:solidFill>
                <a:latin typeface="Arial"/>
              </a:rPr>
              <a:t>site staff see only:</a:t>
            </a:r>
          </a:p>
          <a:p>
            <a:pPr algn="ctr">
              <a:spcAft>
                <a:spcPts val="600"/>
              </a:spcAft>
            </a:pPr>
            <a:r>
              <a:rPr sz="1300" b="0" i="0">
                <a:solidFill>
                  <a:srgbClr val="222222"/>
                </a:solidFill>
                <a:latin typeface="Arial"/>
              </a:rPr>
              <a:t>TB-301 … TB-600</a:t>
            </a:r>
          </a:p>
        </p:txBody>
      </p:sp>
      <p:cxnSp>
        <p:nvCxnSpPr>
          <p:cNvPr id="17" name="Connector 16"/>
          <p:cNvCxnSpPr/>
          <p:nvPr/>
        </p:nvCxnSpPr>
        <p:spPr>
          <a:xfrm>
            <a:off x="3931920" y="2395728"/>
            <a:ext cx="1645920" cy="603504"/>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Picture 17" descr="E716_1E88C8.png"/>
          <p:cNvPicPr>
            <a:picLocks noChangeAspect="1"/>
          </p:cNvPicPr>
          <p:nvPr/>
        </p:nvPicPr>
        <p:blipFill>
          <a:blip r:embed="rId4"/>
          <a:stretch>
            <a:fillRect/>
          </a:stretch>
        </p:blipFill>
        <p:spPr>
          <a:xfrm>
            <a:off x="7680960" y="1600200"/>
            <a:ext cx="411480" cy="411480"/>
          </a:xfrm>
          <a:prstGeom prst="rect">
            <a:avLst/>
          </a:prstGeom>
        </p:spPr>
      </p:pic>
      <p:sp>
        <p:nvSpPr>
          <p:cNvPr id="19" name="TextBox 18"/>
          <p:cNvSpPr txBox="1"/>
          <p:nvPr/>
        </p:nvSpPr>
        <p:spPr>
          <a:xfrm>
            <a:off x="8275319" y="1618488"/>
            <a:ext cx="3337559" cy="822960"/>
          </a:xfrm>
          <a:prstGeom prst="rect">
            <a:avLst/>
          </a:prstGeom>
          <a:noFill/>
        </p:spPr>
        <p:txBody>
          <a:bodyPr wrap="square" lIns="0" tIns="0" rIns="0" bIns="0" anchor="t"/>
          <a:lstStyle/>
          <a:p>
            <a:pPr algn="l">
              <a:spcAft>
                <a:spcPts val="600"/>
              </a:spcAft>
            </a:pPr>
            <a:r>
              <a:rPr sz="1500" b="1" i="0">
                <a:solidFill>
                  <a:srgbClr val="222222"/>
                </a:solidFill>
                <a:latin typeface="Arial"/>
              </a:rPr>
              <a:t>One DAG per site</a:t>
            </a:r>
          </a:p>
        </p:txBody>
      </p:sp>
      <p:pic>
        <p:nvPicPr>
          <p:cNvPr id="20" name="Picture 19" descr="E72E_1E88C8.png"/>
          <p:cNvPicPr>
            <a:picLocks noChangeAspect="1"/>
          </p:cNvPicPr>
          <p:nvPr/>
        </p:nvPicPr>
        <p:blipFill>
          <a:blip r:embed="rId5"/>
          <a:stretch>
            <a:fillRect/>
          </a:stretch>
        </p:blipFill>
        <p:spPr>
          <a:xfrm>
            <a:off x="7680960" y="2423160"/>
            <a:ext cx="411480" cy="411480"/>
          </a:xfrm>
          <a:prstGeom prst="rect">
            <a:avLst/>
          </a:prstGeom>
        </p:spPr>
      </p:pic>
      <p:sp>
        <p:nvSpPr>
          <p:cNvPr id="21" name="TextBox 20"/>
          <p:cNvSpPr txBox="1"/>
          <p:nvPr/>
        </p:nvSpPr>
        <p:spPr>
          <a:xfrm>
            <a:off x="8275319" y="2441448"/>
            <a:ext cx="3337559" cy="822960"/>
          </a:xfrm>
          <a:prstGeom prst="rect">
            <a:avLst/>
          </a:prstGeom>
          <a:noFill/>
        </p:spPr>
        <p:txBody>
          <a:bodyPr wrap="square" lIns="0" tIns="0" rIns="0" bIns="0" anchor="t"/>
          <a:lstStyle/>
          <a:p>
            <a:pPr algn="l">
              <a:spcAft>
                <a:spcPts val="600"/>
              </a:spcAft>
            </a:pPr>
            <a:r>
              <a:rPr sz="1500" b="1" i="0">
                <a:solidFill>
                  <a:srgbClr val="222222"/>
                </a:solidFill>
                <a:latin typeface="Arial"/>
              </a:rPr>
              <a:t>Sites cannot see each other</a:t>
            </a:r>
          </a:p>
        </p:txBody>
      </p:sp>
      <p:pic>
        <p:nvPicPr>
          <p:cNvPr id="22" name="Picture 21" descr="E73E_1E88C8.png"/>
          <p:cNvPicPr>
            <a:picLocks noChangeAspect="1"/>
          </p:cNvPicPr>
          <p:nvPr/>
        </p:nvPicPr>
        <p:blipFill>
          <a:blip r:embed="rId6"/>
          <a:stretch>
            <a:fillRect/>
          </a:stretch>
        </p:blipFill>
        <p:spPr>
          <a:xfrm>
            <a:off x="7680960" y="3246120"/>
            <a:ext cx="411480" cy="411480"/>
          </a:xfrm>
          <a:prstGeom prst="rect">
            <a:avLst/>
          </a:prstGeom>
        </p:spPr>
      </p:pic>
      <p:sp>
        <p:nvSpPr>
          <p:cNvPr id="23" name="TextBox 22"/>
          <p:cNvSpPr txBox="1"/>
          <p:nvPr/>
        </p:nvSpPr>
        <p:spPr>
          <a:xfrm>
            <a:off x="8275319" y="3264408"/>
            <a:ext cx="3337559" cy="822960"/>
          </a:xfrm>
          <a:prstGeom prst="rect">
            <a:avLst/>
          </a:prstGeom>
          <a:noFill/>
        </p:spPr>
        <p:txBody>
          <a:bodyPr wrap="square" lIns="0" tIns="0" rIns="0" bIns="0" anchor="t"/>
          <a:lstStyle/>
          <a:p>
            <a:pPr algn="l">
              <a:spcAft>
                <a:spcPts val="600"/>
              </a:spcAft>
            </a:pPr>
            <a:r>
              <a:rPr sz="1500" b="1" i="0">
                <a:solidFill>
                  <a:srgbClr val="222222"/>
                </a:solidFill>
                <a:latin typeface="Arial"/>
              </a:rPr>
              <a:t>New records join the user's DAG</a:t>
            </a:r>
          </a:p>
        </p:txBody>
      </p:sp>
      <p:sp>
        <p:nvSpPr>
          <p:cNvPr id="24" name="Rectangle 23"/>
          <p:cNvSpPr/>
          <p:nvPr/>
        </p:nvSpPr>
        <p:spPr>
          <a:xfrm>
            <a:off x="7680960" y="4297680"/>
            <a:ext cx="3959352" cy="73152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680960" y="4297680"/>
            <a:ext cx="73152" cy="73152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716_1E88C8.png"/>
          <p:cNvPicPr>
            <a:picLocks noChangeAspect="1"/>
          </p:cNvPicPr>
          <p:nvPr/>
        </p:nvPicPr>
        <p:blipFill>
          <a:blip r:embed="rId4"/>
          <a:stretch>
            <a:fillRect/>
          </a:stretch>
        </p:blipFill>
        <p:spPr>
          <a:xfrm>
            <a:off x="7909560" y="4480560"/>
            <a:ext cx="365760" cy="365760"/>
          </a:xfrm>
          <a:prstGeom prst="rect">
            <a:avLst/>
          </a:prstGeom>
        </p:spPr>
      </p:pic>
      <p:sp>
        <p:nvSpPr>
          <p:cNvPr id="27" name="TextBox 26"/>
          <p:cNvSpPr txBox="1"/>
          <p:nvPr/>
        </p:nvSpPr>
        <p:spPr>
          <a:xfrm>
            <a:off x="8412480" y="4297680"/>
            <a:ext cx="3136391" cy="731520"/>
          </a:xfrm>
          <a:prstGeom prst="rect">
            <a:avLst/>
          </a:prstGeom>
          <a:noFill/>
        </p:spPr>
        <p:txBody>
          <a:bodyPr wrap="square" lIns="0" tIns="0" rIns="0" bIns="0" anchor="ctr"/>
          <a:lstStyle/>
          <a:p>
            <a:pPr algn="l">
              <a:spcAft>
                <a:spcPts val="600"/>
              </a:spcAft>
            </a:pPr>
            <a:r>
              <a:rPr sz="1500" b="0" i="0">
                <a:solidFill>
                  <a:srgbClr val="222222"/>
                </a:solidFill>
                <a:latin typeface="Arial"/>
              </a:rPr>
              <a:t>TBCARE: </a:t>
            </a:r>
            <a:r>
              <a:rPr sz="1500" b="1" i="0">
                <a:solidFill>
                  <a:srgbClr val="1E88C8"/>
                </a:solidFill>
                <a:latin typeface="Arial"/>
              </a:rPr>
              <a:t>two DAGs</a:t>
            </a:r>
            <a:r>
              <a:rPr sz="1500" b="0" i="0">
                <a:solidFill>
                  <a:srgbClr val="222222"/>
                </a:solidFill>
                <a:latin typeface="Arial"/>
              </a:rPr>
              <a:t>, Antwerp and Mbarara.</a:t>
            </a:r>
          </a:p>
        </p:txBody>
      </p:sp>
      <p:sp>
        <p:nvSpPr>
          <p:cNvPr id="28" name="TextBox 27"/>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DAG: Data Access Group   ·   TB: tuberculosis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Queries: the Data Resolution Workflow</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34</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Data Resolution Workflow – data queries module (5 min)</a:t>
            </a:r>
          </a:p>
        </p:txBody>
      </p:sp>
      <p:sp>
        <p:nvSpPr>
          <p:cNvPr id="10" name="Oval 9"/>
          <p:cNvSpPr/>
          <p:nvPr/>
        </p:nvSpPr>
        <p:spPr>
          <a:xfrm>
            <a:off x="548640" y="16002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2000" b="1" i="0">
                <a:solidFill>
                  <a:srgbClr val="FFFFFF"/>
                </a:solidFill>
                <a:latin typeface="Arial"/>
              </a:rPr>
              <a:t>1</a:t>
            </a:r>
          </a:p>
        </p:txBody>
      </p:sp>
      <p:cxnSp>
        <p:nvCxnSpPr>
          <p:cNvPr id="11" name="Connector 10"/>
          <p:cNvCxnSpPr/>
          <p:nvPr/>
        </p:nvCxnSpPr>
        <p:spPr>
          <a:xfrm>
            <a:off x="1280160" y="1920240"/>
            <a:ext cx="2926080" cy="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377440"/>
            <a:ext cx="3474720" cy="411480"/>
          </a:xfrm>
          <a:prstGeom prst="rect">
            <a:avLst/>
          </a:prstGeom>
          <a:noFill/>
        </p:spPr>
        <p:txBody>
          <a:bodyPr wrap="square" lIns="0" tIns="0" rIns="0" bIns="0" anchor="t"/>
          <a:lstStyle/>
          <a:p>
            <a:pPr algn="l">
              <a:spcAft>
                <a:spcPts val="600"/>
              </a:spcAft>
            </a:pPr>
            <a:r>
              <a:rPr sz="2000" b="1" i="0">
                <a:solidFill>
                  <a:srgbClr val="C8102E"/>
                </a:solidFill>
                <a:latin typeface="Arial"/>
              </a:rPr>
              <a:t>Open</a:t>
            </a:r>
          </a:p>
        </p:txBody>
      </p:sp>
      <p:sp>
        <p:nvSpPr>
          <p:cNvPr id="13" name="TextBox 12"/>
          <p:cNvSpPr txBox="1"/>
          <p:nvPr/>
        </p:nvSpPr>
        <p:spPr>
          <a:xfrm>
            <a:off x="548640" y="2834640"/>
            <a:ext cx="3383280" cy="731520"/>
          </a:xfrm>
          <a:prstGeom prst="rect">
            <a:avLst/>
          </a:prstGeom>
          <a:noFill/>
        </p:spPr>
        <p:txBody>
          <a:bodyPr wrap="square" lIns="0" tIns="0" rIns="0" bIns="0" anchor="t"/>
          <a:lstStyle/>
          <a:p>
            <a:pPr algn="l">
              <a:spcAft>
                <a:spcPts val="600"/>
              </a:spcAft>
            </a:pPr>
            <a:r>
              <a:rPr sz="1500" b="0" i="0">
                <a:solidFill>
                  <a:srgbClr val="222222"/>
                </a:solidFill>
                <a:latin typeface="Arial"/>
              </a:rPr>
              <a:t>data manager asks: “Weight 300 kg?”</a:t>
            </a:r>
          </a:p>
        </p:txBody>
      </p:sp>
      <p:sp>
        <p:nvSpPr>
          <p:cNvPr id="14" name="Oval 13"/>
          <p:cNvSpPr/>
          <p:nvPr/>
        </p:nvSpPr>
        <p:spPr>
          <a:xfrm>
            <a:off x="4297679" y="1600200"/>
            <a:ext cx="640080" cy="640080"/>
          </a:xfrm>
          <a:prstGeom prst="ellipse">
            <a:avLst/>
          </a:prstGeom>
          <a:solidFill>
            <a:srgbClr val="E8B4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2000" b="1" i="0">
                <a:solidFill>
                  <a:srgbClr val="FFFFFF"/>
                </a:solidFill>
                <a:latin typeface="Arial"/>
              </a:rPr>
              <a:t>2</a:t>
            </a:r>
          </a:p>
        </p:txBody>
      </p:sp>
      <p:cxnSp>
        <p:nvCxnSpPr>
          <p:cNvPr id="15" name="Connector 14"/>
          <p:cNvCxnSpPr/>
          <p:nvPr/>
        </p:nvCxnSpPr>
        <p:spPr>
          <a:xfrm>
            <a:off x="5029199" y="1920240"/>
            <a:ext cx="2926080" cy="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79" y="2377440"/>
            <a:ext cx="3474720" cy="411480"/>
          </a:xfrm>
          <a:prstGeom prst="rect">
            <a:avLst/>
          </a:prstGeom>
          <a:noFill/>
        </p:spPr>
        <p:txBody>
          <a:bodyPr wrap="square" lIns="0" tIns="0" rIns="0" bIns="0" anchor="t"/>
          <a:lstStyle/>
          <a:p>
            <a:pPr algn="l">
              <a:spcAft>
                <a:spcPts val="600"/>
              </a:spcAft>
            </a:pPr>
            <a:r>
              <a:rPr sz="2000" b="1" i="0">
                <a:solidFill>
                  <a:srgbClr val="B26A00"/>
                </a:solidFill>
                <a:latin typeface="Arial"/>
              </a:rPr>
              <a:t>Respond</a:t>
            </a:r>
          </a:p>
        </p:txBody>
      </p:sp>
      <p:sp>
        <p:nvSpPr>
          <p:cNvPr id="17" name="TextBox 16"/>
          <p:cNvSpPr txBox="1"/>
          <p:nvPr/>
        </p:nvSpPr>
        <p:spPr>
          <a:xfrm>
            <a:off x="4297679" y="2834640"/>
            <a:ext cx="3383280" cy="731520"/>
          </a:xfrm>
          <a:prstGeom prst="rect">
            <a:avLst/>
          </a:prstGeom>
          <a:noFill/>
        </p:spPr>
        <p:txBody>
          <a:bodyPr wrap="square" lIns="0" tIns="0" rIns="0" bIns="0" anchor="t"/>
          <a:lstStyle/>
          <a:p>
            <a:pPr algn="l">
              <a:spcAft>
                <a:spcPts val="600"/>
              </a:spcAft>
            </a:pPr>
            <a:r>
              <a:rPr sz="1500" b="0" i="0">
                <a:solidFill>
                  <a:srgbClr val="222222"/>
                </a:solidFill>
                <a:latin typeface="Arial"/>
              </a:rPr>
              <a:t>site corrects to 60.0 or confirms</a:t>
            </a:r>
          </a:p>
        </p:txBody>
      </p:sp>
      <p:sp>
        <p:nvSpPr>
          <p:cNvPr id="18" name="Oval 17"/>
          <p:cNvSpPr/>
          <p:nvPr/>
        </p:nvSpPr>
        <p:spPr>
          <a:xfrm>
            <a:off x="8046719" y="1600200"/>
            <a:ext cx="640080" cy="64008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2000" b="1" i="0">
                <a:solidFill>
                  <a:srgbClr val="FFFFFF"/>
                </a:solidFill>
                <a:latin typeface="Arial"/>
              </a:rPr>
              <a:t>3</a:t>
            </a:r>
          </a:p>
        </p:txBody>
      </p:sp>
      <p:sp>
        <p:nvSpPr>
          <p:cNvPr id="19" name="TextBox 18"/>
          <p:cNvSpPr txBox="1"/>
          <p:nvPr/>
        </p:nvSpPr>
        <p:spPr>
          <a:xfrm>
            <a:off x="8046719" y="2377440"/>
            <a:ext cx="3474720" cy="411480"/>
          </a:xfrm>
          <a:prstGeom prst="rect">
            <a:avLst/>
          </a:prstGeom>
          <a:noFill/>
        </p:spPr>
        <p:txBody>
          <a:bodyPr wrap="square" lIns="0" tIns="0" rIns="0" bIns="0" anchor="t"/>
          <a:lstStyle/>
          <a:p>
            <a:pPr algn="l">
              <a:spcAft>
                <a:spcPts val="600"/>
              </a:spcAft>
            </a:pPr>
            <a:r>
              <a:rPr sz="2000" b="1" i="0">
                <a:solidFill>
                  <a:srgbClr val="2E7D32"/>
                </a:solidFill>
                <a:latin typeface="Arial"/>
              </a:rPr>
              <a:t>Close</a:t>
            </a:r>
          </a:p>
        </p:txBody>
      </p:sp>
      <p:sp>
        <p:nvSpPr>
          <p:cNvPr id="20" name="TextBox 19"/>
          <p:cNvSpPr txBox="1"/>
          <p:nvPr/>
        </p:nvSpPr>
        <p:spPr>
          <a:xfrm>
            <a:off x="8046719" y="2834640"/>
            <a:ext cx="3383280" cy="731520"/>
          </a:xfrm>
          <a:prstGeom prst="rect">
            <a:avLst/>
          </a:prstGeom>
          <a:noFill/>
        </p:spPr>
        <p:txBody>
          <a:bodyPr wrap="square" lIns="0" tIns="0" rIns="0" bIns="0" anchor="t"/>
          <a:lstStyle/>
          <a:p>
            <a:pPr algn="l">
              <a:spcAft>
                <a:spcPts val="600"/>
              </a:spcAft>
            </a:pPr>
            <a:r>
              <a:rPr sz="1500" b="0" i="0">
                <a:solidFill>
                  <a:srgbClr val="222222"/>
                </a:solidFill>
                <a:latin typeface="Arial"/>
              </a:rPr>
              <a:t>data manager closes the query</a:t>
            </a:r>
          </a:p>
        </p:txBody>
      </p:sp>
      <p:sp>
        <p:nvSpPr>
          <p:cNvPr id="21" name="Rectangle 20"/>
          <p:cNvSpPr/>
          <p:nvPr/>
        </p:nvSpPr>
        <p:spPr>
          <a:xfrm>
            <a:off x="548640" y="393192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393192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81C_1E88C8.png"/>
          <p:cNvPicPr>
            <a:picLocks noChangeAspect="1"/>
          </p:cNvPicPr>
          <p:nvPr/>
        </p:nvPicPr>
        <p:blipFill>
          <a:blip r:embed="rId4"/>
          <a:stretch>
            <a:fillRect/>
          </a:stretch>
        </p:blipFill>
        <p:spPr>
          <a:xfrm>
            <a:off x="777240" y="4023359"/>
            <a:ext cx="365760" cy="365760"/>
          </a:xfrm>
          <a:prstGeom prst="rect">
            <a:avLst/>
          </a:prstGeom>
        </p:spPr>
      </p:pic>
      <p:sp>
        <p:nvSpPr>
          <p:cNvPr id="24" name="TextBox 23"/>
          <p:cNvSpPr txBox="1"/>
          <p:nvPr/>
        </p:nvSpPr>
        <p:spPr>
          <a:xfrm>
            <a:off x="1280160" y="39319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Every step is </a:t>
            </a:r>
            <a:r>
              <a:rPr sz="1500" b="1" i="0">
                <a:solidFill>
                  <a:srgbClr val="1E88C8"/>
                </a:solidFill>
                <a:latin typeface="Arial"/>
              </a:rPr>
              <a:t>time-stamped</a:t>
            </a:r>
            <a:r>
              <a:rPr sz="1500" b="0" i="0">
                <a:solidFill>
                  <a:srgbClr val="222222"/>
                </a:solidFill>
                <a:latin typeface="Arial"/>
              </a:rPr>
              <a:t>: the audit trail for monitors and auditors.</a:t>
            </a:r>
          </a:p>
        </p:txBody>
      </p:sp>
      <p:sp>
        <p:nvSpPr>
          <p:cNvPr id="25" name="Rectangle 24"/>
          <p:cNvSpPr/>
          <p:nvPr/>
        </p:nvSpPr>
        <p:spPr>
          <a:xfrm>
            <a:off x="548640" y="466344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 y="466344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E721_2E7D32.png"/>
          <p:cNvPicPr>
            <a:picLocks noChangeAspect="1"/>
          </p:cNvPicPr>
          <p:nvPr/>
        </p:nvPicPr>
        <p:blipFill>
          <a:blip r:embed="rId5"/>
          <a:stretch>
            <a:fillRect/>
          </a:stretch>
        </p:blipFill>
        <p:spPr>
          <a:xfrm>
            <a:off x="777240" y="4754879"/>
            <a:ext cx="365760" cy="365760"/>
          </a:xfrm>
          <a:prstGeom prst="rect">
            <a:avLst/>
          </a:prstGeom>
        </p:spPr>
      </p:pic>
      <p:sp>
        <p:nvSpPr>
          <p:cNvPr id="28" name="TextBox 27"/>
          <p:cNvSpPr txBox="1"/>
          <p:nvPr/>
        </p:nvSpPr>
        <p:spPr>
          <a:xfrm>
            <a:off x="1280160" y="46634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Use the </a:t>
            </a:r>
            <a:r>
              <a:rPr sz="1500" b="1" i="0">
                <a:solidFill>
                  <a:srgbClr val="1E88C8"/>
                </a:solidFill>
                <a:latin typeface="Arial"/>
              </a:rPr>
              <a:t>Resolve Issues</a:t>
            </a:r>
            <a:r>
              <a:rPr sz="1500" b="0" i="0">
                <a:solidFill>
                  <a:srgbClr val="222222"/>
                </a:solidFill>
                <a:latin typeface="Arial"/>
              </a:rPr>
              <a:t> page to see all open queries before lock.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Data Quality rules: find errors that slipped through</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35</a:t>
            </a:r>
          </a:p>
        </p:txBody>
      </p:sp>
      <p:graphicFrame>
        <p:nvGraphicFramePr>
          <p:cNvPr id="8" name="Table 7"/>
          <p:cNvGraphicFramePr>
            <a:graphicFrameLocks noGrp="1"/>
          </p:cNvGraphicFramePr>
          <p:nvPr/>
        </p:nvGraphicFramePr>
        <p:xfrm>
          <a:off x="548640" y="1463040"/>
          <a:ext cx="5852160" cy="251460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502920">
                <a:tc>
                  <a:txBody>
                    <a:bodyPr/>
                    <a:lstStyle/>
                    <a:p>
                      <a:pPr algn="l">
                        <a:spcAft>
                          <a:spcPts val="0"/>
                        </a:spcAft>
                      </a:pPr>
                      <a:r>
                        <a:rPr sz="1400" b="1" i="0">
                          <a:solidFill>
                            <a:srgbClr val="FFFFFF"/>
                          </a:solidFill>
                          <a:latin typeface="Arial"/>
                        </a:rPr>
                        <a:t>Built-in checks (examples)</a:t>
                      </a:r>
                    </a:p>
                  </a:txBody>
                  <a:tcPr marT="36576" marB="36576" anchor="ctr">
                    <a:solidFill>
                      <a:srgbClr val="41464C"/>
                    </a:solidFill>
                  </a:tcPr>
                </a:tc>
                <a:tc>
                  <a:txBody>
                    <a:bodyPr/>
                    <a:lstStyle/>
                    <a:p>
                      <a:pPr algn="l">
                        <a:spcAft>
                          <a:spcPts val="0"/>
                        </a:spcAft>
                      </a:pPr>
                      <a:endParaRPr/>
                    </a:p>
                  </a:txBody>
                  <a:tcPr marT="36576" marB="36576" anchor="ctr">
                    <a:solidFill>
                      <a:srgbClr val="41464C"/>
                    </a:solidFill>
                  </a:tcPr>
                </a:tc>
                <a:extLst>
                  <a:ext uri="{0D108BD9-81ED-4DB2-BD59-A6C34878D82A}">
                    <a16:rowId xmlns:a16="http://schemas.microsoft.com/office/drawing/2014/main" val="10000"/>
                  </a:ext>
                </a:extLst>
              </a:tr>
              <a:tr h="502920">
                <a:tc>
                  <a:txBody>
                    <a:bodyPr/>
                    <a:lstStyle/>
                    <a:p>
                      <a:pPr algn="l">
                        <a:spcAft>
                          <a:spcPts val="0"/>
                        </a:spcAft>
                      </a:pPr>
                      <a:r>
                        <a:rPr sz="1400" b="1" i="0">
                          <a:solidFill>
                            <a:srgbClr val="222222"/>
                          </a:solidFill>
                          <a:latin typeface="Arial"/>
                        </a:rPr>
                        <a:t>Missing values</a:t>
                      </a:r>
                    </a:p>
                  </a:txBody>
                  <a:tcPr marT="36576" marB="36576" anchor="ctr">
                    <a:solidFill>
                      <a:srgbClr val="FFFFFF"/>
                    </a:solidFill>
                  </a:tcPr>
                </a:tc>
                <a:tc>
                  <a:txBody>
                    <a:bodyPr/>
                    <a:lstStyle/>
                    <a:p>
                      <a:pPr algn="l">
                        <a:spcAft>
                          <a:spcPts val="0"/>
                        </a:spcAft>
                      </a:pPr>
                      <a:r>
                        <a:rPr sz="1400" b="0" i="0">
                          <a:solidFill>
                            <a:srgbClr val="222222"/>
                          </a:solidFill>
                          <a:latin typeface="Arial"/>
                        </a:rPr>
                        <a:t>fields left blank</a:t>
                      </a:r>
                    </a:p>
                  </a:txBody>
                  <a:tcPr marT="36576" marB="36576" anchor="ctr">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400" b="1" i="0">
                          <a:solidFill>
                            <a:srgbClr val="222222"/>
                          </a:solidFill>
                          <a:latin typeface="Arial"/>
                        </a:rPr>
                        <a:t>Out of range</a:t>
                      </a:r>
                    </a:p>
                  </a:txBody>
                  <a:tcPr marT="36576" marB="36576" anchor="ctr">
                    <a:solidFill>
                      <a:srgbClr val="F2F4F6"/>
                    </a:solidFill>
                  </a:tcPr>
                </a:tc>
                <a:tc>
                  <a:txBody>
                    <a:bodyPr/>
                    <a:lstStyle/>
                    <a:p>
                      <a:pPr algn="l">
                        <a:spcAft>
                          <a:spcPts val="0"/>
                        </a:spcAft>
                      </a:pPr>
                      <a:r>
                        <a:rPr sz="1400" b="0" i="0">
                          <a:solidFill>
                            <a:srgbClr val="222222"/>
                          </a:solidFill>
                          <a:latin typeface="Arial"/>
                        </a:rPr>
                        <a:t>values outside min and max</a:t>
                      </a:r>
                    </a:p>
                  </a:txBody>
                  <a:tcPr marT="36576" marB="36576" anchor="ctr">
                    <a:solidFill>
                      <a:srgbClr val="F2F4F6"/>
                    </a:solidFill>
                  </a:tcPr>
                </a:tc>
                <a:extLst>
                  <a:ext uri="{0D108BD9-81ED-4DB2-BD59-A6C34878D82A}">
                    <a16:rowId xmlns:a16="http://schemas.microsoft.com/office/drawing/2014/main" val="10002"/>
                  </a:ext>
                </a:extLst>
              </a:tr>
              <a:tr h="502920">
                <a:tc>
                  <a:txBody>
                    <a:bodyPr/>
                    <a:lstStyle/>
                    <a:p>
                      <a:pPr algn="l">
                        <a:spcAft>
                          <a:spcPts val="0"/>
                        </a:spcAft>
                      </a:pPr>
                      <a:r>
                        <a:rPr sz="1400" b="1" i="0">
                          <a:solidFill>
                            <a:srgbClr val="222222"/>
                          </a:solidFill>
                          <a:latin typeface="Arial"/>
                        </a:rPr>
                        <a:t>Outliers</a:t>
                      </a:r>
                    </a:p>
                  </a:txBody>
                  <a:tcPr marT="36576" marB="36576" anchor="ctr">
                    <a:solidFill>
                      <a:srgbClr val="FFFFFF"/>
                    </a:solidFill>
                  </a:tcPr>
                </a:tc>
                <a:tc>
                  <a:txBody>
                    <a:bodyPr/>
                    <a:lstStyle/>
                    <a:p>
                      <a:pPr algn="l">
                        <a:spcAft>
                          <a:spcPts val="0"/>
                        </a:spcAft>
                      </a:pPr>
                      <a:r>
                        <a:rPr sz="1400" b="0" i="0">
                          <a:solidFill>
                            <a:srgbClr val="222222"/>
                          </a:solidFill>
                          <a:latin typeface="Arial"/>
                        </a:rPr>
                        <a:t>extreme numeric values</a:t>
                      </a:r>
                    </a:p>
                  </a:txBody>
                  <a:tcPr marT="36576" marB="36576" anchor="ctr">
                    <a:solidFill>
                      <a:srgbClr val="FFFFFF"/>
                    </a:solidFill>
                  </a:tcPr>
                </a:tc>
                <a:extLst>
                  <a:ext uri="{0D108BD9-81ED-4DB2-BD59-A6C34878D82A}">
                    <a16:rowId xmlns:a16="http://schemas.microsoft.com/office/drawing/2014/main" val="10003"/>
                  </a:ext>
                </a:extLst>
              </a:tr>
              <a:tr h="502920">
                <a:tc>
                  <a:txBody>
                    <a:bodyPr/>
                    <a:lstStyle/>
                    <a:p>
                      <a:pPr algn="l">
                        <a:spcAft>
                          <a:spcPts val="0"/>
                        </a:spcAft>
                      </a:pPr>
                      <a:r>
                        <a:rPr sz="1400" b="1" i="0">
                          <a:solidFill>
                            <a:srgbClr val="222222"/>
                          </a:solidFill>
                          <a:latin typeface="Arial"/>
                        </a:rPr>
                        <a:t>Calculations</a:t>
                      </a:r>
                    </a:p>
                  </a:txBody>
                  <a:tcPr marT="36576" marB="36576" anchor="ctr">
                    <a:solidFill>
                      <a:srgbClr val="F2F4F6"/>
                    </a:solidFill>
                  </a:tcPr>
                </a:tc>
                <a:tc>
                  <a:txBody>
                    <a:bodyPr/>
                    <a:lstStyle/>
                    <a:p>
                      <a:pPr algn="l">
                        <a:spcAft>
                          <a:spcPts val="0"/>
                        </a:spcAft>
                      </a:pPr>
                      <a:r>
                        <a:rPr sz="1400" b="0" i="0">
                          <a:solidFill>
                            <a:srgbClr val="222222"/>
                          </a:solidFill>
                          <a:latin typeface="Arial"/>
                        </a:rPr>
                        <a:t>stored value ≠ current formula</a:t>
                      </a:r>
                    </a:p>
                  </a:txBody>
                  <a:tcPr marT="36576" marB="36576" anchor="ctr">
                    <a:solidFill>
                      <a:srgbClr val="F2F4F6"/>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6583680" y="1463040"/>
            <a:ext cx="5056632" cy="251460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12280" y="1572768"/>
            <a:ext cx="4663440" cy="274320"/>
          </a:xfrm>
          <a:prstGeom prst="rect">
            <a:avLst/>
          </a:prstGeom>
          <a:noFill/>
        </p:spPr>
        <p:txBody>
          <a:bodyPr wrap="square" lIns="0" tIns="0" rIns="0" bIns="0" anchor="t"/>
          <a:lstStyle/>
          <a:p>
            <a:pPr algn="l">
              <a:spcAft>
                <a:spcPts val="600"/>
              </a:spcAft>
            </a:pPr>
            <a:r>
              <a:rPr sz="1000" b="1" i="0">
                <a:solidFill>
                  <a:srgbClr val="8FA0C0"/>
                </a:solidFill>
                <a:latin typeface="Arial"/>
              </a:rPr>
              <a:t>CUSTOM RULES</a:t>
            </a:r>
          </a:p>
        </p:txBody>
      </p:sp>
      <p:sp>
        <p:nvSpPr>
          <p:cNvPr id="11" name="TextBox 10"/>
          <p:cNvSpPr txBox="1"/>
          <p:nvPr/>
        </p:nvSpPr>
        <p:spPr>
          <a:xfrm>
            <a:off x="6812280" y="1920240"/>
            <a:ext cx="4663440" cy="2011680"/>
          </a:xfrm>
          <a:prstGeom prst="rect">
            <a:avLst/>
          </a:prstGeom>
          <a:noFill/>
        </p:spPr>
        <p:txBody>
          <a:bodyPr wrap="square" lIns="0" tIns="0" rIns="0" bIns="0" anchor="t"/>
          <a:lstStyle/>
          <a:p>
            <a:pPr algn="l">
              <a:spcAft>
                <a:spcPts val="100"/>
              </a:spcAft>
            </a:pPr>
            <a:r>
              <a:rPr sz="1250" b="0" i="0">
                <a:solidFill>
                  <a:srgbClr val="E6EAF2"/>
                </a:solidFill>
                <a:latin typeface="Consolas"/>
              </a:rPr>
              <a:t># pregnant men</a:t>
            </a:r>
          </a:p>
          <a:p>
            <a:pPr algn="l">
              <a:spcAft>
                <a:spcPts val="100"/>
              </a:spcAft>
            </a:pPr>
            <a:r>
              <a:rPr sz="1250" b="0" i="0">
                <a:solidFill>
                  <a:srgbClr val="E6EAF2"/>
                </a:solidFill>
                <a:latin typeface="Consolas"/>
              </a:rPr>
              <a:t>[sex] = '1' and [pregnant] = '1'</a:t>
            </a:r>
          </a:p>
          <a:p>
            <a:pPr algn="l">
              <a:spcAft>
                <a:spcPts val="100"/>
              </a:spcAft>
            </a:pPr>
            <a:endParaRPr sz="1250" b="0" i="0">
              <a:solidFill>
                <a:srgbClr val="E6EAF2"/>
              </a:solidFill>
              <a:latin typeface="Consolas"/>
            </a:endParaRPr>
          </a:p>
          <a:p>
            <a:pPr algn="l">
              <a:spcAft>
                <a:spcPts val="100"/>
              </a:spcAft>
            </a:pPr>
            <a:r>
              <a:rPr sz="1250" b="0" i="0">
                <a:solidFill>
                  <a:srgbClr val="E6EAF2"/>
                </a:solidFill>
                <a:latin typeface="Consolas"/>
              </a:rPr>
              <a:t># visit before enrolment</a:t>
            </a:r>
          </a:p>
          <a:p>
            <a:pPr algn="l">
              <a:spcAft>
                <a:spcPts val="100"/>
              </a:spcAft>
            </a:pPr>
            <a:r>
              <a:rPr sz="1250" b="0" i="0">
                <a:solidFill>
                  <a:srgbClr val="E6EAF2"/>
                </a:solidFill>
                <a:latin typeface="Consolas"/>
              </a:rPr>
              <a:t>datediff([enrol_date],[visit_date],'d',true) &lt; 0</a:t>
            </a:r>
          </a:p>
        </p:txBody>
      </p:sp>
      <p:sp>
        <p:nvSpPr>
          <p:cNvPr id="12" name="Rectangle 11"/>
          <p:cNvSpPr/>
          <p:nvPr/>
        </p:nvSpPr>
        <p:spPr>
          <a:xfrm>
            <a:off x="548640" y="43434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3434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721_1E88C8.png"/>
          <p:cNvPicPr>
            <a:picLocks noChangeAspect="1"/>
          </p:cNvPicPr>
          <p:nvPr/>
        </p:nvPicPr>
        <p:blipFill>
          <a:blip r:embed="rId3"/>
          <a:stretch>
            <a:fillRect/>
          </a:stretch>
        </p:blipFill>
        <p:spPr>
          <a:xfrm>
            <a:off x="777240" y="4434840"/>
            <a:ext cx="365760" cy="365760"/>
          </a:xfrm>
          <a:prstGeom prst="rect">
            <a:avLst/>
          </a:prstGeom>
        </p:spPr>
      </p:pic>
      <p:sp>
        <p:nvSpPr>
          <p:cNvPr id="15" name="TextBox 14"/>
          <p:cNvSpPr txBox="1"/>
          <p:nvPr/>
        </p:nvSpPr>
        <p:spPr>
          <a:xfrm>
            <a:off x="1280160" y="43434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Run the rules </a:t>
            </a:r>
            <a:r>
              <a:rPr sz="1500" b="1" i="0">
                <a:solidFill>
                  <a:srgbClr val="1E88C8"/>
                </a:solidFill>
                <a:latin typeface="Arial"/>
              </a:rPr>
              <a:t>weekly</a:t>
            </a:r>
            <a:r>
              <a:rPr sz="1500" b="0" i="0">
                <a:solidFill>
                  <a:srgbClr val="222222"/>
                </a:solidFill>
                <a:latin typeface="Arial"/>
              </a:rPr>
              <a:t> and turn each problem into a </a:t>
            </a:r>
            <a:r>
              <a:rPr sz="1500" b="1" i="0">
                <a:solidFill>
                  <a:srgbClr val="1E88C8"/>
                </a:solidFill>
                <a:latin typeface="Arial"/>
              </a:rPr>
              <a:t>query</a:t>
            </a:r>
            <a:r>
              <a:rPr sz="1500" b="0" i="0">
                <a:solidFill>
                  <a:srgbClr val="222222"/>
                </a:solidFill>
                <a:latin typeface="Arial"/>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Locking records and e-signatures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36</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Locking records (2 min)</a:t>
            </a:r>
          </a:p>
        </p:txBody>
      </p:sp>
      <p:sp>
        <p:nvSpPr>
          <p:cNvPr id="10" name="Rectangle 9"/>
          <p:cNvSpPr/>
          <p:nvPr/>
        </p:nvSpPr>
        <p:spPr>
          <a:xfrm>
            <a:off x="548640" y="1417320"/>
            <a:ext cx="5852160" cy="256032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417320"/>
            <a:ext cx="585216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417320"/>
            <a:ext cx="5632704"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3" name="TextBox 12"/>
          <p:cNvSpPr txBox="1"/>
          <p:nvPr/>
        </p:nvSpPr>
        <p:spPr>
          <a:xfrm>
            <a:off x="1463040" y="1417320"/>
            <a:ext cx="4846320" cy="329184"/>
          </a:xfrm>
          <a:prstGeom prst="rect">
            <a:avLst/>
          </a:prstGeom>
          <a:noFill/>
        </p:spPr>
        <p:txBody>
          <a:bodyPr wrap="square" lIns="0" tIns="0" rIns="0" bIns="0" anchor="ctr"/>
          <a:lstStyle/>
          <a:p>
            <a:pPr algn="r">
              <a:spcAft>
                <a:spcPts val="600"/>
              </a:spcAft>
            </a:pPr>
            <a:r>
              <a:rPr sz="900" b="0" i="0">
                <a:solidFill>
                  <a:srgbClr val="F3D9DC"/>
                </a:solidFill>
                <a:latin typeface="Arial"/>
              </a:rPr>
              <a:t>Clinical  ·  Record TB-001</a:t>
            </a:r>
          </a:p>
        </p:txBody>
      </p:sp>
      <p:sp>
        <p:nvSpPr>
          <p:cNvPr id="14" name="TextBox 13"/>
          <p:cNvSpPr txBox="1"/>
          <p:nvPr/>
        </p:nvSpPr>
        <p:spPr>
          <a:xfrm>
            <a:off x="685800" y="1965960"/>
            <a:ext cx="2510028" cy="292608"/>
          </a:xfrm>
          <a:prstGeom prst="rect">
            <a:avLst/>
          </a:prstGeom>
          <a:noFill/>
        </p:spPr>
        <p:txBody>
          <a:bodyPr wrap="square" lIns="0" tIns="0" rIns="0" bIns="0" anchor="ctr"/>
          <a:lstStyle/>
          <a:p>
            <a:pPr algn="l">
              <a:spcAft>
                <a:spcPts val="600"/>
              </a:spcAft>
            </a:pPr>
            <a:r>
              <a:rPr sz="900" b="0" i="0">
                <a:solidFill>
                  <a:srgbClr val="222222"/>
                </a:solidFill>
                <a:latin typeface="Arial"/>
              </a:rPr>
              <a:t>Weight (kg)</a:t>
            </a:r>
          </a:p>
        </p:txBody>
      </p:sp>
      <p:sp>
        <p:nvSpPr>
          <p:cNvPr id="15" name="Rectangle 14"/>
          <p:cNvSpPr/>
          <p:nvPr/>
        </p:nvSpPr>
        <p:spPr>
          <a:xfrm>
            <a:off x="3307384" y="2002536"/>
            <a:ext cx="278892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53104" y="2002536"/>
            <a:ext cx="2788920" cy="228600"/>
          </a:xfrm>
          <a:prstGeom prst="rect">
            <a:avLst/>
          </a:prstGeom>
          <a:noFill/>
        </p:spPr>
        <p:txBody>
          <a:bodyPr wrap="square" lIns="0" tIns="0" rIns="0" bIns="0" anchor="ctr"/>
          <a:lstStyle/>
          <a:p>
            <a:pPr algn="l">
              <a:spcAft>
                <a:spcPts val="600"/>
              </a:spcAft>
            </a:pPr>
            <a:r>
              <a:rPr sz="850" b="0" i="0">
                <a:solidFill>
                  <a:srgbClr val="222222"/>
                </a:solidFill>
                <a:latin typeface="Arial"/>
              </a:rPr>
              <a:t>61.5</a:t>
            </a:r>
          </a:p>
        </p:txBody>
      </p:sp>
      <p:sp>
        <p:nvSpPr>
          <p:cNvPr id="17" name="TextBox 16"/>
          <p:cNvSpPr txBox="1"/>
          <p:nvPr/>
        </p:nvSpPr>
        <p:spPr>
          <a:xfrm>
            <a:off x="685800" y="2377439"/>
            <a:ext cx="2510028" cy="292608"/>
          </a:xfrm>
          <a:prstGeom prst="rect">
            <a:avLst/>
          </a:prstGeom>
          <a:noFill/>
        </p:spPr>
        <p:txBody>
          <a:bodyPr wrap="square" lIns="0" tIns="0" rIns="0" bIns="0" anchor="ctr"/>
          <a:lstStyle/>
          <a:p>
            <a:pPr algn="l">
              <a:spcAft>
                <a:spcPts val="600"/>
              </a:spcAft>
            </a:pPr>
            <a:r>
              <a:rPr sz="900" b="0" i="0">
                <a:solidFill>
                  <a:srgbClr val="222222"/>
                </a:solidFill>
                <a:latin typeface="Arial"/>
              </a:rPr>
              <a:t>Height (cm)</a:t>
            </a:r>
          </a:p>
        </p:txBody>
      </p:sp>
      <p:sp>
        <p:nvSpPr>
          <p:cNvPr id="18" name="Rectangle 17"/>
          <p:cNvSpPr/>
          <p:nvPr/>
        </p:nvSpPr>
        <p:spPr>
          <a:xfrm>
            <a:off x="3307384" y="2414015"/>
            <a:ext cx="2788920" cy="228600"/>
          </a:xfrm>
          <a:prstGeom prst="rect">
            <a:avLst/>
          </a:prstGeom>
          <a:solidFill>
            <a:srgbClr val="FFFFFF"/>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53104" y="2414015"/>
            <a:ext cx="2788920" cy="228600"/>
          </a:xfrm>
          <a:prstGeom prst="rect">
            <a:avLst/>
          </a:prstGeom>
          <a:noFill/>
        </p:spPr>
        <p:txBody>
          <a:bodyPr wrap="square" lIns="0" tIns="0" rIns="0" bIns="0" anchor="ctr"/>
          <a:lstStyle/>
          <a:p>
            <a:pPr algn="l">
              <a:spcAft>
                <a:spcPts val="600"/>
              </a:spcAft>
            </a:pPr>
            <a:r>
              <a:rPr sz="850" b="0" i="0">
                <a:solidFill>
                  <a:srgbClr val="222222"/>
                </a:solidFill>
                <a:latin typeface="Arial"/>
              </a:rPr>
              <a:t>168</a:t>
            </a:r>
          </a:p>
        </p:txBody>
      </p:sp>
      <p:sp>
        <p:nvSpPr>
          <p:cNvPr id="20" name="Rectangle 19"/>
          <p:cNvSpPr/>
          <p:nvPr/>
        </p:nvSpPr>
        <p:spPr>
          <a:xfrm>
            <a:off x="685800" y="2880360"/>
            <a:ext cx="5577840" cy="685800"/>
          </a:xfrm>
          <a:prstGeom prst="rect">
            <a:avLst/>
          </a:prstGeom>
          <a:solidFill>
            <a:srgbClr val="F2F4F6"/>
          </a:solidFill>
          <a:ln w="9525">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72E_C8102E.png"/>
          <p:cNvPicPr>
            <a:picLocks noChangeAspect="1"/>
          </p:cNvPicPr>
          <p:nvPr/>
        </p:nvPicPr>
        <p:blipFill>
          <a:blip r:embed="rId4"/>
          <a:stretch>
            <a:fillRect/>
          </a:stretch>
        </p:blipFill>
        <p:spPr>
          <a:xfrm>
            <a:off x="822960" y="3017520"/>
            <a:ext cx="365760" cy="365760"/>
          </a:xfrm>
          <a:prstGeom prst="rect">
            <a:avLst/>
          </a:prstGeom>
        </p:spPr>
      </p:pic>
      <p:sp>
        <p:nvSpPr>
          <p:cNvPr id="22" name="TextBox 21"/>
          <p:cNvSpPr txBox="1"/>
          <p:nvPr/>
        </p:nvSpPr>
        <p:spPr>
          <a:xfrm>
            <a:off x="1325880" y="2880360"/>
            <a:ext cx="4846320" cy="685800"/>
          </a:xfrm>
          <a:prstGeom prst="rect">
            <a:avLst/>
          </a:prstGeom>
          <a:noFill/>
        </p:spPr>
        <p:txBody>
          <a:bodyPr wrap="square" lIns="0" tIns="0" rIns="0" bIns="0" anchor="ctr"/>
          <a:lstStyle/>
          <a:p>
            <a:pPr algn="l">
              <a:spcAft>
                <a:spcPts val="600"/>
              </a:spcAft>
            </a:pPr>
            <a:r>
              <a:rPr sz="1000" b="1" i="0">
                <a:solidFill>
                  <a:srgbClr val="222222"/>
                </a:solidFill>
                <a:latin typeface="Arial"/>
              </a:rPr>
              <a:t>Lock this form?</a:t>
            </a:r>
          </a:p>
          <a:p>
            <a:pPr algn="l">
              <a:spcAft>
                <a:spcPts val="600"/>
              </a:spcAft>
            </a:pPr>
            <a:r>
              <a:rPr sz="1000" b="0" i="0">
                <a:solidFill>
                  <a:srgbClr val="222222"/>
                </a:solidFill>
                <a:latin typeface="Arial"/>
              </a:rPr>
              <a:t>Locked by T. Maseko, 2027-03-12 10:14</a:t>
            </a:r>
          </a:p>
        </p:txBody>
      </p:sp>
      <p:pic>
        <p:nvPicPr>
          <p:cNvPr id="23" name="Picture 22" descr="E72E_1E88C8.png"/>
          <p:cNvPicPr>
            <a:picLocks noChangeAspect="1"/>
          </p:cNvPicPr>
          <p:nvPr/>
        </p:nvPicPr>
        <p:blipFill>
          <a:blip r:embed="rId5"/>
          <a:stretch>
            <a:fillRect/>
          </a:stretch>
        </p:blipFill>
        <p:spPr>
          <a:xfrm>
            <a:off x="6858000" y="1554480"/>
            <a:ext cx="411480" cy="411480"/>
          </a:xfrm>
          <a:prstGeom prst="rect">
            <a:avLst/>
          </a:prstGeom>
        </p:spPr>
      </p:pic>
      <p:sp>
        <p:nvSpPr>
          <p:cNvPr id="24" name="TextBox 23"/>
          <p:cNvSpPr txBox="1"/>
          <p:nvPr/>
        </p:nvSpPr>
        <p:spPr>
          <a:xfrm>
            <a:off x="7452360" y="1572768"/>
            <a:ext cx="4160520" cy="868680"/>
          </a:xfrm>
          <a:prstGeom prst="rect">
            <a:avLst/>
          </a:prstGeom>
          <a:noFill/>
        </p:spPr>
        <p:txBody>
          <a:bodyPr wrap="square" lIns="0" tIns="0" rIns="0" bIns="0" anchor="t"/>
          <a:lstStyle/>
          <a:p>
            <a:pPr algn="l">
              <a:spcAft>
                <a:spcPts val="600"/>
              </a:spcAft>
            </a:pPr>
            <a:r>
              <a:rPr sz="1600" b="1" i="0">
                <a:solidFill>
                  <a:srgbClr val="222222"/>
                </a:solidFill>
                <a:latin typeface="Arial"/>
              </a:rPr>
              <a:t>Lock</a:t>
            </a:r>
            <a:r>
              <a:rPr sz="1600" b="0" i="0">
                <a:solidFill>
                  <a:srgbClr val="222222"/>
                </a:solidFill>
                <a:latin typeface="Arial"/>
              </a:rPr>
              <a:t>  no more changes</a:t>
            </a:r>
          </a:p>
        </p:txBody>
      </p:sp>
      <p:pic>
        <p:nvPicPr>
          <p:cNvPr id="25" name="Picture 24" descr="E8B8_1E88C8.png"/>
          <p:cNvPicPr>
            <a:picLocks noChangeAspect="1"/>
          </p:cNvPicPr>
          <p:nvPr/>
        </p:nvPicPr>
        <p:blipFill>
          <a:blip r:embed="rId6"/>
          <a:stretch>
            <a:fillRect/>
          </a:stretch>
        </p:blipFill>
        <p:spPr>
          <a:xfrm>
            <a:off x="6858000" y="2423160"/>
            <a:ext cx="411480" cy="411480"/>
          </a:xfrm>
          <a:prstGeom prst="rect">
            <a:avLst/>
          </a:prstGeom>
        </p:spPr>
      </p:pic>
      <p:sp>
        <p:nvSpPr>
          <p:cNvPr id="26" name="TextBox 25"/>
          <p:cNvSpPr txBox="1"/>
          <p:nvPr/>
        </p:nvSpPr>
        <p:spPr>
          <a:xfrm>
            <a:off x="7452360" y="2441448"/>
            <a:ext cx="4160520" cy="868680"/>
          </a:xfrm>
          <a:prstGeom prst="rect">
            <a:avLst/>
          </a:prstGeom>
          <a:noFill/>
        </p:spPr>
        <p:txBody>
          <a:bodyPr wrap="square" lIns="0" tIns="0" rIns="0" bIns="0" anchor="t"/>
          <a:lstStyle/>
          <a:p>
            <a:pPr algn="l">
              <a:spcAft>
                <a:spcPts val="600"/>
              </a:spcAft>
            </a:pPr>
            <a:r>
              <a:rPr sz="1600" b="1" i="0">
                <a:solidFill>
                  <a:srgbClr val="222222"/>
                </a:solidFill>
                <a:latin typeface="Arial"/>
              </a:rPr>
              <a:t>E-signature</a:t>
            </a:r>
            <a:r>
              <a:rPr sz="1600" b="0" i="0">
                <a:solidFill>
                  <a:srgbClr val="222222"/>
                </a:solidFill>
                <a:latin typeface="Arial"/>
              </a:rPr>
              <a:t>  confirms correctness</a:t>
            </a:r>
          </a:p>
        </p:txBody>
      </p:sp>
      <p:pic>
        <p:nvPicPr>
          <p:cNvPr id="27" name="Picture 26" descr="E81C_1E88C8.png"/>
          <p:cNvPicPr>
            <a:picLocks noChangeAspect="1"/>
          </p:cNvPicPr>
          <p:nvPr/>
        </p:nvPicPr>
        <p:blipFill>
          <a:blip r:embed="rId7"/>
          <a:stretch>
            <a:fillRect/>
          </a:stretch>
        </p:blipFill>
        <p:spPr>
          <a:xfrm>
            <a:off x="6858000" y="3291839"/>
            <a:ext cx="411480" cy="411480"/>
          </a:xfrm>
          <a:prstGeom prst="rect">
            <a:avLst/>
          </a:prstGeom>
        </p:spPr>
      </p:pic>
      <p:sp>
        <p:nvSpPr>
          <p:cNvPr id="28" name="TextBox 27"/>
          <p:cNvSpPr txBox="1"/>
          <p:nvPr/>
        </p:nvSpPr>
        <p:spPr>
          <a:xfrm>
            <a:off x="7452360" y="3310127"/>
            <a:ext cx="4160520" cy="868680"/>
          </a:xfrm>
          <a:prstGeom prst="rect">
            <a:avLst/>
          </a:prstGeom>
          <a:noFill/>
        </p:spPr>
        <p:txBody>
          <a:bodyPr wrap="square" lIns="0" tIns="0" rIns="0" bIns="0" anchor="t"/>
          <a:lstStyle/>
          <a:p>
            <a:pPr algn="l">
              <a:spcAft>
                <a:spcPts val="600"/>
              </a:spcAft>
            </a:pPr>
            <a:r>
              <a:rPr sz="1600" b="1" i="0">
                <a:solidFill>
                  <a:srgbClr val="222222"/>
                </a:solidFill>
                <a:latin typeface="Arial"/>
              </a:rPr>
              <a:t>Logged</a:t>
            </a:r>
            <a:r>
              <a:rPr sz="1600" b="0" i="0">
                <a:solidFill>
                  <a:srgbClr val="222222"/>
                </a:solidFill>
                <a:latin typeface="Arial"/>
              </a:rPr>
              <a:t>  unlocks are recorded</a:t>
            </a:r>
          </a:p>
        </p:txBody>
      </p:sp>
      <p:sp>
        <p:nvSpPr>
          <p:cNvPr id="29" name="Rectangle 28"/>
          <p:cNvSpPr/>
          <p:nvPr/>
        </p:nvSpPr>
        <p:spPr>
          <a:xfrm>
            <a:off x="548640" y="434340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34340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E72E_C8102E.png"/>
          <p:cNvPicPr>
            <a:picLocks noChangeAspect="1"/>
          </p:cNvPicPr>
          <p:nvPr/>
        </p:nvPicPr>
        <p:blipFill>
          <a:blip r:embed="rId4"/>
          <a:stretch>
            <a:fillRect/>
          </a:stretch>
        </p:blipFill>
        <p:spPr>
          <a:xfrm>
            <a:off x="777240" y="4434840"/>
            <a:ext cx="365760" cy="365760"/>
          </a:xfrm>
          <a:prstGeom prst="rect">
            <a:avLst/>
          </a:prstGeom>
        </p:spPr>
      </p:pic>
      <p:sp>
        <p:nvSpPr>
          <p:cNvPr id="32" name="TextBox 31"/>
          <p:cNvSpPr txBox="1"/>
          <p:nvPr/>
        </p:nvSpPr>
        <p:spPr>
          <a:xfrm>
            <a:off x="1280160" y="43434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Lock after </a:t>
            </a:r>
            <a:r>
              <a:rPr sz="1500" b="1" i="0">
                <a:solidFill>
                  <a:srgbClr val="1E88C8"/>
                </a:solidFill>
                <a:latin typeface="Arial"/>
              </a:rPr>
              <a:t>source verification</a:t>
            </a:r>
            <a:r>
              <a:rPr sz="1500" b="0" i="0">
                <a:solidFill>
                  <a:srgbClr val="222222"/>
                </a:solidFill>
                <a:latin typeface="Arial"/>
              </a:rPr>
              <a:t>; database lock comes after </a:t>
            </a:r>
            <a:r>
              <a:rPr sz="1500" b="1" i="0">
                <a:solidFill>
                  <a:srgbClr val="1E88C8"/>
                </a:solidFill>
                <a:latin typeface="Arial"/>
              </a:rPr>
              <a:t>all queries are closed</a:t>
            </a:r>
            <a:r>
              <a:rPr sz="1500" b="0" i="0">
                <a:solidFill>
                  <a:srgbClr val="222222"/>
                </a:solidFill>
                <a:latin typeface="Arial"/>
              </a:rPr>
              <a:t>.</a:t>
            </a:r>
          </a:p>
        </p:txBody>
      </p:sp>
      <p:sp>
        <p:nvSpPr>
          <p:cNvPr id="33" name="TextBox 32"/>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TB: tuberculosis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Collecting offline: the REDCap Mobile App and MyCap</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5 of 6: Data entry, quality and multi-site work</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37</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REDCap Mobile App (2 min)</a:t>
            </a:r>
          </a:p>
        </p:txBody>
      </p:sp>
      <p:sp>
        <p:nvSpPr>
          <p:cNvPr id="10" name="Rectangle 9"/>
          <p:cNvSpPr/>
          <p:nvPr/>
        </p:nvSpPr>
        <p:spPr>
          <a:xfrm>
            <a:off x="548640" y="1463040"/>
            <a:ext cx="542239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8EA_FFFFFF.png"/>
          <p:cNvPicPr>
            <a:picLocks noChangeAspect="1"/>
          </p:cNvPicPr>
          <p:nvPr/>
        </p:nvPicPr>
        <p:blipFill>
          <a:blip r:embed="rId4"/>
          <a:stretch>
            <a:fillRect/>
          </a:stretch>
        </p:blipFill>
        <p:spPr>
          <a:xfrm>
            <a:off x="658368" y="1527048"/>
            <a:ext cx="329184" cy="329184"/>
          </a:xfrm>
          <a:prstGeom prst="rect">
            <a:avLst/>
          </a:prstGeom>
        </p:spPr>
      </p:pic>
      <p:sp>
        <p:nvSpPr>
          <p:cNvPr id="12" name="TextBox 11"/>
          <p:cNvSpPr txBox="1"/>
          <p:nvPr/>
        </p:nvSpPr>
        <p:spPr>
          <a:xfrm>
            <a:off x="1097280"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REDCap Mobile App</a:t>
            </a:r>
          </a:p>
        </p:txBody>
      </p:sp>
      <p:sp>
        <p:nvSpPr>
          <p:cNvPr id="13" name="Rectangle 12"/>
          <p:cNvSpPr/>
          <p:nvPr/>
        </p:nvSpPr>
        <p:spPr>
          <a:xfrm>
            <a:off x="548640" y="1920240"/>
            <a:ext cx="5422392" cy="24688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5148072" cy="2286000"/>
          </a:xfrm>
          <a:prstGeom prst="rect">
            <a:avLst/>
          </a:prstGeom>
          <a:noFill/>
        </p:spPr>
        <p:txBody>
          <a:bodyPr wrap="square" lIns="0" tIns="0" rIns="0" bIns="0" anchor="t"/>
          <a:lstStyle/>
          <a:p>
            <a:pPr algn="l">
              <a:spcAft>
                <a:spcPts val="400"/>
              </a:spcAft>
            </a:pPr>
            <a:r>
              <a:rPr sz="1600" b="0" i="0">
                <a:solidFill>
                  <a:srgbClr val="222222"/>
                </a:solidFill>
                <a:latin typeface="Arial"/>
              </a:rPr>
              <a:t>For </a:t>
            </a:r>
            <a:r>
              <a:rPr sz="1600" b="1" i="0">
                <a:solidFill>
                  <a:srgbClr val="1E88C8"/>
                </a:solidFill>
                <a:latin typeface="Arial"/>
              </a:rPr>
              <a:t>staff</a:t>
            </a:r>
          </a:p>
          <a:p>
            <a:pPr algn="l">
              <a:spcAft>
                <a:spcPts val="400"/>
              </a:spcAft>
            </a:pPr>
            <a:r>
              <a:rPr sz="1600" b="0" i="0">
                <a:solidFill>
                  <a:srgbClr val="222222"/>
                </a:solidFill>
                <a:latin typeface="Arial"/>
              </a:rPr>
              <a:t>Collect offline on a tablet</a:t>
            </a:r>
          </a:p>
          <a:p>
            <a:pPr algn="l">
              <a:spcAft>
                <a:spcPts val="400"/>
              </a:spcAft>
            </a:pPr>
            <a:r>
              <a:rPr sz="1600" b="0" i="0">
                <a:solidFill>
                  <a:srgbClr val="222222"/>
                </a:solidFill>
                <a:latin typeface="Arial"/>
              </a:rPr>
              <a:t>Synchronise when back online</a:t>
            </a:r>
          </a:p>
          <a:p>
            <a:pPr algn="l">
              <a:spcAft>
                <a:spcPts val="400"/>
              </a:spcAft>
            </a:pPr>
            <a:r>
              <a:rPr sz="1600" b="0" i="0">
                <a:solidFill>
                  <a:srgbClr val="222222"/>
                </a:solidFill>
                <a:latin typeface="Arial"/>
              </a:rPr>
              <a:t>Rural sites, home visits</a:t>
            </a:r>
          </a:p>
        </p:txBody>
      </p:sp>
      <p:sp>
        <p:nvSpPr>
          <p:cNvPr id="15" name="Rectangle 14"/>
          <p:cNvSpPr/>
          <p:nvPr/>
        </p:nvSpPr>
        <p:spPr>
          <a:xfrm>
            <a:off x="6217920" y="1463040"/>
            <a:ext cx="5422392"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EA_FFFFFF.png"/>
          <p:cNvPicPr>
            <a:picLocks noChangeAspect="1"/>
          </p:cNvPicPr>
          <p:nvPr/>
        </p:nvPicPr>
        <p:blipFill>
          <a:blip r:embed="rId4"/>
          <a:stretch>
            <a:fillRect/>
          </a:stretch>
        </p:blipFill>
        <p:spPr>
          <a:xfrm>
            <a:off x="6327648" y="1527048"/>
            <a:ext cx="329184" cy="329184"/>
          </a:xfrm>
          <a:prstGeom prst="rect">
            <a:avLst/>
          </a:prstGeom>
        </p:spPr>
      </p:pic>
      <p:sp>
        <p:nvSpPr>
          <p:cNvPr id="17" name="TextBox 16"/>
          <p:cNvSpPr txBox="1"/>
          <p:nvPr/>
        </p:nvSpPr>
        <p:spPr>
          <a:xfrm>
            <a:off x="6766559" y="1463040"/>
            <a:ext cx="4782312" cy="457200"/>
          </a:xfrm>
          <a:prstGeom prst="rect">
            <a:avLst/>
          </a:prstGeom>
          <a:noFill/>
        </p:spPr>
        <p:txBody>
          <a:bodyPr wrap="square" lIns="0" tIns="0" rIns="0" bIns="0" anchor="ctr"/>
          <a:lstStyle/>
          <a:p>
            <a:pPr algn="l">
              <a:spcAft>
                <a:spcPts val="600"/>
              </a:spcAft>
            </a:pPr>
            <a:r>
              <a:rPr sz="1800" b="1" i="0">
                <a:solidFill>
                  <a:srgbClr val="FFFFFF"/>
                </a:solidFill>
                <a:latin typeface="Arial"/>
              </a:rPr>
              <a:t>MyCap</a:t>
            </a:r>
          </a:p>
        </p:txBody>
      </p:sp>
      <p:sp>
        <p:nvSpPr>
          <p:cNvPr id="18" name="Rectangle 17"/>
          <p:cNvSpPr/>
          <p:nvPr/>
        </p:nvSpPr>
        <p:spPr>
          <a:xfrm>
            <a:off x="6217920" y="1920240"/>
            <a:ext cx="5422392" cy="246888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29968"/>
            <a:ext cx="5148072" cy="2286000"/>
          </a:xfrm>
          <a:prstGeom prst="rect">
            <a:avLst/>
          </a:prstGeom>
          <a:noFill/>
        </p:spPr>
        <p:txBody>
          <a:bodyPr wrap="square" lIns="0" tIns="0" rIns="0" bIns="0" anchor="t"/>
          <a:lstStyle/>
          <a:p>
            <a:pPr algn="l">
              <a:spcAft>
                <a:spcPts val="400"/>
              </a:spcAft>
            </a:pPr>
            <a:r>
              <a:rPr sz="1600" b="0" i="0">
                <a:solidFill>
                  <a:srgbClr val="222222"/>
                </a:solidFill>
                <a:latin typeface="Arial"/>
              </a:rPr>
              <a:t>For </a:t>
            </a:r>
            <a:r>
              <a:rPr sz="1600" b="1" i="0">
                <a:solidFill>
                  <a:srgbClr val="2E7D32"/>
                </a:solidFill>
                <a:latin typeface="Arial"/>
              </a:rPr>
              <a:t>participants</a:t>
            </a:r>
          </a:p>
          <a:p>
            <a:pPr algn="l">
              <a:spcAft>
                <a:spcPts val="400"/>
              </a:spcAft>
            </a:pPr>
            <a:r>
              <a:rPr sz="1600" b="0" i="0">
                <a:solidFill>
                  <a:srgbClr val="222222"/>
                </a:solidFill>
                <a:latin typeface="Arial"/>
              </a:rPr>
              <a:t>Patient-reported outcomes</a:t>
            </a:r>
          </a:p>
          <a:p>
            <a:pPr algn="l">
              <a:spcAft>
                <a:spcPts val="400"/>
              </a:spcAft>
            </a:pPr>
            <a:r>
              <a:rPr sz="1600" b="0" i="0">
                <a:solidFill>
                  <a:srgbClr val="222222"/>
                </a:solidFill>
                <a:latin typeface="Arial"/>
              </a:rPr>
              <a:t>Reminders on their phone</a:t>
            </a:r>
          </a:p>
          <a:p>
            <a:pPr algn="l">
              <a:spcAft>
                <a:spcPts val="400"/>
              </a:spcAft>
            </a:pPr>
            <a:r>
              <a:rPr sz="1600" b="0" i="0">
                <a:solidFill>
                  <a:srgbClr val="222222"/>
                </a:solidFill>
                <a:latin typeface="Arial"/>
              </a:rPr>
              <a:t>Active tasks</a:t>
            </a:r>
          </a:p>
        </p:txBody>
      </p:sp>
      <p:sp>
        <p:nvSpPr>
          <p:cNvPr id="20" name="Rectangle 19"/>
          <p:cNvSpPr/>
          <p:nvPr/>
        </p:nvSpPr>
        <p:spPr>
          <a:xfrm>
            <a:off x="548640" y="475488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5488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72E_C8102E.png"/>
          <p:cNvPicPr>
            <a:picLocks noChangeAspect="1"/>
          </p:cNvPicPr>
          <p:nvPr/>
        </p:nvPicPr>
        <p:blipFill>
          <a:blip r:embed="rId5"/>
          <a:stretch>
            <a:fillRect/>
          </a:stretch>
        </p:blipFill>
        <p:spPr>
          <a:xfrm>
            <a:off x="777240" y="4846320"/>
            <a:ext cx="365760" cy="365760"/>
          </a:xfrm>
          <a:prstGeom prst="rect">
            <a:avLst/>
          </a:prstGeom>
        </p:spPr>
      </p:pic>
      <p:sp>
        <p:nvSpPr>
          <p:cNvPr id="23" name="TextBox 22"/>
          <p:cNvSpPr txBox="1"/>
          <p:nvPr/>
        </p:nvSpPr>
        <p:spPr>
          <a:xfrm>
            <a:off x="1280160" y="475488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Data stay on the device until synced: </a:t>
            </a:r>
            <a:r>
              <a:rPr sz="1500" b="1" i="0">
                <a:solidFill>
                  <a:srgbClr val="C8102E"/>
                </a:solidFill>
                <a:latin typeface="Arial"/>
              </a:rPr>
              <a:t>lock the device and sync often</a:t>
            </a:r>
            <a:r>
              <a:rPr sz="1500" b="0" i="0">
                <a:solidFill>
                  <a:srgbClr val="222222"/>
                </a:solidFill>
                <a:latin typeface="Arial"/>
              </a:rPr>
              <a:t>.</a:t>
            </a:r>
          </a:p>
        </p:txBody>
      </p:sp>
      <p:sp>
        <p:nvSpPr>
          <p:cNvPr id="24" name="TextBox 23"/>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6" name="TextBox 5"/>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38</a:t>
            </a:r>
          </a:p>
        </p:txBody>
      </p:sp>
      <p:sp>
        <p:nvSpPr>
          <p:cNvPr id="7" name="TextBox 6"/>
          <p:cNvSpPr txBox="1"/>
          <p:nvPr/>
        </p:nvSpPr>
        <p:spPr>
          <a:xfrm>
            <a:off x="548640" y="566928"/>
            <a:ext cx="4572000" cy="457200"/>
          </a:xfrm>
          <a:prstGeom prst="rect">
            <a:avLst/>
          </a:prstGeom>
          <a:noFill/>
        </p:spPr>
        <p:txBody>
          <a:bodyPr wrap="square" lIns="0" tIns="0" rIns="0" bIns="0" anchor="t"/>
          <a:lstStyle/>
          <a:p>
            <a:pPr algn="l">
              <a:spcAft>
                <a:spcPts val="600"/>
              </a:spcAft>
            </a:pPr>
            <a:r>
              <a:rPr sz="1600" b="1" i="0">
                <a:solidFill>
                  <a:srgbClr val="62676D"/>
                </a:solidFill>
                <a:latin typeface="Arial"/>
              </a:rPr>
              <a:t>Roadmap</a:t>
            </a:r>
          </a:p>
        </p:txBody>
      </p:sp>
      <p:sp>
        <p:nvSpPr>
          <p:cNvPr id="8" name="Oval 7"/>
          <p:cNvSpPr/>
          <p:nvPr/>
        </p:nvSpPr>
        <p:spPr>
          <a:xfrm>
            <a:off x="777240" y="1234440"/>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1</a:t>
            </a:r>
          </a:p>
        </p:txBody>
      </p:sp>
      <p:sp>
        <p:nvSpPr>
          <p:cNvPr id="9" name="TextBox 8"/>
          <p:cNvSpPr txBox="1"/>
          <p:nvPr/>
        </p:nvSpPr>
        <p:spPr>
          <a:xfrm>
            <a:off x="1417320" y="1197864"/>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Getting started</a:t>
            </a:r>
          </a:p>
        </p:txBody>
      </p:sp>
      <p:sp>
        <p:nvSpPr>
          <p:cNvPr id="10" name="Oval 9"/>
          <p:cNvSpPr/>
          <p:nvPr/>
        </p:nvSpPr>
        <p:spPr>
          <a:xfrm>
            <a:off x="777240" y="1984248"/>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2</a:t>
            </a:r>
          </a:p>
        </p:txBody>
      </p:sp>
      <p:sp>
        <p:nvSpPr>
          <p:cNvPr id="11" name="TextBox 10"/>
          <p:cNvSpPr txBox="1"/>
          <p:nvPr/>
        </p:nvSpPr>
        <p:spPr>
          <a:xfrm>
            <a:off x="1417320" y="1947672"/>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Building instruments</a:t>
            </a:r>
          </a:p>
        </p:txBody>
      </p:sp>
      <p:sp>
        <p:nvSpPr>
          <p:cNvPr id="12" name="Oval 11"/>
          <p:cNvSpPr/>
          <p:nvPr/>
        </p:nvSpPr>
        <p:spPr>
          <a:xfrm>
            <a:off x="777240" y="2734056"/>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3</a:t>
            </a:r>
          </a:p>
        </p:txBody>
      </p:sp>
      <p:sp>
        <p:nvSpPr>
          <p:cNvPr id="13" name="TextBox 12"/>
          <p:cNvSpPr txBox="1"/>
          <p:nvPr/>
        </p:nvSpPr>
        <p:spPr>
          <a:xfrm>
            <a:off x="1417320" y="2697480"/>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Choosing a project type</a:t>
            </a:r>
          </a:p>
        </p:txBody>
      </p:sp>
      <p:sp>
        <p:nvSpPr>
          <p:cNvPr id="14" name="Oval 13"/>
          <p:cNvSpPr/>
          <p:nvPr/>
        </p:nvSpPr>
        <p:spPr>
          <a:xfrm>
            <a:off x="777240" y="3483864"/>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4</a:t>
            </a:r>
          </a:p>
        </p:txBody>
      </p:sp>
      <p:sp>
        <p:nvSpPr>
          <p:cNvPr id="15" name="TextBox 14"/>
          <p:cNvSpPr txBox="1"/>
          <p:nvPr/>
        </p:nvSpPr>
        <p:spPr>
          <a:xfrm>
            <a:off x="1417320" y="3447288"/>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Longitudinal and repeating data</a:t>
            </a:r>
          </a:p>
        </p:txBody>
      </p:sp>
      <p:sp>
        <p:nvSpPr>
          <p:cNvPr id="16" name="Oval 15"/>
          <p:cNvSpPr/>
          <p:nvPr/>
        </p:nvSpPr>
        <p:spPr>
          <a:xfrm>
            <a:off x="777240" y="4233672"/>
            <a:ext cx="475488" cy="475488"/>
          </a:xfrm>
          <a:prstGeom prst="ellipse">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5</a:t>
            </a:r>
          </a:p>
        </p:txBody>
      </p:sp>
      <p:sp>
        <p:nvSpPr>
          <p:cNvPr id="17" name="TextBox 16"/>
          <p:cNvSpPr txBox="1"/>
          <p:nvPr/>
        </p:nvSpPr>
        <p:spPr>
          <a:xfrm>
            <a:off x="1417320" y="4197096"/>
            <a:ext cx="3931920" cy="548640"/>
          </a:xfrm>
          <a:prstGeom prst="rect">
            <a:avLst/>
          </a:prstGeom>
          <a:noFill/>
        </p:spPr>
        <p:txBody>
          <a:bodyPr wrap="square" lIns="0" tIns="0" rIns="0" bIns="0" anchor="ctr"/>
          <a:lstStyle/>
          <a:p>
            <a:pPr algn="l">
              <a:spcAft>
                <a:spcPts val="600"/>
              </a:spcAft>
            </a:pPr>
            <a:r>
              <a:rPr sz="1500" b="0" i="0">
                <a:solidFill>
                  <a:srgbClr val="62676D"/>
                </a:solidFill>
                <a:latin typeface="Arial"/>
              </a:rPr>
              <a:t>Data entry, quality and multi-site work</a:t>
            </a:r>
          </a:p>
        </p:txBody>
      </p:sp>
      <p:sp>
        <p:nvSpPr>
          <p:cNvPr id="18" name="Rectangle 17"/>
          <p:cNvSpPr/>
          <p:nvPr/>
        </p:nvSpPr>
        <p:spPr>
          <a:xfrm>
            <a:off x="548640" y="4892040"/>
            <a:ext cx="4846320" cy="658368"/>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4892040"/>
            <a:ext cx="64008" cy="658368"/>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4983479"/>
            <a:ext cx="475488" cy="47548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400" b="1" i="0">
                <a:solidFill>
                  <a:srgbClr val="FFFFFF"/>
                </a:solidFill>
                <a:latin typeface="Arial"/>
              </a:rPr>
              <a:t>6</a:t>
            </a:r>
          </a:p>
        </p:txBody>
      </p:sp>
      <p:sp>
        <p:nvSpPr>
          <p:cNvPr id="21" name="TextBox 20"/>
          <p:cNvSpPr txBox="1"/>
          <p:nvPr/>
        </p:nvSpPr>
        <p:spPr>
          <a:xfrm>
            <a:off x="1417320" y="4946903"/>
            <a:ext cx="3931920" cy="548640"/>
          </a:xfrm>
          <a:prstGeom prst="rect">
            <a:avLst/>
          </a:prstGeom>
          <a:noFill/>
        </p:spPr>
        <p:txBody>
          <a:bodyPr wrap="square" lIns="0" tIns="0" rIns="0" bIns="0" anchor="ctr"/>
          <a:lstStyle/>
          <a:p>
            <a:pPr algn="l">
              <a:spcAft>
                <a:spcPts val="600"/>
              </a:spcAft>
            </a:pPr>
            <a:r>
              <a:rPr sz="1600" b="1" i="0">
                <a:solidFill>
                  <a:srgbClr val="41464C"/>
                </a:solidFill>
                <a:latin typeface="Arial"/>
              </a:rPr>
              <a:t>Users, exports and going live</a:t>
            </a:r>
          </a:p>
        </p:txBody>
      </p:sp>
      <p:sp>
        <p:nvSpPr>
          <p:cNvPr id="22" name="TextBox 21"/>
          <p:cNvSpPr txBox="1"/>
          <p:nvPr/>
        </p:nvSpPr>
        <p:spPr>
          <a:xfrm>
            <a:off x="5943600" y="1188720"/>
            <a:ext cx="5669280" cy="365760"/>
          </a:xfrm>
          <a:prstGeom prst="rect">
            <a:avLst/>
          </a:prstGeom>
          <a:noFill/>
        </p:spPr>
        <p:txBody>
          <a:bodyPr wrap="square" lIns="0" tIns="0" rIns="0" bIns="0" anchor="t"/>
          <a:lstStyle/>
          <a:p>
            <a:pPr algn="l">
              <a:spcAft>
                <a:spcPts val="600"/>
              </a:spcAft>
            </a:pPr>
            <a:r>
              <a:rPr sz="1300" b="1" i="0">
                <a:solidFill>
                  <a:srgbClr val="1E88C8"/>
                </a:solidFill>
                <a:latin typeface="Arial"/>
              </a:rPr>
              <a:t>TOPIC 6 OF 6</a:t>
            </a:r>
          </a:p>
        </p:txBody>
      </p:sp>
      <p:sp>
        <p:nvSpPr>
          <p:cNvPr id="23" name="TextBox 22"/>
          <p:cNvSpPr txBox="1"/>
          <p:nvPr/>
        </p:nvSpPr>
        <p:spPr>
          <a:xfrm>
            <a:off x="5943600" y="1600200"/>
            <a:ext cx="5696712" cy="1280160"/>
          </a:xfrm>
          <a:prstGeom prst="rect">
            <a:avLst/>
          </a:prstGeom>
          <a:noFill/>
        </p:spPr>
        <p:txBody>
          <a:bodyPr wrap="square" lIns="0" tIns="0" rIns="0" bIns="0" anchor="t"/>
          <a:lstStyle/>
          <a:p>
            <a:pPr algn="l">
              <a:spcAft>
                <a:spcPts val="600"/>
              </a:spcAft>
            </a:pPr>
            <a:r>
              <a:rPr sz="3200" b="0" i="0">
                <a:solidFill>
                  <a:srgbClr val="C8102E"/>
                </a:solidFill>
                <a:latin typeface="Arial"/>
              </a:rPr>
              <a:t>Users, exports and going live</a:t>
            </a:r>
          </a:p>
        </p:txBody>
      </p:sp>
      <p:cxnSp>
        <p:nvCxnSpPr>
          <p:cNvPr id="24" name="Connector 23"/>
          <p:cNvCxnSpPr/>
          <p:nvPr/>
        </p:nvCxnSpPr>
        <p:spPr>
          <a:xfrm>
            <a:off x="5943600" y="2971800"/>
            <a:ext cx="5696712" cy="0"/>
          </a:xfrm>
          <a:prstGeom prst="line">
            <a:avLst/>
          </a:prstGeom>
          <a:ln w="12700">
            <a:solidFill>
              <a:srgbClr val="C9CED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0" y="3154680"/>
            <a:ext cx="5669280" cy="365760"/>
          </a:xfrm>
          <a:prstGeom prst="rect">
            <a:avLst/>
          </a:prstGeom>
          <a:noFill/>
        </p:spPr>
        <p:txBody>
          <a:bodyPr wrap="square" lIns="0" tIns="0" rIns="0" bIns="0" anchor="t"/>
          <a:lstStyle/>
          <a:p>
            <a:pPr algn="l">
              <a:spcAft>
                <a:spcPts val="600"/>
              </a:spcAft>
            </a:pPr>
            <a:r>
              <a:rPr sz="1400" b="1" i="0">
                <a:solidFill>
                  <a:srgbClr val="62676D"/>
                </a:solidFill>
                <a:latin typeface="Arial"/>
              </a:rPr>
              <a:t>In this topic</a:t>
            </a:r>
          </a:p>
        </p:txBody>
      </p:sp>
      <p:sp>
        <p:nvSpPr>
          <p:cNvPr id="26" name="TextBox 25"/>
          <p:cNvSpPr txBox="1"/>
          <p:nvPr/>
        </p:nvSpPr>
        <p:spPr>
          <a:xfrm>
            <a:off x="5943600" y="3566160"/>
            <a:ext cx="5696712" cy="23774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The Applications menu</a:t>
            </a:r>
          </a:p>
          <a:p>
            <a:pPr marL="256032" indent="-256032" algn="l">
              <a:spcAft>
                <a:spcPts val="800"/>
              </a:spcAft>
              <a:buClr>
                <a:srgbClr val="1E88C8"/>
              </a:buClr>
              <a:buSzPct val="75000"/>
              <a:buFont typeface="Arial"/>
              <a:buChar char="■"/>
            </a:pPr>
            <a:r>
              <a:rPr sz="1700" b="0" i="0">
                <a:solidFill>
                  <a:srgbClr val="222222"/>
                </a:solidFill>
                <a:latin typeface="Arial"/>
              </a:rPr>
              <a:t>User rights and roles</a:t>
            </a:r>
          </a:p>
          <a:p>
            <a:pPr marL="256032" indent="-256032" algn="l">
              <a:spcAft>
                <a:spcPts val="800"/>
              </a:spcAft>
              <a:buClr>
                <a:srgbClr val="1E88C8"/>
              </a:buClr>
              <a:buSzPct val="75000"/>
              <a:buFont typeface="Arial"/>
              <a:buChar char="■"/>
            </a:pPr>
            <a:r>
              <a:rPr sz="1700" b="0" i="0">
                <a:solidFill>
                  <a:srgbClr val="222222"/>
                </a:solidFill>
                <a:latin typeface="Arial"/>
              </a:rPr>
              <a:t>Logging: the audit trail</a:t>
            </a:r>
          </a:p>
          <a:p>
            <a:pPr marL="256032" indent="-256032" algn="l">
              <a:spcAft>
                <a:spcPts val="800"/>
              </a:spcAft>
              <a:buClr>
                <a:srgbClr val="1E88C8"/>
              </a:buClr>
              <a:buSzPct val="75000"/>
              <a:buFont typeface="Arial"/>
              <a:buChar char="■"/>
            </a:pPr>
            <a:r>
              <a:rPr sz="1700" b="0" i="0">
                <a:solidFill>
                  <a:srgbClr val="222222"/>
                </a:solidFill>
                <a:latin typeface="Arial"/>
              </a:rPr>
              <a:t>Reports and de-identified exports</a:t>
            </a:r>
          </a:p>
          <a:p>
            <a:pPr marL="256032" indent="-256032" algn="l">
              <a:spcAft>
                <a:spcPts val="800"/>
              </a:spcAft>
              <a:buClr>
                <a:srgbClr val="1E88C8"/>
              </a:buClr>
              <a:buSzPct val="75000"/>
              <a:buFont typeface="Arial"/>
              <a:buChar char="■"/>
            </a:pPr>
            <a:r>
              <a:rPr sz="1700" b="0" i="0">
                <a:solidFill>
                  <a:srgbClr val="222222"/>
                </a:solidFill>
                <a:latin typeface="Arial"/>
              </a:rPr>
              <a:t>The API</a:t>
            </a:r>
          </a:p>
          <a:p>
            <a:pPr marL="256032" indent="-256032" algn="l">
              <a:spcAft>
                <a:spcPts val="800"/>
              </a:spcAft>
              <a:buClr>
                <a:srgbClr val="1E88C8"/>
              </a:buClr>
              <a:buSzPct val="75000"/>
              <a:buFont typeface="Arial"/>
              <a:buChar char="■"/>
            </a:pPr>
            <a:r>
              <a:rPr sz="1700" b="0" i="0">
                <a:solidFill>
                  <a:srgbClr val="222222"/>
                </a:solidFill>
                <a:latin typeface="Arial"/>
              </a:rPr>
              <a:t>Moving to Production</a:t>
            </a:r>
          </a:p>
          <a:p>
            <a:pPr marL="256032" indent="-256032" algn="l">
              <a:spcAft>
                <a:spcPts val="800"/>
              </a:spcAft>
              <a:buClr>
                <a:srgbClr val="1E88C8"/>
              </a:buClr>
              <a:buSzPct val="75000"/>
              <a:buFont typeface="Arial"/>
              <a:buChar char="■"/>
            </a:pPr>
            <a:r>
              <a:rPr sz="1700" b="0" i="0">
                <a:solidFill>
                  <a:srgbClr val="222222"/>
                </a:solidFill>
                <a:latin typeface="Arial"/>
              </a:rPr>
              <a:t>AI tools in REDCap</a:t>
            </a:r>
          </a:p>
        </p:txBody>
      </p:sp>
      <p:sp>
        <p:nvSpPr>
          <p:cNvPr id="27" name="TextBox 2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API: application programming interface   ·   AI: artificial intelligence   ·   REDCap: Research Electronic Data Capture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Applications menu</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39</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Applications overview (16 min)</a:t>
            </a:r>
          </a:p>
        </p:txBody>
      </p:sp>
      <p:sp>
        <p:nvSpPr>
          <p:cNvPr id="10" name="Rectangle 9"/>
          <p:cNvSpPr/>
          <p:nvPr/>
        </p:nvSpPr>
        <p:spPr>
          <a:xfrm>
            <a:off x="548640" y="146304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896_1E88C8.png"/>
          <p:cNvPicPr>
            <a:picLocks noChangeAspect="1"/>
          </p:cNvPicPr>
          <p:nvPr/>
        </p:nvPicPr>
        <p:blipFill>
          <a:blip r:embed="rId4"/>
          <a:stretch>
            <a:fillRect/>
          </a:stretch>
        </p:blipFill>
        <p:spPr>
          <a:xfrm>
            <a:off x="731520" y="1737360"/>
            <a:ext cx="457200" cy="457200"/>
          </a:xfrm>
          <a:prstGeom prst="rect">
            <a:avLst/>
          </a:prstGeom>
        </p:spPr>
      </p:pic>
      <p:sp>
        <p:nvSpPr>
          <p:cNvPr id="12" name="TextBox 11"/>
          <p:cNvSpPr txBox="1"/>
          <p:nvPr/>
        </p:nvSpPr>
        <p:spPr>
          <a:xfrm>
            <a:off x="1325880" y="146304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Data Exports, Reports and Stats</a:t>
            </a:r>
          </a:p>
        </p:txBody>
      </p:sp>
      <p:sp>
        <p:nvSpPr>
          <p:cNvPr id="13" name="Rectangle 12"/>
          <p:cNvSpPr/>
          <p:nvPr/>
        </p:nvSpPr>
        <p:spPr>
          <a:xfrm>
            <a:off x="3364992" y="146304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898_1E88C8.png"/>
          <p:cNvPicPr>
            <a:picLocks noChangeAspect="1"/>
          </p:cNvPicPr>
          <p:nvPr/>
        </p:nvPicPr>
        <p:blipFill>
          <a:blip r:embed="rId5"/>
          <a:stretch>
            <a:fillRect/>
          </a:stretch>
        </p:blipFill>
        <p:spPr>
          <a:xfrm>
            <a:off x="3547872" y="1737360"/>
            <a:ext cx="457200" cy="457200"/>
          </a:xfrm>
          <a:prstGeom prst="rect">
            <a:avLst/>
          </a:prstGeom>
        </p:spPr>
      </p:pic>
      <p:sp>
        <p:nvSpPr>
          <p:cNvPr id="15" name="TextBox 14"/>
          <p:cNvSpPr txBox="1"/>
          <p:nvPr/>
        </p:nvSpPr>
        <p:spPr>
          <a:xfrm>
            <a:off x="4142232" y="146304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Data Import Tool</a:t>
            </a:r>
          </a:p>
        </p:txBody>
      </p:sp>
      <p:sp>
        <p:nvSpPr>
          <p:cNvPr id="16" name="Rectangle 15"/>
          <p:cNvSpPr/>
          <p:nvPr/>
        </p:nvSpPr>
        <p:spPr>
          <a:xfrm>
            <a:off x="6181344" y="1463040"/>
            <a:ext cx="2651760" cy="10058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E81C_C8102E.png"/>
          <p:cNvPicPr>
            <a:picLocks noChangeAspect="1"/>
          </p:cNvPicPr>
          <p:nvPr/>
        </p:nvPicPr>
        <p:blipFill>
          <a:blip r:embed="rId6"/>
          <a:stretch>
            <a:fillRect/>
          </a:stretch>
        </p:blipFill>
        <p:spPr>
          <a:xfrm>
            <a:off x="6364224" y="1737360"/>
            <a:ext cx="457200" cy="457200"/>
          </a:xfrm>
          <a:prstGeom prst="rect">
            <a:avLst/>
          </a:prstGeom>
        </p:spPr>
      </p:pic>
      <p:sp>
        <p:nvSpPr>
          <p:cNvPr id="18" name="TextBox 17"/>
          <p:cNvSpPr txBox="1"/>
          <p:nvPr/>
        </p:nvSpPr>
        <p:spPr>
          <a:xfrm>
            <a:off x="6958583" y="146304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Logging</a:t>
            </a:r>
          </a:p>
        </p:txBody>
      </p:sp>
      <p:sp>
        <p:nvSpPr>
          <p:cNvPr id="19" name="Rectangle 18"/>
          <p:cNvSpPr/>
          <p:nvPr/>
        </p:nvSpPr>
        <p:spPr>
          <a:xfrm>
            <a:off x="8997696" y="1463040"/>
            <a:ext cx="2651760" cy="10058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E716_C8102E.png"/>
          <p:cNvPicPr>
            <a:picLocks noChangeAspect="1"/>
          </p:cNvPicPr>
          <p:nvPr/>
        </p:nvPicPr>
        <p:blipFill>
          <a:blip r:embed="rId7"/>
          <a:stretch>
            <a:fillRect/>
          </a:stretch>
        </p:blipFill>
        <p:spPr>
          <a:xfrm>
            <a:off x="9180576" y="1737360"/>
            <a:ext cx="457200" cy="457200"/>
          </a:xfrm>
          <a:prstGeom prst="rect">
            <a:avLst/>
          </a:prstGeom>
        </p:spPr>
      </p:pic>
      <p:sp>
        <p:nvSpPr>
          <p:cNvPr id="21" name="TextBox 20"/>
          <p:cNvSpPr txBox="1"/>
          <p:nvPr/>
        </p:nvSpPr>
        <p:spPr>
          <a:xfrm>
            <a:off x="9774936" y="146304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User Rights</a:t>
            </a:r>
          </a:p>
        </p:txBody>
      </p:sp>
      <p:sp>
        <p:nvSpPr>
          <p:cNvPr id="22" name="Rectangle 21"/>
          <p:cNvSpPr/>
          <p:nvPr/>
        </p:nvSpPr>
        <p:spPr>
          <a:xfrm>
            <a:off x="548640" y="2651760"/>
            <a:ext cx="2651760" cy="10058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8D7_C8102E.png"/>
          <p:cNvPicPr>
            <a:picLocks noChangeAspect="1"/>
          </p:cNvPicPr>
          <p:nvPr/>
        </p:nvPicPr>
        <p:blipFill>
          <a:blip r:embed="rId8"/>
          <a:stretch>
            <a:fillRect/>
          </a:stretch>
        </p:blipFill>
        <p:spPr>
          <a:xfrm>
            <a:off x="731520" y="2926080"/>
            <a:ext cx="457200" cy="457200"/>
          </a:xfrm>
          <a:prstGeom prst="rect">
            <a:avLst/>
          </a:prstGeom>
        </p:spPr>
      </p:pic>
      <p:sp>
        <p:nvSpPr>
          <p:cNvPr id="24" name="TextBox 23"/>
          <p:cNvSpPr txBox="1"/>
          <p:nvPr/>
        </p:nvSpPr>
        <p:spPr>
          <a:xfrm>
            <a:off x="1325880" y="265176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Data Access Groups</a:t>
            </a:r>
          </a:p>
        </p:txBody>
      </p:sp>
      <p:sp>
        <p:nvSpPr>
          <p:cNvPr id="25" name="Rectangle 24"/>
          <p:cNvSpPr/>
          <p:nvPr/>
        </p:nvSpPr>
        <p:spPr>
          <a:xfrm>
            <a:off x="3364992" y="2651760"/>
            <a:ext cx="2651760" cy="10058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9D5_2E7D32.png"/>
          <p:cNvPicPr>
            <a:picLocks noChangeAspect="1"/>
          </p:cNvPicPr>
          <p:nvPr/>
        </p:nvPicPr>
        <p:blipFill>
          <a:blip r:embed="rId9"/>
          <a:stretch>
            <a:fillRect/>
          </a:stretch>
        </p:blipFill>
        <p:spPr>
          <a:xfrm>
            <a:off x="3547872" y="2926080"/>
            <a:ext cx="457200" cy="457200"/>
          </a:xfrm>
          <a:prstGeom prst="rect">
            <a:avLst/>
          </a:prstGeom>
        </p:spPr>
      </p:pic>
      <p:sp>
        <p:nvSpPr>
          <p:cNvPr id="27" name="TextBox 26"/>
          <p:cNvSpPr txBox="1"/>
          <p:nvPr/>
        </p:nvSpPr>
        <p:spPr>
          <a:xfrm>
            <a:off x="4142232" y="265176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Data Quality</a:t>
            </a:r>
          </a:p>
        </p:txBody>
      </p:sp>
      <p:sp>
        <p:nvSpPr>
          <p:cNvPr id="28" name="Rectangle 27"/>
          <p:cNvSpPr/>
          <p:nvPr/>
        </p:nvSpPr>
        <p:spPr>
          <a:xfrm>
            <a:off x="6181344" y="265176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E787_1E88C8.png"/>
          <p:cNvPicPr>
            <a:picLocks noChangeAspect="1"/>
          </p:cNvPicPr>
          <p:nvPr/>
        </p:nvPicPr>
        <p:blipFill>
          <a:blip r:embed="rId10"/>
          <a:stretch>
            <a:fillRect/>
          </a:stretch>
        </p:blipFill>
        <p:spPr>
          <a:xfrm>
            <a:off x="6364224" y="2926080"/>
            <a:ext cx="457200" cy="457200"/>
          </a:xfrm>
          <a:prstGeom prst="rect">
            <a:avLst/>
          </a:prstGeom>
        </p:spPr>
      </p:pic>
      <p:sp>
        <p:nvSpPr>
          <p:cNvPr id="30" name="TextBox 29"/>
          <p:cNvSpPr txBox="1"/>
          <p:nvPr/>
        </p:nvSpPr>
        <p:spPr>
          <a:xfrm>
            <a:off x="6958583" y="265176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Calendar</a:t>
            </a:r>
          </a:p>
        </p:txBody>
      </p:sp>
      <p:sp>
        <p:nvSpPr>
          <p:cNvPr id="31" name="Rectangle 30"/>
          <p:cNvSpPr/>
          <p:nvPr/>
        </p:nvSpPr>
        <p:spPr>
          <a:xfrm>
            <a:off x="8997696" y="265176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8B7_1E88C8.png"/>
          <p:cNvPicPr>
            <a:picLocks noChangeAspect="1"/>
          </p:cNvPicPr>
          <p:nvPr/>
        </p:nvPicPr>
        <p:blipFill>
          <a:blip r:embed="rId11"/>
          <a:stretch>
            <a:fillRect/>
          </a:stretch>
        </p:blipFill>
        <p:spPr>
          <a:xfrm>
            <a:off x="9180576" y="2926080"/>
            <a:ext cx="457200" cy="457200"/>
          </a:xfrm>
          <a:prstGeom prst="rect">
            <a:avLst/>
          </a:prstGeom>
        </p:spPr>
      </p:pic>
      <p:sp>
        <p:nvSpPr>
          <p:cNvPr id="33" name="TextBox 32"/>
          <p:cNvSpPr txBox="1"/>
          <p:nvPr/>
        </p:nvSpPr>
        <p:spPr>
          <a:xfrm>
            <a:off x="9774936" y="265176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File Repository</a:t>
            </a:r>
          </a:p>
        </p:txBody>
      </p:sp>
      <p:sp>
        <p:nvSpPr>
          <p:cNvPr id="34" name="Rectangle 33"/>
          <p:cNvSpPr/>
          <p:nvPr/>
        </p:nvSpPr>
        <p:spPr>
          <a:xfrm>
            <a:off x="548640" y="3840480"/>
            <a:ext cx="2651760"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E943_41464C.png"/>
          <p:cNvPicPr>
            <a:picLocks noChangeAspect="1"/>
          </p:cNvPicPr>
          <p:nvPr/>
        </p:nvPicPr>
        <p:blipFill>
          <a:blip r:embed="rId12"/>
          <a:stretch>
            <a:fillRect/>
          </a:stretch>
        </p:blipFill>
        <p:spPr>
          <a:xfrm>
            <a:off x="731520" y="4114800"/>
            <a:ext cx="457200" cy="457200"/>
          </a:xfrm>
          <a:prstGeom prst="rect">
            <a:avLst/>
          </a:prstGeom>
        </p:spPr>
      </p:pic>
      <p:sp>
        <p:nvSpPr>
          <p:cNvPr id="36" name="TextBox 35"/>
          <p:cNvSpPr txBox="1"/>
          <p:nvPr/>
        </p:nvSpPr>
        <p:spPr>
          <a:xfrm>
            <a:off x="1325880" y="384048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API</a:t>
            </a:r>
          </a:p>
        </p:txBody>
      </p:sp>
      <p:sp>
        <p:nvSpPr>
          <p:cNvPr id="37" name="Rectangle 36"/>
          <p:cNvSpPr/>
          <p:nvPr/>
        </p:nvSpPr>
        <p:spPr>
          <a:xfrm>
            <a:off x="3364992" y="384048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8C8_1E88C8.png"/>
          <p:cNvPicPr>
            <a:picLocks noChangeAspect="1"/>
          </p:cNvPicPr>
          <p:nvPr/>
        </p:nvPicPr>
        <p:blipFill>
          <a:blip r:embed="rId13"/>
          <a:stretch>
            <a:fillRect/>
          </a:stretch>
        </p:blipFill>
        <p:spPr>
          <a:xfrm>
            <a:off x="3547872" y="4114800"/>
            <a:ext cx="457200" cy="457200"/>
          </a:xfrm>
          <a:prstGeom prst="rect">
            <a:avLst/>
          </a:prstGeom>
        </p:spPr>
      </p:pic>
      <p:sp>
        <p:nvSpPr>
          <p:cNvPr id="39" name="TextBox 38"/>
          <p:cNvSpPr txBox="1"/>
          <p:nvPr/>
        </p:nvSpPr>
        <p:spPr>
          <a:xfrm>
            <a:off x="4142232" y="384048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Data Comparison Tool</a:t>
            </a:r>
          </a:p>
        </p:txBody>
      </p:sp>
      <p:sp>
        <p:nvSpPr>
          <p:cNvPr id="40" name="Rectangle 39"/>
          <p:cNvSpPr/>
          <p:nvPr/>
        </p:nvSpPr>
        <p:spPr>
          <a:xfrm>
            <a:off x="6181344" y="3840480"/>
            <a:ext cx="2651760"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E8BD_1E88C8.png"/>
          <p:cNvPicPr>
            <a:picLocks noChangeAspect="1"/>
          </p:cNvPicPr>
          <p:nvPr/>
        </p:nvPicPr>
        <p:blipFill>
          <a:blip r:embed="rId14"/>
          <a:stretch>
            <a:fillRect/>
          </a:stretch>
        </p:blipFill>
        <p:spPr>
          <a:xfrm>
            <a:off x="6364224" y="4114800"/>
            <a:ext cx="457200" cy="457200"/>
          </a:xfrm>
          <a:prstGeom prst="rect">
            <a:avLst/>
          </a:prstGeom>
        </p:spPr>
      </p:pic>
      <p:sp>
        <p:nvSpPr>
          <p:cNvPr id="42" name="TextBox 41"/>
          <p:cNvSpPr txBox="1"/>
          <p:nvPr/>
        </p:nvSpPr>
        <p:spPr>
          <a:xfrm>
            <a:off x="6958583" y="384048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Field Comment Log</a:t>
            </a:r>
          </a:p>
        </p:txBody>
      </p:sp>
      <p:sp>
        <p:nvSpPr>
          <p:cNvPr id="43" name="Rectangle 42"/>
          <p:cNvSpPr/>
          <p:nvPr/>
        </p:nvSpPr>
        <p:spPr>
          <a:xfrm>
            <a:off x="8997696" y="3840480"/>
            <a:ext cx="2651760" cy="10058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E72E_C8102E.png"/>
          <p:cNvPicPr>
            <a:picLocks noChangeAspect="1"/>
          </p:cNvPicPr>
          <p:nvPr/>
        </p:nvPicPr>
        <p:blipFill>
          <a:blip r:embed="rId15"/>
          <a:stretch>
            <a:fillRect/>
          </a:stretch>
        </p:blipFill>
        <p:spPr>
          <a:xfrm>
            <a:off x="9180576" y="4114800"/>
            <a:ext cx="457200" cy="457200"/>
          </a:xfrm>
          <a:prstGeom prst="rect">
            <a:avLst/>
          </a:prstGeom>
        </p:spPr>
      </p:pic>
      <p:sp>
        <p:nvSpPr>
          <p:cNvPr id="45" name="TextBox 44"/>
          <p:cNvSpPr txBox="1"/>
          <p:nvPr/>
        </p:nvSpPr>
        <p:spPr>
          <a:xfrm>
            <a:off x="9774936" y="3840480"/>
            <a:ext cx="1783080" cy="1005840"/>
          </a:xfrm>
          <a:prstGeom prst="rect">
            <a:avLst/>
          </a:prstGeom>
          <a:noFill/>
        </p:spPr>
        <p:txBody>
          <a:bodyPr wrap="square" lIns="0" tIns="0" rIns="0" bIns="0" anchor="ctr"/>
          <a:lstStyle/>
          <a:p>
            <a:pPr algn="l">
              <a:spcAft>
                <a:spcPts val="600"/>
              </a:spcAft>
            </a:pPr>
            <a:r>
              <a:rPr sz="1300" b="1" i="0">
                <a:solidFill>
                  <a:srgbClr val="41464C"/>
                </a:solidFill>
                <a:latin typeface="Arial"/>
              </a:rPr>
              <a:t>Record locking</a:t>
            </a:r>
          </a:p>
        </p:txBody>
      </p:sp>
      <p:sp>
        <p:nvSpPr>
          <p:cNvPr id="46" name="Rectangle 45"/>
          <p:cNvSpPr/>
          <p:nvPr/>
        </p:nvSpPr>
        <p:spPr>
          <a:xfrm>
            <a:off x="548640" y="516636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48640" y="516636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E716_C8102E.png"/>
          <p:cNvPicPr>
            <a:picLocks noChangeAspect="1"/>
          </p:cNvPicPr>
          <p:nvPr/>
        </p:nvPicPr>
        <p:blipFill>
          <a:blip r:embed="rId7"/>
          <a:stretch>
            <a:fillRect/>
          </a:stretch>
        </p:blipFill>
        <p:spPr>
          <a:xfrm>
            <a:off x="777240" y="5257800"/>
            <a:ext cx="365760" cy="365760"/>
          </a:xfrm>
          <a:prstGeom prst="rect">
            <a:avLst/>
          </a:prstGeom>
        </p:spPr>
      </p:pic>
      <p:sp>
        <p:nvSpPr>
          <p:cNvPr id="49" name="TextBox 48"/>
          <p:cNvSpPr txBox="1"/>
          <p:nvPr/>
        </p:nvSpPr>
        <p:spPr>
          <a:xfrm>
            <a:off x="1280160" y="516636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What each user sees depends on their </a:t>
            </a:r>
            <a:r>
              <a:rPr sz="1500" b="1" i="0">
                <a:solidFill>
                  <a:srgbClr val="C8102E"/>
                </a:solidFill>
                <a:latin typeface="Arial"/>
              </a:rPr>
              <a:t>user rights</a:t>
            </a:r>
            <a:r>
              <a:rPr sz="1500" b="0" i="0">
                <a:solidFill>
                  <a:srgbClr val="222222"/>
                </a:solidFill>
                <a:latin typeface="Arial"/>
              </a:rPr>
              <a:t>.</a:t>
            </a:r>
          </a:p>
        </p:txBody>
      </p:sp>
      <p:sp>
        <p:nvSpPr>
          <p:cNvPr id="50" name="TextBox 49"/>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API: application programming interface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User rights: give each role only what it needs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40</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Applications overview (16 min)</a:t>
            </a:r>
          </a:p>
        </p:txBody>
      </p:sp>
      <p:graphicFrame>
        <p:nvGraphicFramePr>
          <p:cNvPr id="10" name="Table 9"/>
          <p:cNvGraphicFramePr>
            <a:graphicFrameLocks noGrp="1"/>
          </p:cNvGraphicFramePr>
          <p:nvPr/>
        </p:nvGraphicFramePr>
        <p:xfrm>
          <a:off x="548640" y="1463040"/>
          <a:ext cx="11091672" cy="32918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764792">
                  <a:extLst>
                    <a:ext uri="{9D8B030D-6E8A-4147-A177-3AD203B41FA5}">
                      <a16:colId xmlns:a16="http://schemas.microsoft.com/office/drawing/2014/main" val="20005"/>
                    </a:ext>
                  </a:extLst>
                </a:gridCol>
              </a:tblGrid>
              <a:tr h="548640">
                <a:tc>
                  <a:txBody>
                    <a:bodyPr/>
                    <a:lstStyle/>
                    <a:p>
                      <a:pPr algn="l">
                        <a:spcAft>
                          <a:spcPts val="0"/>
                        </a:spcAft>
                      </a:pPr>
                      <a:r>
                        <a:rPr sz="1400" b="1" i="0">
                          <a:solidFill>
                            <a:srgbClr val="FFFFFF"/>
                          </a:solidFill>
                          <a:latin typeface="Arial"/>
                        </a:rPr>
                        <a:t>Role</a:t>
                      </a:r>
                    </a:p>
                  </a:txBody>
                  <a:tcPr marT="36576" marB="36576" anchor="ctr">
                    <a:solidFill>
                      <a:srgbClr val="41464C"/>
                    </a:solidFill>
                  </a:tcPr>
                </a:tc>
                <a:tc>
                  <a:txBody>
                    <a:bodyPr/>
                    <a:lstStyle/>
                    <a:p>
                      <a:pPr algn="l">
                        <a:spcAft>
                          <a:spcPts val="0"/>
                        </a:spcAft>
                      </a:pPr>
                      <a:r>
                        <a:rPr sz="1400" b="1" i="0">
                          <a:solidFill>
                            <a:srgbClr val="FFFFFF"/>
                          </a:solidFill>
                          <a:latin typeface="Arial"/>
                        </a:rPr>
                        <a:t>Enter / edit</a:t>
                      </a:r>
                    </a:p>
                  </a:txBody>
                  <a:tcPr marT="36576" marB="36576" anchor="ctr">
                    <a:solidFill>
                      <a:srgbClr val="41464C"/>
                    </a:solidFill>
                  </a:tcPr>
                </a:tc>
                <a:tc>
                  <a:txBody>
                    <a:bodyPr/>
                    <a:lstStyle/>
                    <a:p>
                      <a:pPr algn="l">
                        <a:spcAft>
                          <a:spcPts val="0"/>
                        </a:spcAft>
                      </a:pPr>
                      <a:r>
                        <a:rPr sz="1400" b="1" i="0">
                          <a:solidFill>
                            <a:srgbClr val="FFFFFF"/>
                          </a:solidFill>
                          <a:latin typeface="Arial"/>
                        </a:rPr>
                        <a:t>Export</a:t>
                      </a:r>
                    </a:p>
                  </a:txBody>
                  <a:tcPr marT="36576" marB="36576" anchor="ctr">
                    <a:solidFill>
                      <a:srgbClr val="41464C"/>
                    </a:solidFill>
                  </a:tcPr>
                </a:tc>
                <a:tc>
                  <a:txBody>
                    <a:bodyPr/>
                    <a:lstStyle/>
                    <a:p>
                      <a:pPr algn="l">
                        <a:spcAft>
                          <a:spcPts val="0"/>
                        </a:spcAft>
                      </a:pPr>
                      <a:r>
                        <a:rPr sz="1400" b="1" i="0">
                          <a:solidFill>
                            <a:srgbClr val="FFFFFF"/>
                          </a:solidFill>
                          <a:latin typeface="Arial"/>
                        </a:rPr>
                        <a:t>Queries</a:t>
                      </a:r>
                    </a:p>
                  </a:txBody>
                  <a:tcPr marT="36576" marB="36576" anchor="ctr">
                    <a:solidFill>
                      <a:srgbClr val="41464C"/>
                    </a:solidFill>
                  </a:tcPr>
                </a:tc>
                <a:tc>
                  <a:txBody>
                    <a:bodyPr/>
                    <a:lstStyle/>
                    <a:p>
                      <a:pPr algn="l">
                        <a:spcAft>
                          <a:spcPts val="0"/>
                        </a:spcAft>
                      </a:pPr>
                      <a:r>
                        <a:rPr sz="1400" b="1" i="0">
                          <a:solidFill>
                            <a:srgbClr val="FFFFFF"/>
                          </a:solidFill>
                          <a:latin typeface="Arial"/>
                        </a:rPr>
                        <a:t>Design</a:t>
                      </a:r>
                    </a:p>
                  </a:txBody>
                  <a:tcPr marT="36576" marB="36576" anchor="ctr">
                    <a:solidFill>
                      <a:srgbClr val="41464C"/>
                    </a:solidFill>
                  </a:tcPr>
                </a:tc>
                <a:tc>
                  <a:txBody>
                    <a:bodyPr/>
                    <a:lstStyle/>
                    <a:p>
                      <a:pPr algn="l">
                        <a:spcAft>
                          <a:spcPts val="0"/>
                        </a:spcAft>
                      </a:pPr>
                      <a:r>
                        <a:rPr sz="1400" b="1" i="0">
                          <a:solidFill>
                            <a:srgbClr val="FFFFFF"/>
                          </a:solidFill>
                          <a:latin typeface="Arial"/>
                        </a:rPr>
                        <a:t>User rights</a:t>
                      </a:r>
                    </a:p>
                  </a:txBody>
                  <a:tcPr marT="36576" marB="36576" anchor="ctr">
                    <a:solidFill>
                      <a:srgbClr val="41464C"/>
                    </a:solidFill>
                  </a:tcPr>
                </a:tc>
                <a:extLst>
                  <a:ext uri="{0D108BD9-81ED-4DB2-BD59-A6C34878D82A}">
                    <a16:rowId xmlns:a16="http://schemas.microsoft.com/office/drawing/2014/main" val="10000"/>
                  </a:ext>
                </a:extLst>
              </a:tr>
              <a:tr h="548640">
                <a:tc>
                  <a:txBody>
                    <a:bodyPr/>
                    <a:lstStyle/>
                    <a:p>
                      <a:pPr algn="l">
                        <a:spcAft>
                          <a:spcPts val="0"/>
                        </a:spcAft>
                      </a:pPr>
                      <a:r>
                        <a:rPr sz="1400" b="1" i="0">
                          <a:solidFill>
                            <a:srgbClr val="222222"/>
                          </a:solidFill>
                          <a:latin typeface="Arial"/>
                        </a:rPr>
                        <a:t>Site data entry</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tc>
                  <a:txBody>
                    <a:bodyPr/>
                    <a:lstStyle/>
                    <a:p>
                      <a:pPr algn="ctr">
                        <a:spcAft>
                          <a:spcPts val="0"/>
                        </a:spcAft>
                      </a:pPr>
                      <a:r>
                        <a:rPr sz="1500" b="0" i="0">
                          <a:solidFill>
                            <a:srgbClr val="62676D"/>
                          </a:solidFill>
                          <a:latin typeface="Arial"/>
                        </a:rPr>
                        <a:t>–</a:t>
                      </a:r>
                    </a:p>
                  </a:txBody>
                  <a:tcPr marT="36576" marB="36576" anchor="ctr">
                    <a:solidFill>
                      <a:srgbClr val="FFFFFF"/>
                    </a:solidFill>
                  </a:tcPr>
                </a:tc>
                <a:tc>
                  <a:txBody>
                    <a:bodyPr/>
                    <a:lstStyle/>
                    <a:p>
                      <a:pPr algn="ctr">
                        <a:spcAft>
                          <a:spcPts val="0"/>
                        </a:spcAft>
                      </a:pPr>
                      <a:r>
                        <a:rPr sz="1400" b="0" i="0">
                          <a:solidFill>
                            <a:srgbClr val="222222"/>
                          </a:solidFill>
                          <a:latin typeface="Arial"/>
                        </a:rPr>
                        <a:t>respond</a:t>
                      </a:r>
                    </a:p>
                  </a:txBody>
                  <a:tcPr marT="36576" marB="36576" anchor="ctr">
                    <a:solidFill>
                      <a:srgbClr val="FFFFFF"/>
                    </a:solidFill>
                  </a:tcPr>
                </a:tc>
                <a:tc>
                  <a:txBody>
                    <a:bodyPr/>
                    <a:lstStyle/>
                    <a:p>
                      <a:pPr algn="ctr">
                        <a:spcAft>
                          <a:spcPts val="0"/>
                        </a:spcAft>
                      </a:pPr>
                      <a:r>
                        <a:rPr sz="1500" b="0" i="0">
                          <a:solidFill>
                            <a:srgbClr val="62676D"/>
                          </a:solidFill>
                          <a:latin typeface="Arial"/>
                        </a:rPr>
                        <a:t>–</a:t>
                      </a:r>
                    </a:p>
                  </a:txBody>
                  <a:tcPr marT="36576" marB="36576" anchor="ctr">
                    <a:solidFill>
                      <a:srgbClr val="FFFFFF"/>
                    </a:solidFill>
                  </a:tcPr>
                </a:tc>
                <a:tc>
                  <a:txBody>
                    <a:bodyPr/>
                    <a:lstStyle/>
                    <a:p>
                      <a:pPr algn="ctr">
                        <a:spcAft>
                          <a:spcPts val="0"/>
                        </a:spcAft>
                      </a:pPr>
                      <a:r>
                        <a:rPr sz="1500" b="0" i="0">
                          <a:solidFill>
                            <a:srgbClr val="62676D"/>
                          </a:solidFill>
                          <a:latin typeface="Arial"/>
                        </a:rPr>
                        <a:t>–</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pPr algn="l">
                        <a:spcAft>
                          <a:spcPts val="0"/>
                        </a:spcAft>
                      </a:pPr>
                      <a:r>
                        <a:rPr sz="1400" b="1" i="0">
                          <a:solidFill>
                            <a:srgbClr val="222222"/>
                          </a:solidFill>
                          <a:latin typeface="Arial"/>
                        </a:rPr>
                        <a:t>Monitor</a:t>
                      </a:r>
                    </a:p>
                  </a:txBody>
                  <a:tcPr marT="36576" marB="36576" anchor="ctr">
                    <a:solidFill>
                      <a:srgbClr val="F2F4F6"/>
                    </a:solidFill>
                  </a:tcPr>
                </a:tc>
                <a:tc>
                  <a:txBody>
                    <a:bodyPr/>
                    <a:lstStyle/>
                    <a:p>
                      <a:pPr algn="ctr">
                        <a:spcAft>
                          <a:spcPts val="0"/>
                        </a:spcAft>
                      </a:pPr>
                      <a:r>
                        <a:rPr sz="1400" b="0" i="0">
                          <a:solidFill>
                            <a:srgbClr val="222222"/>
                          </a:solidFill>
                          <a:latin typeface="Arial"/>
                        </a:rPr>
                        <a:t>view</a:t>
                      </a:r>
                    </a:p>
                  </a:txBody>
                  <a:tcPr marT="36576" marB="36576" anchor="ctr">
                    <a:solidFill>
                      <a:srgbClr val="F2F4F6"/>
                    </a:solidFill>
                  </a:tcPr>
                </a:tc>
                <a:tc>
                  <a:txBody>
                    <a:bodyPr/>
                    <a:lstStyle/>
                    <a:p>
                      <a:pPr algn="ctr">
                        <a:spcAft>
                          <a:spcPts val="0"/>
                        </a:spcAft>
                      </a:pPr>
                      <a:r>
                        <a:rPr sz="1400" b="0" i="0">
                          <a:solidFill>
                            <a:srgbClr val="222222"/>
                          </a:solidFill>
                          <a:latin typeface="Arial"/>
                        </a:rPr>
                        <a:t>de-identified</a:t>
                      </a:r>
                    </a:p>
                  </a:txBody>
                  <a:tcPr marT="36576" marB="36576" anchor="ctr">
                    <a:solidFill>
                      <a:srgbClr val="F2F4F6"/>
                    </a:solidFill>
                  </a:tcPr>
                </a:tc>
                <a:tc>
                  <a:txBody>
                    <a:bodyPr/>
                    <a:lstStyle/>
                    <a:p>
                      <a:pPr algn="ctr">
                        <a:spcAft>
                          <a:spcPts val="0"/>
                        </a:spcAft>
                      </a:pPr>
                      <a:r>
                        <a:rPr sz="1400" b="0" i="0">
                          <a:solidFill>
                            <a:srgbClr val="222222"/>
                          </a:solidFill>
                          <a:latin typeface="Arial"/>
                        </a:rPr>
                        <a:t>open</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extLst>
                  <a:ext uri="{0D108BD9-81ED-4DB2-BD59-A6C34878D82A}">
                    <a16:rowId xmlns:a16="http://schemas.microsoft.com/office/drawing/2014/main" val="10002"/>
                  </a:ext>
                </a:extLst>
              </a:tr>
              <a:tr h="548640">
                <a:tc>
                  <a:txBody>
                    <a:bodyPr/>
                    <a:lstStyle/>
                    <a:p>
                      <a:pPr algn="l">
                        <a:spcAft>
                          <a:spcPts val="0"/>
                        </a:spcAft>
                      </a:pPr>
                      <a:r>
                        <a:rPr sz="1400" b="1" i="0">
                          <a:solidFill>
                            <a:srgbClr val="222222"/>
                          </a:solidFill>
                          <a:latin typeface="Arial"/>
                        </a:rPr>
                        <a:t>Data manager</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tc>
                  <a:txBody>
                    <a:bodyPr/>
                    <a:lstStyle/>
                    <a:p>
                      <a:pPr algn="ctr">
                        <a:spcAft>
                          <a:spcPts val="0"/>
                        </a:spcAft>
                      </a:pPr>
                      <a:r>
                        <a:rPr sz="1400" b="0" i="0">
                          <a:solidFill>
                            <a:srgbClr val="222222"/>
                          </a:solidFill>
                          <a:latin typeface="Arial"/>
                        </a:rPr>
                        <a:t>full</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tc>
                  <a:txBody>
                    <a:bodyPr/>
                    <a:lstStyle/>
                    <a:p>
                      <a:pPr algn="ctr">
                        <a:spcAft>
                          <a:spcPts val="0"/>
                        </a:spcAft>
                      </a:pPr>
                      <a:r>
                        <a:rPr sz="1500" b="0" i="0">
                          <a:solidFill>
                            <a:srgbClr val="62676D"/>
                          </a:solidFill>
                          <a:latin typeface="Arial"/>
                        </a:rPr>
                        <a:t>–</a:t>
                      </a:r>
                    </a:p>
                  </a:txBody>
                  <a:tcPr marT="36576" marB="36576" anchor="ctr">
                    <a:solidFill>
                      <a:srgbClr val="FFFFFF"/>
                    </a:solidFill>
                  </a:tcPr>
                </a:tc>
                <a:extLst>
                  <a:ext uri="{0D108BD9-81ED-4DB2-BD59-A6C34878D82A}">
                    <a16:rowId xmlns:a16="http://schemas.microsoft.com/office/drawing/2014/main" val="10003"/>
                  </a:ext>
                </a:extLst>
              </a:tr>
              <a:tr h="548640">
                <a:tc>
                  <a:txBody>
                    <a:bodyPr/>
                    <a:lstStyle/>
                    <a:p>
                      <a:pPr algn="l">
                        <a:spcAft>
                          <a:spcPts val="0"/>
                        </a:spcAft>
                      </a:pPr>
                      <a:r>
                        <a:rPr sz="1400" b="1" i="0">
                          <a:solidFill>
                            <a:srgbClr val="222222"/>
                          </a:solidFill>
                          <a:latin typeface="Arial"/>
                        </a:rPr>
                        <a:t>Statistician</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tc>
                  <a:txBody>
                    <a:bodyPr/>
                    <a:lstStyle/>
                    <a:p>
                      <a:pPr algn="ctr">
                        <a:spcAft>
                          <a:spcPts val="0"/>
                        </a:spcAft>
                      </a:pPr>
                      <a:r>
                        <a:rPr sz="1400" b="0" i="0">
                          <a:solidFill>
                            <a:srgbClr val="222222"/>
                          </a:solidFill>
                          <a:latin typeface="Arial"/>
                        </a:rPr>
                        <a:t>de-identified</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tc>
                  <a:txBody>
                    <a:bodyPr/>
                    <a:lstStyle/>
                    <a:p>
                      <a:pPr algn="ctr">
                        <a:spcAft>
                          <a:spcPts val="0"/>
                        </a:spcAft>
                      </a:pPr>
                      <a:r>
                        <a:rPr sz="1500" b="0" i="0">
                          <a:solidFill>
                            <a:srgbClr val="62676D"/>
                          </a:solidFill>
                          <a:latin typeface="Arial"/>
                        </a:rPr>
                        <a:t>–</a:t>
                      </a:r>
                    </a:p>
                  </a:txBody>
                  <a:tcPr marT="36576" marB="36576" anchor="ctr">
                    <a:solidFill>
                      <a:srgbClr val="F2F4F6"/>
                    </a:solidFill>
                  </a:tcPr>
                </a:tc>
                <a:extLst>
                  <a:ext uri="{0D108BD9-81ED-4DB2-BD59-A6C34878D82A}">
                    <a16:rowId xmlns:a16="http://schemas.microsoft.com/office/drawing/2014/main" val="10004"/>
                  </a:ext>
                </a:extLst>
              </a:tr>
              <a:tr h="548640">
                <a:tc>
                  <a:txBody>
                    <a:bodyPr/>
                    <a:lstStyle/>
                    <a:p>
                      <a:pPr algn="l">
                        <a:spcAft>
                          <a:spcPts val="0"/>
                        </a:spcAft>
                      </a:pPr>
                      <a:r>
                        <a:rPr sz="1400" b="1" i="0">
                          <a:solidFill>
                            <a:srgbClr val="222222"/>
                          </a:solidFill>
                          <a:latin typeface="Arial"/>
                        </a:rPr>
                        <a:t>Principal investigator</a:t>
                      </a:r>
                    </a:p>
                  </a:txBody>
                  <a:tcPr marT="36576" marB="36576" anchor="ctr">
                    <a:solidFill>
                      <a:srgbClr val="FFFFFF"/>
                    </a:solidFill>
                  </a:tcPr>
                </a:tc>
                <a:tc>
                  <a:txBody>
                    <a:bodyPr/>
                    <a:lstStyle/>
                    <a:p>
                      <a:pPr algn="ctr">
                        <a:spcAft>
                          <a:spcPts val="0"/>
                        </a:spcAft>
                      </a:pPr>
                      <a:r>
                        <a:rPr sz="1400" b="0" i="0">
                          <a:solidFill>
                            <a:srgbClr val="222222"/>
                          </a:solidFill>
                          <a:latin typeface="Arial"/>
                        </a:rPr>
                        <a:t>view</a:t>
                      </a:r>
                    </a:p>
                  </a:txBody>
                  <a:tcPr marT="36576" marB="36576" anchor="ctr">
                    <a:solidFill>
                      <a:srgbClr val="FFFFFF"/>
                    </a:solidFill>
                  </a:tcPr>
                </a:tc>
                <a:tc>
                  <a:txBody>
                    <a:bodyPr/>
                    <a:lstStyle/>
                    <a:p>
                      <a:pPr algn="ctr">
                        <a:spcAft>
                          <a:spcPts val="0"/>
                        </a:spcAft>
                      </a:pPr>
                      <a:r>
                        <a:rPr sz="1400" b="0" i="0">
                          <a:solidFill>
                            <a:srgbClr val="222222"/>
                          </a:solidFill>
                          <a:latin typeface="Arial"/>
                        </a:rPr>
                        <a:t>full</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tc>
                  <a:txBody>
                    <a:bodyPr/>
                    <a:lstStyle/>
                    <a:p>
                      <a:pPr algn="ctr">
                        <a:spcAft>
                          <a:spcPts val="0"/>
                        </a:spcAft>
                      </a:pPr>
                      <a:r>
                        <a:rPr sz="1500" b="0" i="0">
                          <a:solidFill>
                            <a:srgbClr val="62676D"/>
                          </a:solidFill>
                          <a:latin typeface="Arial"/>
                        </a:rPr>
                        <a:t>–</a:t>
                      </a:r>
                    </a:p>
                  </a:txBody>
                  <a:tcPr marT="36576" marB="36576" anchor="ctr">
                    <a:solidFill>
                      <a:srgbClr val="FFFFFF"/>
                    </a:solidFill>
                  </a:tcPr>
                </a:tc>
                <a:tc>
                  <a:txBody>
                    <a:bodyPr/>
                    <a:lstStyle/>
                    <a:p>
                      <a:pPr algn="ctr">
                        <a:spcAft>
                          <a:spcPts val="0"/>
                        </a:spcAft>
                      </a:pPr>
                      <a:r>
                        <a:rPr sz="1500" b="1" i="0">
                          <a:solidFill>
                            <a:srgbClr val="2E7D32"/>
                          </a:solidFill>
                          <a:latin typeface="Arial"/>
                        </a:rPr>
                        <a:t>✓</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1" name="Rectangle 10"/>
          <p:cNvSpPr/>
          <p:nvPr/>
        </p:nvSpPr>
        <p:spPr>
          <a:xfrm>
            <a:off x="548640" y="50292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0292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E72E_1E88C8.png"/>
          <p:cNvPicPr>
            <a:picLocks noChangeAspect="1"/>
          </p:cNvPicPr>
          <p:nvPr/>
        </p:nvPicPr>
        <p:blipFill>
          <a:blip r:embed="rId4"/>
          <a:stretch>
            <a:fillRect/>
          </a:stretch>
        </p:blipFill>
        <p:spPr>
          <a:xfrm>
            <a:off x="777240" y="5120640"/>
            <a:ext cx="365760" cy="365760"/>
          </a:xfrm>
          <a:prstGeom prst="rect">
            <a:avLst/>
          </a:prstGeom>
        </p:spPr>
      </p:pic>
      <p:sp>
        <p:nvSpPr>
          <p:cNvPr id="14" name="TextBox 13"/>
          <p:cNvSpPr txBox="1"/>
          <p:nvPr/>
        </p:nvSpPr>
        <p:spPr>
          <a:xfrm>
            <a:off x="1280160" y="5029200"/>
            <a:ext cx="10268712" cy="548640"/>
          </a:xfrm>
          <a:prstGeom prst="rect">
            <a:avLst/>
          </a:prstGeom>
          <a:noFill/>
        </p:spPr>
        <p:txBody>
          <a:bodyPr wrap="square" lIns="0" tIns="0" rIns="0" bIns="0" anchor="ctr"/>
          <a:lstStyle/>
          <a:p>
            <a:pPr algn="l">
              <a:spcAft>
                <a:spcPts val="600"/>
              </a:spcAft>
            </a:pPr>
            <a:r>
              <a:rPr sz="1500" b="1" i="0">
                <a:solidFill>
                  <a:srgbClr val="1E88C8"/>
                </a:solidFill>
                <a:latin typeface="Arial"/>
              </a:rPr>
              <a:t>Least privilege</a:t>
            </a:r>
            <a:r>
              <a:rPr sz="1500" b="0" i="0">
                <a:solidFill>
                  <a:srgbClr val="222222"/>
                </a:solidFill>
                <a:latin typeface="Arial"/>
              </a:rPr>
              <a:t>; set </a:t>
            </a:r>
            <a:r>
              <a:rPr sz="1500" b="1" i="0">
                <a:solidFill>
                  <a:srgbClr val="1E88C8"/>
                </a:solidFill>
                <a:latin typeface="Arial"/>
              </a:rPr>
              <a:t>expiry dates</a:t>
            </a:r>
            <a:r>
              <a:rPr sz="1500" b="0" i="0">
                <a:solidFill>
                  <a:srgbClr val="222222"/>
                </a:solidFill>
                <a:latin typeface="Arial"/>
              </a:rPr>
              <a:t>; remove leavers the same day.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Logging: every change is recorded</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41</a:t>
            </a:r>
          </a:p>
        </p:txBody>
      </p:sp>
      <p:sp>
        <p:nvSpPr>
          <p:cNvPr id="8" name="Rectangle 7"/>
          <p:cNvSpPr/>
          <p:nvPr/>
        </p:nvSpPr>
        <p:spPr>
          <a:xfrm>
            <a:off x="548640" y="1417320"/>
            <a:ext cx="7680960" cy="338328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417320"/>
            <a:ext cx="7680960"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417320"/>
            <a:ext cx="7461504"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11" name="TextBox 10"/>
          <p:cNvSpPr txBox="1"/>
          <p:nvPr/>
        </p:nvSpPr>
        <p:spPr>
          <a:xfrm>
            <a:off x="1463040" y="1417320"/>
            <a:ext cx="6675120" cy="329184"/>
          </a:xfrm>
          <a:prstGeom prst="rect">
            <a:avLst/>
          </a:prstGeom>
          <a:noFill/>
        </p:spPr>
        <p:txBody>
          <a:bodyPr wrap="square" lIns="0" tIns="0" rIns="0" bIns="0" anchor="ctr"/>
          <a:lstStyle/>
          <a:p>
            <a:pPr algn="r">
              <a:spcAft>
                <a:spcPts val="600"/>
              </a:spcAft>
            </a:pPr>
            <a:r>
              <a:rPr sz="900" b="0" i="0">
                <a:solidFill>
                  <a:srgbClr val="F3D9DC"/>
                </a:solidFill>
                <a:latin typeface="Arial"/>
              </a:rPr>
              <a:t>Logging</a:t>
            </a:r>
          </a:p>
        </p:txBody>
      </p:sp>
      <p:graphicFrame>
        <p:nvGraphicFramePr>
          <p:cNvPr id="12" name="Table 11"/>
          <p:cNvGraphicFramePr>
            <a:graphicFrameLocks noGrp="1"/>
          </p:cNvGraphicFramePr>
          <p:nvPr/>
        </p:nvGraphicFramePr>
        <p:xfrm>
          <a:off x="685800" y="1965960"/>
          <a:ext cx="7406639" cy="2286000"/>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468879">
                  <a:extLst>
                    <a:ext uri="{9D8B030D-6E8A-4147-A177-3AD203B41FA5}">
                      <a16:colId xmlns:a16="http://schemas.microsoft.com/office/drawing/2014/main" val="20003"/>
                    </a:ext>
                  </a:extLst>
                </a:gridCol>
              </a:tblGrid>
              <a:tr h="457200">
                <a:tc>
                  <a:txBody>
                    <a:bodyPr/>
                    <a:lstStyle/>
                    <a:p>
                      <a:pPr algn="l">
                        <a:spcAft>
                          <a:spcPts val="0"/>
                        </a:spcAft>
                      </a:pPr>
                      <a:r>
                        <a:rPr sz="1050" b="1" i="0">
                          <a:solidFill>
                            <a:srgbClr val="FFFFFF"/>
                          </a:solidFill>
                          <a:latin typeface="Arial"/>
                        </a:rPr>
                        <a:t>Time</a:t>
                      </a:r>
                    </a:p>
                  </a:txBody>
                  <a:tcPr marT="36576" marB="36576" anchor="ctr">
                    <a:solidFill>
                      <a:srgbClr val="8496B0"/>
                    </a:solidFill>
                  </a:tcPr>
                </a:tc>
                <a:tc>
                  <a:txBody>
                    <a:bodyPr/>
                    <a:lstStyle/>
                    <a:p>
                      <a:pPr algn="l">
                        <a:spcAft>
                          <a:spcPts val="0"/>
                        </a:spcAft>
                      </a:pPr>
                      <a:r>
                        <a:rPr sz="1050" b="1" i="0">
                          <a:solidFill>
                            <a:srgbClr val="FFFFFF"/>
                          </a:solidFill>
                          <a:latin typeface="Arial"/>
                        </a:rPr>
                        <a:t>User</a:t>
                      </a:r>
                    </a:p>
                  </a:txBody>
                  <a:tcPr marT="36576" marB="36576" anchor="ctr">
                    <a:solidFill>
                      <a:srgbClr val="8496B0"/>
                    </a:solidFill>
                  </a:tcPr>
                </a:tc>
                <a:tc>
                  <a:txBody>
                    <a:bodyPr/>
                    <a:lstStyle/>
                    <a:p>
                      <a:pPr algn="l">
                        <a:spcAft>
                          <a:spcPts val="0"/>
                        </a:spcAft>
                      </a:pPr>
                      <a:r>
                        <a:rPr sz="1050" b="1" i="0">
                          <a:solidFill>
                            <a:srgbClr val="FFFFFF"/>
                          </a:solidFill>
                          <a:latin typeface="Arial"/>
                        </a:rPr>
                        <a:t>Action</a:t>
                      </a:r>
                    </a:p>
                  </a:txBody>
                  <a:tcPr marT="36576" marB="36576" anchor="ctr">
                    <a:solidFill>
                      <a:srgbClr val="8496B0"/>
                    </a:solidFill>
                  </a:tcPr>
                </a:tc>
                <a:tc>
                  <a:txBody>
                    <a:bodyPr/>
                    <a:lstStyle/>
                    <a:p>
                      <a:pPr algn="l">
                        <a:spcAft>
                          <a:spcPts val="0"/>
                        </a:spcAft>
                      </a:pPr>
                      <a:r>
                        <a:rPr sz="1050" b="1" i="0">
                          <a:solidFill>
                            <a:srgbClr val="FFFFFF"/>
                          </a:solidFill>
                          <a:latin typeface="Arial"/>
                        </a:rPr>
                        <a:t>Changes</a:t>
                      </a:r>
                    </a:p>
                  </a:txBody>
                  <a:tcPr marT="36576" marB="36576" anchor="ctr">
                    <a:solidFill>
                      <a:srgbClr val="8496B0"/>
                    </a:solidFill>
                  </a:tcPr>
                </a:tc>
                <a:extLst>
                  <a:ext uri="{0D108BD9-81ED-4DB2-BD59-A6C34878D82A}">
                    <a16:rowId xmlns:a16="http://schemas.microsoft.com/office/drawing/2014/main" val="10000"/>
                  </a:ext>
                </a:extLst>
              </a:tr>
              <a:tr h="457200">
                <a:tc>
                  <a:txBody>
                    <a:bodyPr/>
                    <a:lstStyle/>
                    <a:p>
                      <a:pPr algn="l">
                        <a:spcAft>
                          <a:spcPts val="0"/>
                        </a:spcAft>
                      </a:pPr>
                      <a:r>
                        <a:rPr sz="1050" b="0" i="0">
                          <a:solidFill>
                            <a:srgbClr val="222222"/>
                          </a:solidFill>
                          <a:latin typeface="Arial"/>
                        </a:rPr>
                        <a:t>2026-11-03 09:12</a:t>
                      </a:r>
                    </a:p>
                  </a:txBody>
                  <a:tcPr marT="36576" marB="36576" anchor="ctr">
                    <a:solidFill>
                      <a:srgbClr val="FFFFFF"/>
                    </a:solidFill>
                  </a:tcPr>
                </a:tc>
                <a:tc>
                  <a:txBody>
                    <a:bodyPr/>
                    <a:lstStyle/>
                    <a:p>
                      <a:pPr algn="l">
                        <a:spcAft>
                          <a:spcPts val="0"/>
                        </a:spcAft>
                      </a:pPr>
                      <a:r>
                        <a:rPr sz="1050" b="0" i="0">
                          <a:solidFill>
                            <a:srgbClr val="222222"/>
                          </a:solidFill>
                          <a:latin typeface="Arial"/>
                        </a:rPr>
                        <a:t>site_mbr1</a:t>
                      </a:r>
                    </a:p>
                  </a:txBody>
                  <a:tcPr marT="36576" marB="36576" anchor="ctr">
                    <a:solidFill>
                      <a:srgbClr val="FFFFFF"/>
                    </a:solidFill>
                  </a:tcPr>
                </a:tc>
                <a:tc>
                  <a:txBody>
                    <a:bodyPr/>
                    <a:lstStyle/>
                    <a:p>
                      <a:pPr algn="l">
                        <a:spcAft>
                          <a:spcPts val="0"/>
                        </a:spcAft>
                      </a:pPr>
                      <a:r>
                        <a:rPr sz="1050" b="0" i="0">
                          <a:solidFill>
                            <a:srgbClr val="222222"/>
                          </a:solidFill>
                          <a:latin typeface="Arial"/>
                        </a:rPr>
                        <a:t>Update record TB-304</a:t>
                      </a:r>
                    </a:p>
                  </a:txBody>
                  <a:tcPr marT="36576" marB="36576" anchor="ctr">
                    <a:solidFill>
                      <a:srgbClr val="FFFFFF"/>
                    </a:solidFill>
                  </a:tcPr>
                </a:tc>
                <a:tc>
                  <a:txBody>
                    <a:bodyPr/>
                    <a:lstStyle/>
                    <a:p>
                      <a:pPr algn="l">
                        <a:spcAft>
                          <a:spcPts val="0"/>
                        </a:spcAft>
                      </a:pPr>
                      <a:r>
                        <a:rPr sz="1050" b="0" i="0">
                          <a:solidFill>
                            <a:srgbClr val="222222"/>
                          </a:solidFill>
                          <a:latin typeface="Arial"/>
                        </a:rPr>
                        <a:t>weight_kg = '615'</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050" b="0" i="0">
                          <a:solidFill>
                            <a:srgbClr val="222222"/>
                          </a:solidFill>
                          <a:latin typeface="Arial"/>
                        </a:rPr>
                        <a:t>2026-11-03 14:40</a:t>
                      </a:r>
                    </a:p>
                  </a:txBody>
                  <a:tcPr marT="36576" marB="36576" anchor="ctr">
                    <a:solidFill>
                      <a:srgbClr val="F2F4F6"/>
                    </a:solidFill>
                  </a:tcPr>
                </a:tc>
                <a:tc>
                  <a:txBody>
                    <a:bodyPr/>
                    <a:lstStyle/>
                    <a:p>
                      <a:pPr algn="l">
                        <a:spcAft>
                          <a:spcPts val="0"/>
                        </a:spcAft>
                      </a:pPr>
                      <a:r>
                        <a:rPr sz="1050" b="0" i="0">
                          <a:solidFill>
                            <a:srgbClr val="222222"/>
                          </a:solidFill>
                          <a:latin typeface="Arial"/>
                        </a:rPr>
                        <a:t>dm_tbcare</a:t>
                      </a:r>
                    </a:p>
                  </a:txBody>
                  <a:tcPr marT="36576" marB="36576" anchor="ctr">
                    <a:solidFill>
                      <a:srgbClr val="F2F4F6"/>
                    </a:solidFill>
                  </a:tcPr>
                </a:tc>
                <a:tc>
                  <a:txBody>
                    <a:bodyPr/>
                    <a:lstStyle/>
                    <a:p>
                      <a:pPr algn="l">
                        <a:spcAft>
                          <a:spcPts val="0"/>
                        </a:spcAft>
                      </a:pPr>
                      <a:r>
                        <a:rPr sz="1050" b="0" i="0">
                          <a:solidFill>
                            <a:srgbClr val="222222"/>
                          </a:solidFill>
                          <a:latin typeface="Arial"/>
                        </a:rPr>
                        <a:t>Open query TB-304</a:t>
                      </a:r>
                    </a:p>
                  </a:txBody>
                  <a:tcPr marT="36576" marB="36576" anchor="ctr">
                    <a:solidFill>
                      <a:srgbClr val="F2F4F6"/>
                    </a:solidFill>
                  </a:tcPr>
                </a:tc>
                <a:tc>
                  <a:txBody>
                    <a:bodyPr/>
                    <a:lstStyle/>
                    <a:p>
                      <a:pPr algn="l">
                        <a:spcAft>
                          <a:spcPts val="0"/>
                        </a:spcAft>
                      </a:pPr>
                      <a:r>
                        <a:rPr sz="1050" b="0" i="0">
                          <a:solidFill>
                            <a:srgbClr val="222222"/>
                          </a:solidFill>
                          <a:latin typeface="Arial"/>
                        </a:rPr>
                        <a:t>“Weight 615 kg?”</a:t>
                      </a:r>
                    </a:p>
                  </a:txBody>
                  <a:tcPr marT="36576" marB="36576" anchor="ctr">
                    <a:solidFill>
                      <a:srgbClr val="F2F4F6"/>
                    </a:solidFill>
                  </a:tcPr>
                </a:tc>
                <a:extLst>
                  <a:ext uri="{0D108BD9-81ED-4DB2-BD59-A6C34878D82A}">
                    <a16:rowId xmlns:a16="http://schemas.microsoft.com/office/drawing/2014/main" val="10002"/>
                  </a:ext>
                </a:extLst>
              </a:tr>
              <a:tr h="457200">
                <a:tc>
                  <a:txBody>
                    <a:bodyPr/>
                    <a:lstStyle/>
                    <a:p>
                      <a:pPr algn="l">
                        <a:spcAft>
                          <a:spcPts val="0"/>
                        </a:spcAft>
                      </a:pPr>
                      <a:r>
                        <a:rPr sz="1050" b="0" i="0">
                          <a:solidFill>
                            <a:srgbClr val="222222"/>
                          </a:solidFill>
                          <a:latin typeface="Arial"/>
                        </a:rPr>
                        <a:t>2026-11-04 08:05</a:t>
                      </a:r>
                    </a:p>
                  </a:txBody>
                  <a:tcPr marT="36576" marB="36576" anchor="ctr">
                    <a:solidFill>
                      <a:srgbClr val="FFFFFF"/>
                    </a:solidFill>
                  </a:tcPr>
                </a:tc>
                <a:tc>
                  <a:txBody>
                    <a:bodyPr/>
                    <a:lstStyle/>
                    <a:p>
                      <a:pPr algn="l">
                        <a:spcAft>
                          <a:spcPts val="0"/>
                        </a:spcAft>
                      </a:pPr>
                      <a:r>
                        <a:rPr sz="1050" b="0" i="0">
                          <a:solidFill>
                            <a:srgbClr val="222222"/>
                          </a:solidFill>
                          <a:latin typeface="Arial"/>
                        </a:rPr>
                        <a:t>site_mbr1</a:t>
                      </a:r>
                    </a:p>
                  </a:txBody>
                  <a:tcPr marT="36576" marB="36576" anchor="ctr">
                    <a:solidFill>
                      <a:srgbClr val="FFFFFF"/>
                    </a:solidFill>
                  </a:tcPr>
                </a:tc>
                <a:tc>
                  <a:txBody>
                    <a:bodyPr/>
                    <a:lstStyle/>
                    <a:p>
                      <a:pPr algn="l">
                        <a:spcAft>
                          <a:spcPts val="0"/>
                        </a:spcAft>
                      </a:pPr>
                      <a:r>
                        <a:rPr sz="1050" b="0" i="0">
                          <a:solidFill>
                            <a:srgbClr val="222222"/>
                          </a:solidFill>
                          <a:latin typeface="Arial"/>
                        </a:rPr>
                        <a:t>Update record TB-304</a:t>
                      </a:r>
                    </a:p>
                  </a:txBody>
                  <a:tcPr marT="36576" marB="36576" anchor="ctr">
                    <a:solidFill>
                      <a:srgbClr val="FFFFFF"/>
                    </a:solidFill>
                  </a:tcPr>
                </a:tc>
                <a:tc>
                  <a:txBody>
                    <a:bodyPr/>
                    <a:lstStyle/>
                    <a:p>
                      <a:pPr algn="l">
                        <a:spcAft>
                          <a:spcPts val="0"/>
                        </a:spcAft>
                      </a:pPr>
                      <a:r>
                        <a:rPr sz="1050" b="0" i="0">
                          <a:solidFill>
                            <a:srgbClr val="222222"/>
                          </a:solidFill>
                          <a:latin typeface="Arial"/>
                        </a:rPr>
                        <a:t>weight_kg = '61.5'</a:t>
                      </a:r>
                    </a:p>
                  </a:txBody>
                  <a:tcPr marT="36576" marB="36576" anchor="ctr">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050" b="0" i="0">
                          <a:solidFill>
                            <a:srgbClr val="222222"/>
                          </a:solidFill>
                          <a:latin typeface="Arial"/>
                        </a:rPr>
                        <a:t>2026-11-05 10:30</a:t>
                      </a:r>
                    </a:p>
                  </a:txBody>
                  <a:tcPr marT="36576" marB="36576" anchor="ctr">
                    <a:solidFill>
                      <a:srgbClr val="F2F4F6"/>
                    </a:solidFill>
                  </a:tcPr>
                </a:tc>
                <a:tc>
                  <a:txBody>
                    <a:bodyPr/>
                    <a:lstStyle/>
                    <a:p>
                      <a:pPr algn="l">
                        <a:spcAft>
                          <a:spcPts val="0"/>
                        </a:spcAft>
                      </a:pPr>
                      <a:r>
                        <a:rPr sz="1050" b="0" i="0">
                          <a:solidFill>
                            <a:srgbClr val="222222"/>
                          </a:solidFill>
                          <a:latin typeface="Arial"/>
                        </a:rPr>
                        <a:t>stat_ua</a:t>
                      </a:r>
                    </a:p>
                  </a:txBody>
                  <a:tcPr marT="36576" marB="36576" anchor="ctr">
                    <a:solidFill>
                      <a:srgbClr val="F2F4F6"/>
                    </a:solidFill>
                  </a:tcPr>
                </a:tc>
                <a:tc>
                  <a:txBody>
                    <a:bodyPr/>
                    <a:lstStyle/>
                    <a:p>
                      <a:pPr algn="l">
                        <a:spcAft>
                          <a:spcPts val="0"/>
                        </a:spcAft>
                      </a:pPr>
                      <a:r>
                        <a:rPr sz="1050" b="0" i="0">
                          <a:solidFill>
                            <a:srgbClr val="222222"/>
                          </a:solidFill>
                          <a:latin typeface="Arial"/>
                        </a:rPr>
                        <a:t>Data export</a:t>
                      </a:r>
                    </a:p>
                  </a:txBody>
                  <a:tcPr marT="36576" marB="36576" anchor="ctr">
                    <a:solidFill>
                      <a:srgbClr val="F2F4F6"/>
                    </a:solidFill>
                  </a:tcPr>
                </a:tc>
                <a:tc>
                  <a:txBody>
                    <a:bodyPr/>
                    <a:lstStyle/>
                    <a:p>
                      <a:pPr algn="l">
                        <a:spcAft>
                          <a:spcPts val="0"/>
                        </a:spcAft>
                      </a:pPr>
                      <a:r>
                        <a:rPr sz="1050" b="0" i="0">
                          <a:solidFill>
                            <a:srgbClr val="222222"/>
                          </a:solidFill>
                          <a:latin typeface="Arial"/>
                        </a:rPr>
                        <a:t>de-identified, CSV</a:t>
                      </a:r>
                    </a:p>
                  </a:txBody>
                  <a:tcPr marT="36576" marB="36576" anchor="ctr">
                    <a:solidFill>
                      <a:srgbClr val="F2F4F6"/>
                    </a:solidFill>
                  </a:tcPr>
                </a:tc>
                <a:extLst>
                  <a:ext uri="{0D108BD9-81ED-4DB2-BD59-A6C34878D82A}">
                    <a16:rowId xmlns:a16="http://schemas.microsoft.com/office/drawing/2014/main" val="10004"/>
                  </a:ext>
                </a:extLst>
              </a:tr>
            </a:tbl>
          </a:graphicData>
        </a:graphic>
      </p:graphicFrame>
      <p:pic>
        <p:nvPicPr>
          <p:cNvPr id="13" name="Picture 12" descr="E77B_1E88C8.png"/>
          <p:cNvPicPr>
            <a:picLocks noChangeAspect="1"/>
          </p:cNvPicPr>
          <p:nvPr/>
        </p:nvPicPr>
        <p:blipFill>
          <a:blip r:embed="rId3"/>
          <a:stretch>
            <a:fillRect/>
          </a:stretch>
        </p:blipFill>
        <p:spPr>
          <a:xfrm>
            <a:off x="8595360" y="1554480"/>
            <a:ext cx="411480" cy="411480"/>
          </a:xfrm>
          <a:prstGeom prst="rect">
            <a:avLst/>
          </a:prstGeom>
        </p:spPr>
      </p:pic>
      <p:sp>
        <p:nvSpPr>
          <p:cNvPr id="14" name="TextBox 13"/>
          <p:cNvSpPr txBox="1"/>
          <p:nvPr/>
        </p:nvSpPr>
        <p:spPr>
          <a:xfrm>
            <a:off x="9189719" y="1572768"/>
            <a:ext cx="2450591" cy="731520"/>
          </a:xfrm>
          <a:prstGeom prst="rect">
            <a:avLst/>
          </a:prstGeom>
          <a:noFill/>
        </p:spPr>
        <p:txBody>
          <a:bodyPr wrap="square" lIns="0" tIns="0" rIns="0" bIns="0" anchor="t"/>
          <a:lstStyle/>
          <a:p>
            <a:pPr algn="l">
              <a:spcAft>
                <a:spcPts val="600"/>
              </a:spcAft>
            </a:pPr>
            <a:r>
              <a:rPr sz="1600" b="1" i="0">
                <a:solidFill>
                  <a:srgbClr val="222222"/>
                </a:solidFill>
                <a:latin typeface="Arial"/>
              </a:rPr>
              <a:t>Who</a:t>
            </a:r>
          </a:p>
        </p:txBody>
      </p:sp>
      <p:pic>
        <p:nvPicPr>
          <p:cNvPr id="15" name="Picture 14" descr="E81C_1E88C8.png"/>
          <p:cNvPicPr>
            <a:picLocks noChangeAspect="1"/>
          </p:cNvPicPr>
          <p:nvPr/>
        </p:nvPicPr>
        <p:blipFill>
          <a:blip r:embed="rId4"/>
          <a:stretch>
            <a:fillRect/>
          </a:stretch>
        </p:blipFill>
        <p:spPr>
          <a:xfrm>
            <a:off x="8595360" y="2286000"/>
            <a:ext cx="411480" cy="411480"/>
          </a:xfrm>
          <a:prstGeom prst="rect">
            <a:avLst/>
          </a:prstGeom>
        </p:spPr>
      </p:pic>
      <p:sp>
        <p:nvSpPr>
          <p:cNvPr id="16" name="TextBox 15"/>
          <p:cNvSpPr txBox="1"/>
          <p:nvPr/>
        </p:nvSpPr>
        <p:spPr>
          <a:xfrm>
            <a:off x="9189719" y="2304288"/>
            <a:ext cx="2450591" cy="731520"/>
          </a:xfrm>
          <a:prstGeom prst="rect">
            <a:avLst/>
          </a:prstGeom>
          <a:noFill/>
        </p:spPr>
        <p:txBody>
          <a:bodyPr wrap="square" lIns="0" tIns="0" rIns="0" bIns="0" anchor="t"/>
          <a:lstStyle/>
          <a:p>
            <a:pPr algn="l">
              <a:spcAft>
                <a:spcPts val="600"/>
              </a:spcAft>
            </a:pPr>
            <a:r>
              <a:rPr sz="1600" b="1" i="0">
                <a:solidFill>
                  <a:srgbClr val="222222"/>
                </a:solidFill>
                <a:latin typeface="Arial"/>
              </a:rPr>
              <a:t>When</a:t>
            </a:r>
          </a:p>
        </p:txBody>
      </p:sp>
      <p:pic>
        <p:nvPicPr>
          <p:cNvPr id="17" name="Picture 16" descr="E70F_1E88C8.png"/>
          <p:cNvPicPr>
            <a:picLocks noChangeAspect="1"/>
          </p:cNvPicPr>
          <p:nvPr/>
        </p:nvPicPr>
        <p:blipFill>
          <a:blip r:embed="rId5"/>
          <a:stretch>
            <a:fillRect/>
          </a:stretch>
        </p:blipFill>
        <p:spPr>
          <a:xfrm>
            <a:off x="8595360" y="3017520"/>
            <a:ext cx="411480" cy="411480"/>
          </a:xfrm>
          <a:prstGeom prst="rect">
            <a:avLst/>
          </a:prstGeom>
        </p:spPr>
      </p:pic>
      <p:sp>
        <p:nvSpPr>
          <p:cNvPr id="18" name="TextBox 17"/>
          <p:cNvSpPr txBox="1"/>
          <p:nvPr/>
        </p:nvSpPr>
        <p:spPr>
          <a:xfrm>
            <a:off x="9189719" y="3035808"/>
            <a:ext cx="2450591" cy="731520"/>
          </a:xfrm>
          <a:prstGeom prst="rect">
            <a:avLst/>
          </a:prstGeom>
          <a:noFill/>
        </p:spPr>
        <p:txBody>
          <a:bodyPr wrap="square" lIns="0" tIns="0" rIns="0" bIns="0" anchor="t"/>
          <a:lstStyle/>
          <a:p>
            <a:pPr algn="l">
              <a:spcAft>
                <a:spcPts val="600"/>
              </a:spcAft>
            </a:pPr>
            <a:r>
              <a:rPr sz="1600" b="1" i="0">
                <a:solidFill>
                  <a:srgbClr val="222222"/>
                </a:solidFill>
                <a:latin typeface="Arial"/>
              </a:rPr>
              <a:t>What changed</a:t>
            </a:r>
          </a:p>
        </p:txBody>
      </p:sp>
      <p:pic>
        <p:nvPicPr>
          <p:cNvPr id="19" name="Picture 18" descr="E896_1E88C8.png"/>
          <p:cNvPicPr>
            <a:picLocks noChangeAspect="1"/>
          </p:cNvPicPr>
          <p:nvPr/>
        </p:nvPicPr>
        <p:blipFill>
          <a:blip r:embed="rId6"/>
          <a:stretch>
            <a:fillRect/>
          </a:stretch>
        </p:blipFill>
        <p:spPr>
          <a:xfrm>
            <a:off x="8595360" y="3749040"/>
            <a:ext cx="411480" cy="411480"/>
          </a:xfrm>
          <a:prstGeom prst="rect">
            <a:avLst/>
          </a:prstGeom>
        </p:spPr>
      </p:pic>
      <p:sp>
        <p:nvSpPr>
          <p:cNvPr id="20" name="TextBox 19"/>
          <p:cNvSpPr txBox="1"/>
          <p:nvPr/>
        </p:nvSpPr>
        <p:spPr>
          <a:xfrm>
            <a:off x="9189719" y="3767328"/>
            <a:ext cx="2450591" cy="731520"/>
          </a:xfrm>
          <a:prstGeom prst="rect">
            <a:avLst/>
          </a:prstGeom>
          <a:noFill/>
        </p:spPr>
        <p:txBody>
          <a:bodyPr wrap="square" lIns="0" tIns="0" rIns="0" bIns="0" anchor="t"/>
          <a:lstStyle/>
          <a:p>
            <a:pPr algn="l">
              <a:spcAft>
                <a:spcPts val="600"/>
              </a:spcAft>
            </a:pPr>
            <a:r>
              <a:rPr sz="1600" b="1" i="0">
                <a:solidFill>
                  <a:srgbClr val="222222"/>
                </a:solidFill>
                <a:latin typeface="Arial"/>
              </a:rPr>
              <a:t>Exports too</a:t>
            </a:r>
          </a:p>
        </p:txBody>
      </p:sp>
      <p:sp>
        <p:nvSpPr>
          <p:cNvPr id="21" name="Rectangle 20"/>
          <p:cNvSpPr/>
          <p:nvPr/>
        </p:nvSpPr>
        <p:spPr>
          <a:xfrm>
            <a:off x="548640" y="512064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12064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81C_1E88C8.png"/>
          <p:cNvPicPr>
            <a:picLocks noChangeAspect="1"/>
          </p:cNvPicPr>
          <p:nvPr/>
        </p:nvPicPr>
        <p:blipFill>
          <a:blip r:embed="rId4"/>
          <a:stretch>
            <a:fillRect/>
          </a:stretch>
        </p:blipFill>
        <p:spPr>
          <a:xfrm>
            <a:off x="777240" y="5212079"/>
            <a:ext cx="365760" cy="365760"/>
          </a:xfrm>
          <a:prstGeom prst="rect">
            <a:avLst/>
          </a:prstGeom>
        </p:spPr>
      </p:pic>
      <p:sp>
        <p:nvSpPr>
          <p:cNvPr id="24" name="TextBox 23"/>
          <p:cNvSpPr txBox="1"/>
          <p:nvPr/>
        </p:nvSpPr>
        <p:spPr>
          <a:xfrm>
            <a:off x="1280160" y="512064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Logging is your </a:t>
            </a:r>
            <a:r>
              <a:rPr sz="1500" b="1" i="0">
                <a:solidFill>
                  <a:srgbClr val="1E88C8"/>
                </a:solidFill>
                <a:latin typeface="Arial"/>
              </a:rPr>
              <a:t>audit trail</a:t>
            </a:r>
            <a:r>
              <a:rPr sz="1500" b="0" i="0">
                <a:solidFill>
                  <a:srgbClr val="222222"/>
                </a:solidFill>
                <a:latin typeface="Arial"/>
              </a:rPr>
              <a:t>: name it in DMP section 2.</a:t>
            </a:r>
          </a:p>
        </p:txBody>
      </p:sp>
      <p:sp>
        <p:nvSpPr>
          <p:cNvPr id="25" name="TextBox 24"/>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TB: tuberculosis   ·   CSV: comma-separated values   ·   DMP: Data Management Plan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Reports and de-identified exports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42</a:t>
            </a:r>
          </a:p>
        </p:txBody>
      </p:sp>
      <p:pic>
        <p:nvPicPr>
          <p:cNvPr id="8" name="Picture 7" descr="E768_1E88C8.png"/>
          <p:cNvPicPr>
            <a:picLocks noChangeAspect="1"/>
          </p:cNvPicPr>
          <p:nvPr/>
        </p:nvPicPr>
        <p:blipFill>
          <a:blip r:embed="rId3"/>
          <a:stretch>
            <a:fillRect/>
          </a:stretch>
        </p:blipFill>
        <p:spPr>
          <a:xfrm>
            <a:off x="8183879" y="6144768"/>
            <a:ext cx="274320" cy="274320"/>
          </a:xfrm>
          <a:prstGeom prst="rect">
            <a:avLst/>
          </a:prstGeom>
        </p:spPr>
      </p:pic>
      <p:sp>
        <p:nvSpPr>
          <p:cNvPr id="9" name="TextBox 8"/>
          <p:cNvSpPr txBox="1"/>
          <p:nvPr/>
        </p:nvSpPr>
        <p:spPr>
          <a:xfrm>
            <a:off x="8503920" y="6053328"/>
            <a:ext cx="3136392" cy="457200"/>
          </a:xfrm>
          <a:prstGeom prst="rect">
            <a:avLst/>
          </a:prstGeom>
          <a:noFill/>
        </p:spPr>
        <p:txBody>
          <a:bodyPr wrap="square" lIns="0" tIns="0" rIns="0" bIns="0" anchor="b"/>
          <a:lstStyle/>
          <a:p>
            <a:pPr algn="l">
              <a:spcAft>
                <a:spcPts val="0"/>
              </a:spcAft>
            </a:pPr>
            <a:r>
              <a:rPr sz="800" b="1" i="0">
                <a:solidFill>
                  <a:srgbClr val="1E88C8"/>
                </a:solidFill>
                <a:latin typeface="Arial"/>
              </a:rPr>
              <a:t>WATCH</a:t>
            </a:r>
          </a:p>
          <a:p>
            <a:pPr algn="l">
              <a:spcAft>
                <a:spcPts val="600"/>
              </a:spcAft>
            </a:pPr>
            <a:r>
              <a:rPr sz="900" b="0" i="0">
                <a:solidFill>
                  <a:srgbClr val="1E88C8"/>
                </a:solidFill>
                <a:latin typeface="Arial"/>
              </a:rPr>
              <a:t>Applications overview (16 min)</a:t>
            </a:r>
          </a:p>
        </p:txBody>
      </p:sp>
      <p:sp>
        <p:nvSpPr>
          <p:cNvPr id="10" name="TextBox 9"/>
          <p:cNvSpPr txBox="1"/>
          <p:nvPr/>
        </p:nvSpPr>
        <p:spPr>
          <a:xfrm>
            <a:off x="548640" y="1463040"/>
            <a:ext cx="5303520" cy="365760"/>
          </a:xfrm>
          <a:prstGeom prst="rect">
            <a:avLst/>
          </a:prstGeom>
          <a:noFill/>
        </p:spPr>
        <p:txBody>
          <a:bodyPr wrap="square" lIns="0" tIns="0" rIns="0" bIns="0" anchor="t"/>
          <a:lstStyle/>
          <a:p>
            <a:pPr algn="l">
              <a:spcAft>
                <a:spcPts val="600"/>
              </a:spcAft>
            </a:pPr>
            <a:r>
              <a:rPr sz="1700" b="1" i="0">
                <a:solidFill>
                  <a:srgbClr val="41464C"/>
                </a:solidFill>
                <a:latin typeface="Arial"/>
              </a:rPr>
              <a:t>Export formats</a:t>
            </a:r>
          </a:p>
        </p:txBody>
      </p:sp>
      <p:sp>
        <p:nvSpPr>
          <p:cNvPr id="11" name="Rectangle 10"/>
          <p:cNvSpPr/>
          <p:nvPr/>
        </p:nvSpPr>
        <p:spPr>
          <a:xfrm>
            <a:off x="548640" y="192024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CSV (raw)</a:t>
            </a:r>
          </a:p>
        </p:txBody>
      </p:sp>
      <p:sp>
        <p:nvSpPr>
          <p:cNvPr id="12" name="Rectangle 11"/>
          <p:cNvSpPr/>
          <p:nvPr/>
        </p:nvSpPr>
        <p:spPr>
          <a:xfrm>
            <a:off x="1920240" y="192024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CSV (labels)</a:t>
            </a:r>
          </a:p>
        </p:txBody>
      </p:sp>
      <p:sp>
        <p:nvSpPr>
          <p:cNvPr id="13" name="Rectangle 12"/>
          <p:cNvSpPr/>
          <p:nvPr/>
        </p:nvSpPr>
        <p:spPr>
          <a:xfrm>
            <a:off x="3291840" y="192024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R</a:t>
            </a:r>
          </a:p>
        </p:txBody>
      </p:sp>
      <p:sp>
        <p:nvSpPr>
          <p:cNvPr id="14" name="Rectangle 13"/>
          <p:cNvSpPr/>
          <p:nvPr/>
        </p:nvSpPr>
        <p:spPr>
          <a:xfrm>
            <a:off x="4663440" y="192024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Stata</a:t>
            </a:r>
          </a:p>
        </p:txBody>
      </p:sp>
      <p:sp>
        <p:nvSpPr>
          <p:cNvPr id="15" name="Rectangle 14"/>
          <p:cNvSpPr/>
          <p:nvPr/>
        </p:nvSpPr>
        <p:spPr>
          <a:xfrm>
            <a:off x="548640" y="246888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SPSS</a:t>
            </a:r>
          </a:p>
        </p:txBody>
      </p:sp>
      <p:sp>
        <p:nvSpPr>
          <p:cNvPr id="16" name="Rectangle 15"/>
          <p:cNvSpPr/>
          <p:nvPr/>
        </p:nvSpPr>
        <p:spPr>
          <a:xfrm>
            <a:off x="1920240" y="246888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SAS</a:t>
            </a:r>
          </a:p>
        </p:txBody>
      </p:sp>
      <p:sp>
        <p:nvSpPr>
          <p:cNvPr id="17" name="Rectangle 16"/>
          <p:cNvSpPr/>
          <p:nvPr/>
        </p:nvSpPr>
        <p:spPr>
          <a:xfrm>
            <a:off x="3291840" y="2468880"/>
            <a:ext cx="1280160" cy="41148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100" b="1" i="0">
                <a:solidFill>
                  <a:srgbClr val="1E88C8"/>
                </a:solidFill>
                <a:latin typeface="Arial"/>
              </a:rPr>
              <a:t>CDISC ODM (XML)</a:t>
            </a:r>
          </a:p>
        </p:txBody>
      </p:sp>
      <p:sp>
        <p:nvSpPr>
          <p:cNvPr id="18" name="Rectangle 17"/>
          <p:cNvSpPr/>
          <p:nvPr/>
        </p:nvSpPr>
        <p:spPr>
          <a:xfrm>
            <a:off x="6309360" y="1417320"/>
            <a:ext cx="5330952" cy="3291840"/>
          </a:xfrm>
          <a:prstGeom prst="rect">
            <a:avLst/>
          </a:prstGeom>
          <a:solidFill>
            <a:srgbClr val="FFFFFF"/>
          </a:solidFill>
          <a:ln w="12700">
            <a:solidFill>
              <a:srgbClr val="C9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1417320"/>
            <a:ext cx="5330952" cy="329184"/>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1417320"/>
            <a:ext cx="5111496" cy="329184"/>
          </a:xfrm>
          <a:prstGeom prst="rect">
            <a:avLst/>
          </a:prstGeom>
          <a:noFill/>
        </p:spPr>
        <p:txBody>
          <a:bodyPr wrap="square" lIns="0" tIns="0" rIns="0" bIns="0" anchor="ctr"/>
          <a:lstStyle/>
          <a:p>
            <a:pPr algn="l">
              <a:spcAft>
                <a:spcPts val="600"/>
              </a:spcAft>
            </a:pPr>
            <a:r>
              <a:rPr sz="1100" b="1" i="0">
                <a:solidFill>
                  <a:srgbClr val="FFFFFF"/>
                </a:solidFill>
                <a:latin typeface="Arial"/>
              </a:rPr>
              <a:t>REDCap</a:t>
            </a:r>
          </a:p>
        </p:txBody>
      </p:sp>
      <p:sp>
        <p:nvSpPr>
          <p:cNvPr id="21" name="TextBox 20"/>
          <p:cNvSpPr txBox="1"/>
          <p:nvPr/>
        </p:nvSpPr>
        <p:spPr>
          <a:xfrm>
            <a:off x="7223760" y="1417320"/>
            <a:ext cx="4325112" cy="329184"/>
          </a:xfrm>
          <a:prstGeom prst="rect">
            <a:avLst/>
          </a:prstGeom>
          <a:noFill/>
        </p:spPr>
        <p:txBody>
          <a:bodyPr wrap="square" lIns="0" tIns="0" rIns="0" bIns="0" anchor="ctr"/>
          <a:lstStyle/>
          <a:p>
            <a:pPr algn="r">
              <a:spcAft>
                <a:spcPts val="600"/>
              </a:spcAft>
            </a:pPr>
            <a:r>
              <a:rPr sz="900" b="0" i="0">
                <a:solidFill>
                  <a:srgbClr val="F3D9DC"/>
                </a:solidFill>
                <a:latin typeface="Arial"/>
              </a:rPr>
              <a:t>Export  ·  De-identification options</a:t>
            </a:r>
          </a:p>
        </p:txBody>
      </p:sp>
      <p:sp>
        <p:nvSpPr>
          <p:cNvPr id="22" name="Rectangle 21"/>
          <p:cNvSpPr/>
          <p:nvPr/>
        </p:nvSpPr>
        <p:spPr>
          <a:xfrm>
            <a:off x="6492240" y="1984248"/>
            <a:ext cx="164592" cy="164592"/>
          </a:xfrm>
          <a:prstGeom prst="rect">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0" y="1892807"/>
            <a:ext cx="4690872" cy="347472"/>
          </a:xfrm>
          <a:prstGeom prst="rect">
            <a:avLst/>
          </a:prstGeom>
          <a:noFill/>
        </p:spPr>
        <p:txBody>
          <a:bodyPr wrap="square" lIns="0" tIns="0" rIns="0" bIns="0" anchor="ctr"/>
          <a:lstStyle/>
          <a:p>
            <a:pPr algn="l">
              <a:spcAft>
                <a:spcPts val="600"/>
              </a:spcAft>
            </a:pPr>
            <a:r>
              <a:rPr sz="1050" b="0" i="0">
                <a:solidFill>
                  <a:srgbClr val="222222"/>
                </a:solidFill>
                <a:latin typeface="Arial"/>
              </a:rPr>
              <a:t>Remove all tagged identifier fields</a:t>
            </a:r>
          </a:p>
        </p:txBody>
      </p:sp>
      <p:sp>
        <p:nvSpPr>
          <p:cNvPr id="24" name="Rectangle 23"/>
          <p:cNvSpPr/>
          <p:nvPr/>
        </p:nvSpPr>
        <p:spPr>
          <a:xfrm>
            <a:off x="6492240" y="2441448"/>
            <a:ext cx="164592" cy="164592"/>
          </a:xfrm>
          <a:prstGeom prst="rect">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66560" y="2350008"/>
            <a:ext cx="4690872" cy="347472"/>
          </a:xfrm>
          <a:prstGeom prst="rect">
            <a:avLst/>
          </a:prstGeom>
          <a:noFill/>
        </p:spPr>
        <p:txBody>
          <a:bodyPr wrap="square" lIns="0" tIns="0" rIns="0" bIns="0" anchor="ctr"/>
          <a:lstStyle/>
          <a:p>
            <a:pPr algn="l">
              <a:spcAft>
                <a:spcPts val="600"/>
              </a:spcAft>
            </a:pPr>
            <a:r>
              <a:rPr sz="1050" b="0" i="0">
                <a:solidFill>
                  <a:srgbClr val="222222"/>
                </a:solidFill>
                <a:latin typeface="Arial"/>
              </a:rPr>
              <a:t>Remove unvalidated text fields</a:t>
            </a:r>
          </a:p>
        </p:txBody>
      </p:sp>
      <p:sp>
        <p:nvSpPr>
          <p:cNvPr id="26" name="Rectangle 25"/>
          <p:cNvSpPr/>
          <p:nvPr/>
        </p:nvSpPr>
        <p:spPr>
          <a:xfrm>
            <a:off x="6492240" y="2898648"/>
            <a:ext cx="164592" cy="164592"/>
          </a:xfrm>
          <a:prstGeom prst="rect">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0" y="2807208"/>
            <a:ext cx="4690872" cy="347472"/>
          </a:xfrm>
          <a:prstGeom prst="rect">
            <a:avLst/>
          </a:prstGeom>
          <a:noFill/>
        </p:spPr>
        <p:txBody>
          <a:bodyPr wrap="square" lIns="0" tIns="0" rIns="0" bIns="0" anchor="ctr"/>
          <a:lstStyle/>
          <a:p>
            <a:pPr algn="l">
              <a:spcAft>
                <a:spcPts val="600"/>
              </a:spcAft>
            </a:pPr>
            <a:r>
              <a:rPr sz="1050" b="0" i="0">
                <a:solidFill>
                  <a:srgbClr val="222222"/>
                </a:solidFill>
                <a:latin typeface="Arial"/>
              </a:rPr>
              <a:t>Shift all dates by 0–364 days</a:t>
            </a:r>
          </a:p>
        </p:txBody>
      </p:sp>
      <p:sp>
        <p:nvSpPr>
          <p:cNvPr id="28" name="Rectangle 27"/>
          <p:cNvSpPr/>
          <p:nvPr/>
        </p:nvSpPr>
        <p:spPr>
          <a:xfrm>
            <a:off x="6492240" y="3355848"/>
            <a:ext cx="164592" cy="164592"/>
          </a:xfrm>
          <a:prstGeom prst="rect">
            <a:avLst/>
          </a:prstGeom>
          <a:solidFill>
            <a:srgbClr val="1E88C8"/>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66560" y="3264408"/>
            <a:ext cx="4690872" cy="347472"/>
          </a:xfrm>
          <a:prstGeom prst="rect">
            <a:avLst/>
          </a:prstGeom>
          <a:noFill/>
        </p:spPr>
        <p:txBody>
          <a:bodyPr wrap="square" lIns="0" tIns="0" rIns="0" bIns="0" anchor="ctr"/>
          <a:lstStyle/>
          <a:p>
            <a:pPr algn="l">
              <a:spcAft>
                <a:spcPts val="600"/>
              </a:spcAft>
            </a:pPr>
            <a:r>
              <a:rPr sz="1050" b="0" i="0">
                <a:solidFill>
                  <a:srgbClr val="222222"/>
                </a:solidFill>
                <a:latin typeface="Arial"/>
              </a:rPr>
              <a:t>Hash the record ID</a:t>
            </a:r>
          </a:p>
        </p:txBody>
      </p:sp>
      <p:sp>
        <p:nvSpPr>
          <p:cNvPr id="30" name="Rectangle 29"/>
          <p:cNvSpPr/>
          <p:nvPr/>
        </p:nvSpPr>
        <p:spPr>
          <a:xfrm>
            <a:off x="6492240" y="3813048"/>
            <a:ext cx="164592" cy="164592"/>
          </a:xfrm>
          <a:prstGeom prst="rect">
            <a:avLst/>
          </a:prstGeom>
          <a:solidFill>
            <a:srgbClr val="FFFFFF"/>
          </a:solidFill>
          <a:ln w="9525">
            <a:solidFill>
              <a:srgbClr val="626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66560" y="3721608"/>
            <a:ext cx="4690872" cy="347472"/>
          </a:xfrm>
          <a:prstGeom prst="rect">
            <a:avLst/>
          </a:prstGeom>
          <a:noFill/>
        </p:spPr>
        <p:txBody>
          <a:bodyPr wrap="square" lIns="0" tIns="0" rIns="0" bIns="0" anchor="ctr"/>
          <a:lstStyle/>
          <a:p>
            <a:pPr algn="l">
              <a:spcAft>
                <a:spcPts val="600"/>
              </a:spcAft>
            </a:pPr>
            <a:r>
              <a:rPr sz="1050" b="0" i="0">
                <a:solidFill>
                  <a:srgbClr val="222222"/>
                </a:solidFill>
                <a:latin typeface="Arial"/>
              </a:rPr>
              <a:t>Remove all dates</a:t>
            </a:r>
          </a:p>
        </p:txBody>
      </p:sp>
      <p:sp>
        <p:nvSpPr>
          <p:cNvPr id="32" name="TextBox 31"/>
          <p:cNvSpPr txBox="1"/>
          <p:nvPr/>
        </p:nvSpPr>
        <p:spPr>
          <a:xfrm>
            <a:off x="548640" y="3200400"/>
            <a:ext cx="5303520" cy="1371600"/>
          </a:xfrm>
          <a:prstGeom prst="rect">
            <a:avLst/>
          </a:prstGeom>
          <a:noFill/>
        </p:spPr>
        <p:txBody>
          <a:bodyPr wrap="square" lIns="0" tIns="0" rIns="0" bIns="0" anchor="t"/>
          <a:lstStyle/>
          <a:p>
            <a:pPr algn="l">
              <a:spcAft>
                <a:spcPts val="600"/>
              </a:spcAft>
            </a:pPr>
            <a:r>
              <a:rPr sz="1500" b="1" i="0">
                <a:solidFill>
                  <a:srgbClr val="222222"/>
                </a:solidFill>
                <a:latin typeface="Arial"/>
              </a:rPr>
              <a:t>Reports:</a:t>
            </a:r>
            <a:r>
              <a:rPr sz="1500" b="0" i="0">
                <a:solidFill>
                  <a:srgbClr val="222222"/>
                </a:solidFill>
                <a:latin typeface="Arial"/>
              </a:rPr>
              <a:t> choose fields and filters,</a:t>
            </a:r>
          </a:p>
          <a:p>
            <a:pPr algn="l">
              <a:spcAft>
                <a:spcPts val="600"/>
              </a:spcAft>
            </a:pPr>
            <a:r>
              <a:rPr sz="1500" b="0" i="0">
                <a:solidFill>
                  <a:srgbClr val="222222"/>
                </a:solidFill>
                <a:latin typeface="Arial"/>
              </a:rPr>
              <a:t>e.g., “Month 2 lab results, Mbarara only”.</a:t>
            </a:r>
          </a:p>
        </p:txBody>
      </p:sp>
      <p:sp>
        <p:nvSpPr>
          <p:cNvPr id="33" name="Rectangle 32"/>
          <p:cNvSpPr/>
          <p:nvPr/>
        </p:nvSpPr>
        <p:spPr>
          <a:xfrm>
            <a:off x="548640" y="502920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48640" y="502920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E7BA_C8102E.png"/>
          <p:cNvPicPr>
            <a:picLocks noChangeAspect="1"/>
          </p:cNvPicPr>
          <p:nvPr/>
        </p:nvPicPr>
        <p:blipFill>
          <a:blip r:embed="rId4"/>
          <a:stretch>
            <a:fillRect/>
          </a:stretch>
        </p:blipFill>
        <p:spPr>
          <a:xfrm>
            <a:off x="777240" y="5120640"/>
            <a:ext cx="365760" cy="365760"/>
          </a:xfrm>
          <a:prstGeom prst="rect">
            <a:avLst/>
          </a:prstGeom>
        </p:spPr>
      </p:pic>
      <p:sp>
        <p:nvSpPr>
          <p:cNvPr id="36" name="TextBox 35"/>
          <p:cNvSpPr txBox="1"/>
          <p:nvPr/>
        </p:nvSpPr>
        <p:spPr>
          <a:xfrm>
            <a:off x="1280160" y="502920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De-identification works only if you ticked </a:t>
            </a:r>
            <a:r>
              <a:rPr sz="1500" b="1" i="0">
                <a:solidFill>
                  <a:srgbClr val="C8102E"/>
                </a:solidFill>
                <a:latin typeface="Arial"/>
              </a:rPr>
              <a:t>Identifier</a:t>
            </a:r>
            <a:r>
              <a:rPr sz="1500" b="0" i="0">
                <a:solidFill>
                  <a:srgbClr val="222222"/>
                </a:solidFill>
                <a:latin typeface="Arial"/>
              </a:rPr>
              <a:t> when building.</a:t>
            </a:r>
          </a:p>
        </p:txBody>
      </p:sp>
      <p:sp>
        <p:nvSpPr>
          <p:cNvPr id="37" name="TextBox 36"/>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CSV: comma-separated values   ·   SPSS: Statistical Package for the Social Sciences   ·   SAS: Statistical Analysis System   ·   CDISC: Clinical Data Interchange Standards Consortium   ·   ODM: Operational Data Model   ·   XML: Extensible Markup Language   ·   REDCap: Research Electronic Data Capture   ·   ID: identifier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The API: reproducible data pipelines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43</a:t>
            </a:r>
          </a:p>
        </p:txBody>
      </p:sp>
      <p:sp>
        <p:nvSpPr>
          <p:cNvPr id="8" name="Rectangle 7"/>
          <p:cNvSpPr/>
          <p:nvPr/>
        </p:nvSpPr>
        <p:spPr>
          <a:xfrm>
            <a:off x="548640" y="1463040"/>
            <a:ext cx="6766560" cy="301752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72768"/>
            <a:ext cx="6400800" cy="274320"/>
          </a:xfrm>
          <a:prstGeom prst="rect">
            <a:avLst/>
          </a:prstGeom>
          <a:noFill/>
        </p:spPr>
        <p:txBody>
          <a:bodyPr wrap="square" lIns="0" tIns="0" rIns="0" bIns="0" anchor="t"/>
          <a:lstStyle/>
          <a:p>
            <a:pPr algn="l">
              <a:spcAft>
                <a:spcPts val="600"/>
              </a:spcAft>
            </a:pPr>
            <a:r>
              <a:rPr sz="1000" b="1" i="0">
                <a:solidFill>
                  <a:srgbClr val="8FA0C0"/>
                </a:solidFill>
                <a:latin typeface="Arial"/>
              </a:rPr>
              <a:t>R  ·  REDCapR</a:t>
            </a:r>
          </a:p>
        </p:txBody>
      </p:sp>
      <p:sp>
        <p:nvSpPr>
          <p:cNvPr id="10" name="TextBox 9"/>
          <p:cNvSpPr txBox="1"/>
          <p:nvPr/>
        </p:nvSpPr>
        <p:spPr>
          <a:xfrm>
            <a:off x="777240" y="1920240"/>
            <a:ext cx="6400800" cy="2468880"/>
          </a:xfrm>
          <a:prstGeom prst="rect">
            <a:avLst/>
          </a:prstGeom>
          <a:noFill/>
        </p:spPr>
        <p:txBody>
          <a:bodyPr wrap="square" lIns="0" tIns="0" rIns="0" bIns="0" anchor="t"/>
          <a:lstStyle/>
          <a:p>
            <a:pPr algn="l">
              <a:spcAft>
                <a:spcPts val="100"/>
              </a:spcAft>
            </a:pPr>
            <a:r>
              <a:rPr sz="1300" b="0" i="0">
                <a:solidFill>
                  <a:srgbClr val="E6EAF2"/>
                </a:solidFill>
                <a:latin typeface="Consolas"/>
              </a:rPr>
              <a:t>library(REDCapR)</a:t>
            </a:r>
          </a:p>
          <a:p>
            <a:pPr algn="l">
              <a:spcAft>
                <a:spcPts val="100"/>
              </a:spcAft>
            </a:pPr>
            <a:endParaRPr sz="1300" b="0" i="0">
              <a:solidFill>
                <a:srgbClr val="E6EAF2"/>
              </a:solidFill>
              <a:latin typeface="Consolas"/>
            </a:endParaRPr>
          </a:p>
          <a:p>
            <a:pPr algn="l">
              <a:spcAft>
                <a:spcPts val="100"/>
              </a:spcAft>
            </a:pPr>
            <a:r>
              <a:rPr sz="1300" b="0" i="0">
                <a:solidFill>
                  <a:srgbClr val="E6EAF2"/>
                </a:solidFill>
                <a:latin typeface="Consolas"/>
              </a:rPr>
              <a:t>tb &lt;- redcap_read_oneshot(</a:t>
            </a:r>
          </a:p>
          <a:p>
            <a:pPr algn="l">
              <a:spcAft>
                <a:spcPts val="100"/>
              </a:spcAft>
            </a:pPr>
            <a:r>
              <a:rPr sz="1300" b="0" i="0">
                <a:solidFill>
                  <a:srgbClr val="E6EAF2"/>
                </a:solidFill>
                <a:latin typeface="Consolas"/>
              </a:rPr>
              <a:t>  redcap_uri = "https://redcap.uantwerpen.be/api/",</a:t>
            </a:r>
          </a:p>
          <a:p>
            <a:pPr algn="l">
              <a:spcAft>
                <a:spcPts val="100"/>
              </a:spcAft>
            </a:pPr>
            <a:r>
              <a:rPr sz="1300" b="0" i="0">
                <a:solidFill>
                  <a:srgbClr val="E6EAF2"/>
                </a:solidFill>
                <a:latin typeface="Consolas"/>
              </a:rPr>
              <a:t>  token      = Sys.getenv("REDCAP_TOKEN")</a:t>
            </a:r>
          </a:p>
          <a:p>
            <a:pPr algn="l">
              <a:spcAft>
                <a:spcPts val="100"/>
              </a:spcAft>
            </a:pPr>
            <a:r>
              <a:rPr sz="1300" b="0" i="0">
                <a:solidFill>
                  <a:srgbClr val="E6EAF2"/>
                </a:solidFill>
                <a:latin typeface="Consolas"/>
              </a:rPr>
              <a:t>)$data</a:t>
            </a:r>
          </a:p>
        </p:txBody>
      </p:sp>
      <p:sp>
        <p:nvSpPr>
          <p:cNvPr id="11" name="Rectangle 10"/>
          <p:cNvSpPr/>
          <p:nvPr/>
        </p:nvSpPr>
        <p:spPr>
          <a:xfrm>
            <a:off x="7680960" y="1463040"/>
            <a:ext cx="3959352"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E8D7_FFFFFF.png"/>
          <p:cNvPicPr>
            <a:picLocks noChangeAspect="1"/>
          </p:cNvPicPr>
          <p:nvPr/>
        </p:nvPicPr>
        <p:blipFill>
          <a:blip r:embed="rId3"/>
          <a:stretch>
            <a:fillRect/>
          </a:stretch>
        </p:blipFill>
        <p:spPr>
          <a:xfrm>
            <a:off x="7790688" y="1527048"/>
            <a:ext cx="329184" cy="329184"/>
          </a:xfrm>
          <a:prstGeom prst="rect">
            <a:avLst/>
          </a:prstGeom>
        </p:spPr>
      </p:pic>
      <p:sp>
        <p:nvSpPr>
          <p:cNvPr id="13" name="TextBox 12"/>
          <p:cNvSpPr txBox="1"/>
          <p:nvPr/>
        </p:nvSpPr>
        <p:spPr>
          <a:xfrm>
            <a:off x="8229600" y="1463040"/>
            <a:ext cx="3319272" cy="457200"/>
          </a:xfrm>
          <a:prstGeom prst="rect">
            <a:avLst/>
          </a:prstGeom>
          <a:noFill/>
        </p:spPr>
        <p:txBody>
          <a:bodyPr wrap="square" lIns="0" tIns="0" rIns="0" bIns="0" anchor="ctr"/>
          <a:lstStyle/>
          <a:p>
            <a:pPr algn="l">
              <a:spcAft>
                <a:spcPts val="600"/>
              </a:spcAft>
            </a:pPr>
            <a:r>
              <a:rPr sz="1500" b="1" i="0">
                <a:solidFill>
                  <a:srgbClr val="FFFFFF"/>
                </a:solidFill>
                <a:latin typeface="Arial"/>
              </a:rPr>
              <a:t>API token = password</a:t>
            </a:r>
          </a:p>
        </p:txBody>
      </p:sp>
      <p:sp>
        <p:nvSpPr>
          <p:cNvPr id="14" name="Rectangle 13"/>
          <p:cNvSpPr/>
          <p:nvPr/>
        </p:nvSpPr>
        <p:spPr>
          <a:xfrm>
            <a:off x="7680960" y="1920240"/>
            <a:ext cx="3959352" cy="256032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2029968"/>
            <a:ext cx="3685032" cy="2377439"/>
          </a:xfrm>
          <a:prstGeom prst="rect">
            <a:avLst/>
          </a:prstGeom>
          <a:noFill/>
        </p:spPr>
        <p:txBody>
          <a:bodyPr wrap="square" lIns="0" tIns="0" rIns="0" bIns="0" anchor="t"/>
          <a:lstStyle/>
          <a:p>
            <a:pPr algn="l">
              <a:spcAft>
                <a:spcPts val="400"/>
              </a:spcAft>
            </a:pPr>
            <a:r>
              <a:rPr sz="1500" b="0" i="0">
                <a:solidFill>
                  <a:srgbClr val="222222"/>
                </a:solidFill>
                <a:latin typeface="Arial"/>
              </a:rPr>
              <a:t>Keep it in </a:t>
            </a:r>
            <a:r>
              <a:rPr sz="1500" b="1" i="0">
                <a:solidFill>
                  <a:srgbClr val="1E88C8"/>
                </a:solidFill>
                <a:latin typeface="Arial"/>
              </a:rPr>
              <a:t>.Renviron</a:t>
            </a:r>
          </a:p>
          <a:p>
            <a:pPr algn="l">
              <a:spcAft>
                <a:spcPts val="400"/>
              </a:spcAft>
            </a:pPr>
            <a:r>
              <a:rPr sz="1500" b="1" i="0">
                <a:solidFill>
                  <a:srgbClr val="C8102E"/>
                </a:solidFill>
                <a:latin typeface="Arial"/>
              </a:rPr>
              <a:t>Never</a:t>
            </a:r>
            <a:r>
              <a:rPr sz="1500" b="0" i="0">
                <a:solidFill>
                  <a:srgbClr val="222222"/>
                </a:solidFill>
                <a:latin typeface="Arial"/>
              </a:rPr>
              <a:t> in scripts, GitHub, e-mail</a:t>
            </a:r>
          </a:p>
          <a:p>
            <a:pPr algn="l">
              <a:spcAft>
                <a:spcPts val="400"/>
              </a:spcAft>
            </a:pPr>
            <a:r>
              <a:rPr sz="1500" b="1" i="0">
                <a:solidFill>
                  <a:srgbClr val="C8102E"/>
                </a:solidFill>
                <a:latin typeface="Arial"/>
              </a:rPr>
              <a:t>Never</a:t>
            </a:r>
            <a:r>
              <a:rPr sz="1500" b="0" i="0">
                <a:solidFill>
                  <a:srgbClr val="222222"/>
                </a:solidFill>
                <a:latin typeface="Arial"/>
              </a:rPr>
              <a:t> in an AI chat</a:t>
            </a:r>
          </a:p>
          <a:p>
            <a:pPr algn="l">
              <a:spcAft>
                <a:spcPts val="400"/>
              </a:spcAft>
            </a:pPr>
            <a:r>
              <a:rPr sz="1500" b="0" i="0">
                <a:solidFill>
                  <a:srgbClr val="222222"/>
                </a:solidFill>
                <a:latin typeface="Arial"/>
              </a:rPr>
              <a:t>One token per user and project</a:t>
            </a:r>
          </a:p>
        </p:txBody>
      </p:sp>
      <p:sp>
        <p:nvSpPr>
          <p:cNvPr id="16" name="Rectangle 15"/>
          <p:cNvSpPr/>
          <p:nvPr/>
        </p:nvSpPr>
        <p:spPr>
          <a:xfrm>
            <a:off x="548640" y="484632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84632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E943_1E88C8.png"/>
          <p:cNvPicPr>
            <a:picLocks noChangeAspect="1"/>
          </p:cNvPicPr>
          <p:nvPr/>
        </p:nvPicPr>
        <p:blipFill>
          <a:blip r:embed="rId4"/>
          <a:stretch>
            <a:fillRect/>
          </a:stretch>
        </p:blipFill>
        <p:spPr>
          <a:xfrm>
            <a:off x="777240" y="4937759"/>
            <a:ext cx="365760" cy="365760"/>
          </a:xfrm>
          <a:prstGeom prst="rect">
            <a:avLst/>
          </a:prstGeom>
        </p:spPr>
      </p:pic>
      <p:sp>
        <p:nvSpPr>
          <p:cNvPr id="19" name="TextBox 18"/>
          <p:cNvSpPr txBox="1"/>
          <p:nvPr/>
        </p:nvSpPr>
        <p:spPr>
          <a:xfrm>
            <a:off x="1280160" y="48463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Python users: the </a:t>
            </a:r>
            <a:r>
              <a:rPr sz="1500" b="1" i="0">
                <a:solidFill>
                  <a:srgbClr val="1E88C8"/>
                </a:solidFill>
                <a:latin typeface="Arial"/>
              </a:rPr>
              <a:t>PyCap</a:t>
            </a:r>
            <a:r>
              <a:rPr sz="1500" b="0" i="0">
                <a:solidFill>
                  <a:srgbClr val="222222"/>
                </a:solidFill>
                <a:latin typeface="Arial"/>
              </a:rPr>
              <a:t> package does the same.</a:t>
            </a:r>
          </a:p>
        </p:txBody>
      </p:sp>
      <p:sp>
        <p:nvSpPr>
          <p:cNvPr id="20" name="TextBox 19"/>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API: application programming interface   ·   AI: artificial intelligence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Before you move to Production: checklist</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44</a:t>
            </a:r>
          </a:p>
        </p:txBody>
      </p:sp>
      <p:pic>
        <p:nvPicPr>
          <p:cNvPr id="8" name="Picture 7" descr="E73E_2E7D32.png"/>
          <p:cNvPicPr>
            <a:picLocks noChangeAspect="1"/>
          </p:cNvPicPr>
          <p:nvPr/>
        </p:nvPicPr>
        <p:blipFill>
          <a:blip r:embed="rId3"/>
          <a:stretch>
            <a:fillRect/>
          </a:stretch>
        </p:blipFill>
        <p:spPr>
          <a:xfrm>
            <a:off x="548640" y="1508760"/>
            <a:ext cx="411480" cy="411480"/>
          </a:xfrm>
          <a:prstGeom prst="rect">
            <a:avLst/>
          </a:prstGeom>
        </p:spPr>
      </p:pic>
      <p:sp>
        <p:nvSpPr>
          <p:cNvPr id="9" name="TextBox 8"/>
          <p:cNvSpPr txBox="1"/>
          <p:nvPr/>
        </p:nvSpPr>
        <p:spPr>
          <a:xfrm>
            <a:off x="1143000" y="1490472"/>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Every instrument tested with fake records</a:t>
            </a:r>
          </a:p>
        </p:txBody>
      </p:sp>
      <p:pic>
        <p:nvPicPr>
          <p:cNvPr id="10" name="Picture 9" descr="E73E_2E7D32.png"/>
          <p:cNvPicPr>
            <a:picLocks noChangeAspect="1"/>
          </p:cNvPicPr>
          <p:nvPr/>
        </p:nvPicPr>
        <p:blipFill>
          <a:blip r:embed="rId3"/>
          <a:stretch>
            <a:fillRect/>
          </a:stretch>
        </p:blipFill>
        <p:spPr>
          <a:xfrm>
            <a:off x="548640" y="2286000"/>
            <a:ext cx="411480" cy="411480"/>
          </a:xfrm>
          <a:prstGeom prst="rect">
            <a:avLst/>
          </a:prstGeom>
        </p:spPr>
      </p:pic>
      <p:sp>
        <p:nvSpPr>
          <p:cNvPr id="11" name="TextBox 10"/>
          <p:cNvSpPr txBox="1"/>
          <p:nvPr/>
        </p:nvSpPr>
        <p:spPr>
          <a:xfrm>
            <a:off x="1143000" y="2267712"/>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Every branch and calculation checked</a:t>
            </a:r>
          </a:p>
        </p:txBody>
      </p:sp>
      <p:pic>
        <p:nvPicPr>
          <p:cNvPr id="12" name="Picture 11" descr="E73E_2E7D32.png"/>
          <p:cNvPicPr>
            <a:picLocks noChangeAspect="1"/>
          </p:cNvPicPr>
          <p:nvPr/>
        </p:nvPicPr>
        <p:blipFill>
          <a:blip r:embed="rId3"/>
          <a:stretch>
            <a:fillRect/>
          </a:stretch>
        </p:blipFill>
        <p:spPr>
          <a:xfrm>
            <a:off x="548640" y="3063239"/>
            <a:ext cx="411480" cy="411480"/>
          </a:xfrm>
          <a:prstGeom prst="rect">
            <a:avLst/>
          </a:prstGeom>
        </p:spPr>
      </p:pic>
      <p:sp>
        <p:nvSpPr>
          <p:cNvPr id="13" name="TextBox 12"/>
          <p:cNvSpPr txBox="1"/>
          <p:nvPr/>
        </p:nvSpPr>
        <p:spPr>
          <a:xfrm>
            <a:off x="1143000" y="3044951"/>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Identifier flags set on personal fields</a:t>
            </a:r>
          </a:p>
        </p:txBody>
      </p:sp>
      <p:pic>
        <p:nvPicPr>
          <p:cNvPr id="14" name="Picture 13" descr="E73E_2E7D32.png"/>
          <p:cNvPicPr>
            <a:picLocks noChangeAspect="1"/>
          </p:cNvPicPr>
          <p:nvPr/>
        </p:nvPicPr>
        <p:blipFill>
          <a:blip r:embed="rId3"/>
          <a:stretch>
            <a:fillRect/>
          </a:stretch>
        </p:blipFill>
        <p:spPr>
          <a:xfrm>
            <a:off x="548640" y="3840479"/>
            <a:ext cx="411480" cy="411480"/>
          </a:xfrm>
          <a:prstGeom prst="rect">
            <a:avLst/>
          </a:prstGeom>
        </p:spPr>
      </p:pic>
      <p:sp>
        <p:nvSpPr>
          <p:cNvPr id="15" name="TextBox 14"/>
          <p:cNvSpPr txBox="1"/>
          <p:nvPr/>
        </p:nvSpPr>
        <p:spPr>
          <a:xfrm>
            <a:off x="1143000" y="3822191"/>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Validation, min and max on numbers and dates</a:t>
            </a:r>
          </a:p>
        </p:txBody>
      </p:sp>
      <p:pic>
        <p:nvPicPr>
          <p:cNvPr id="16" name="Picture 15" descr="E73E_2E7D32.png"/>
          <p:cNvPicPr>
            <a:picLocks noChangeAspect="1"/>
          </p:cNvPicPr>
          <p:nvPr/>
        </p:nvPicPr>
        <p:blipFill>
          <a:blip r:embed="rId3"/>
          <a:stretch>
            <a:fillRect/>
          </a:stretch>
        </p:blipFill>
        <p:spPr>
          <a:xfrm>
            <a:off x="6217920" y="1508760"/>
            <a:ext cx="411480" cy="411480"/>
          </a:xfrm>
          <a:prstGeom prst="rect">
            <a:avLst/>
          </a:prstGeom>
        </p:spPr>
      </p:pic>
      <p:sp>
        <p:nvSpPr>
          <p:cNvPr id="17" name="TextBox 16"/>
          <p:cNvSpPr txBox="1"/>
          <p:nvPr/>
        </p:nvSpPr>
        <p:spPr>
          <a:xfrm>
            <a:off x="6812280" y="1490472"/>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Events and instrument designation final</a:t>
            </a:r>
          </a:p>
        </p:txBody>
      </p:sp>
      <p:pic>
        <p:nvPicPr>
          <p:cNvPr id="18" name="Picture 17" descr="E73E_2E7D32.png"/>
          <p:cNvPicPr>
            <a:picLocks noChangeAspect="1"/>
          </p:cNvPicPr>
          <p:nvPr/>
        </p:nvPicPr>
        <p:blipFill>
          <a:blip r:embed="rId3"/>
          <a:stretch>
            <a:fillRect/>
          </a:stretch>
        </p:blipFill>
        <p:spPr>
          <a:xfrm>
            <a:off x="6217920" y="2286000"/>
            <a:ext cx="411480" cy="411480"/>
          </a:xfrm>
          <a:prstGeom prst="rect">
            <a:avLst/>
          </a:prstGeom>
        </p:spPr>
      </p:pic>
      <p:sp>
        <p:nvSpPr>
          <p:cNvPr id="19" name="TextBox 18"/>
          <p:cNvSpPr txBox="1"/>
          <p:nvPr/>
        </p:nvSpPr>
        <p:spPr>
          <a:xfrm>
            <a:off x="6812280" y="2267712"/>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User roles and DAGs set up</a:t>
            </a:r>
          </a:p>
        </p:txBody>
      </p:sp>
      <p:pic>
        <p:nvPicPr>
          <p:cNvPr id="20" name="Picture 19" descr="E73E_2E7D32.png"/>
          <p:cNvPicPr>
            <a:picLocks noChangeAspect="1"/>
          </p:cNvPicPr>
          <p:nvPr/>
        </p:nvPicPr>
        <p:blipFill>
          <a:blip r:embed="rId3"/>
          <a:stretch>
            <a:fillRect/>
          </a:stretch>
        </p:blipFill>
        <p:spPr>
          <a:xfrm>
            <a:off x="6217920" y="3063239"/>
            <a:ext cx="411480" cy="411480"/>
          </a:xfrm>
          <a:prstGeom prst="rect">
            <a:avLst/>
          </a:prstGeom>
        </p:spPr>
      </p:pic>
      <p:sp>
        <p:nvSpPr>
          <p:cNvPr id="21" name="TextBox 20"/>
          <p:cNvSpPr txBox="1"/>
          <p:nvPr/>
        </p:nvSpPr>
        <p:spPr>
          <a:xfrm>
            <a:off x="6812280" y="3044951"/>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Test records deleted</a:t>
            </a:r>
          </a:p>
        </p:txBody>
      </p:sp>
      <p:pic>
        <p:nvPicPr>
          <p:cNvPr id="22" name="Picture 21" descr="E73E_2E7D32.png"/>
          <p:cNvPicPr>
            <a:picLocks noChangeAspect="1"/>
          </p:cNvPicPr>
          <p:nvPr/>
        </p:nvPicPr>
        <p:blipFill>
          <a:blip r:embed="rId3"/>
          <a:stretch>
            <a:fillRect/>
          </a:stretch>
        </p:blipFill>
        <p:spPr>
          <a:xfrm>
            <a:off x="6217920" y="3840479"/>
            <a:ext cx="411480" cy="411480"/>
          </a:xfrm>
          <a:prstGeom prst="rect">
            <a:avLst/>
          </a:prstGeom>
        </p:spPr>
      </p:pic>
      <p:sp>
        <p:nvSpPr>
          <p:cNvPr id="23" name="TextBox 22"/>
          <p:cNvSpPr txBox="1"/>
          <p:nvPr/>
        </p:nvSpPr>
        <p:spPr>
          <a:xfrm>
            <a:off x="6812280" y="3822191"/>
            <a:ext cx="4937760" cy="457200"/>
          </a:xfrm>
          <a:prstGeom prst="rect">
            <a:avLst/>
          </a:prstGeom>
          <a:noFill/>
        </p:spPr>
        <p:txBody>
          <a:bodyPr wrap="square" lIns="0" tIns="0" rIns="0" bIns="0" anchor="ctr"/>
          <a:lstStyle/>
          <a:p>
            <a:pPr algn="l">
              <a:spcAft>
                <a:spcPts val="600"/>
              </a:spcAft>
            </a:pPr>
            <a:r>
              <a:rPr sz="1700" b="0" i="0">
                <a:solidFill>
                  <a:srgbClr val="222222"/>
                </a:solidFill>
                <a:latin typeface="Arial"/>
              </a:rPr>
              <a:t>DMP and data dictionary up to date</a:t>
            </a:r>
          </a:p>
        </p:txBody>
      </p:sp>
      <p:sp>
        <p:nvSpPr>
          <p:cNvPr id="24" name="Rectangle 23"/>
          <p:cNvSpPr/>
          <p:nvPr/>
        </p:nvSpPr>
        <p:spPr>
          <a:xfrm>
            <a:off x="548640" y="484632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484632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716_2E7D32.png"/>
          <p:cNvPicPr>
            <a:picLocks noChangeAspect="1"/>
          </p:cNvPicPr>
          <p:nvPr/>
        </p:nvPicPr>
        <p:blipFill>
          <a:blip r:embed="rId4"/>
          <a:stretch>
            <a:fillRect/>
          </a:stretch>
        </p:blipFill>
        <p:spPr>
          <a:xfrm>
            <a:off x="777240" y="4937759"/>
            <a:ext cx="365760" cy="365760"/>
          </a:xfrm>
          <a:prstGeom prst="rect">
            <a:avLst/>
          </a:prstGeom>
        </p:spPr>
      </p:pic>
      <p:sp>
        <p:nvSpPr>
          <p:cNvPr id="27" name="TextBox 26"/>
          <p:cNvSpPr txBox="1"/>
          <p:nvPr/>
        </p:nvSpPr>
        <p:spPr>
          <a:xfrm>
            <a:off x="1280160" y="48463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Ask a colleague who did </a:t>
            </a:r>
            <a:r>
              <a:rPr sz="1500" b="1" i="0">
                <a:solidFill>
                  <a:srgbClr val="1E88C8"/>
                </a:solidFill>
                <a:latin typeface="Arial"/>
              </a:rPr>
              <a:t>not</a:t>
            </a:r>
            <a:r>
              <a:rPr sz="1500" b="0" i="0">
                <a:solidFill>
                  <a:srgbClr val="222222"/>
                </a:solidFill>
                <a:latin typeface="Arial"/>
              </a:rPr>
              <a:t> build it to test it.</a:t>
            </a:r>
          </a:p>
        </p:txBody>
      </p:sp>
      <p:sp>
        <p:nvSpPr>
          <p:cNvPr id="28" name="TextBox 27"/>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DMP: Data Management Plan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AI tools inside REDCap (version 15)</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  ·  Topic 6 of 6: Users, exports and going live</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45</a:t>
            </a:r>
          </a:p>
        </p:txBody>
      </p:sp>
      <p:sp>
        <p:nvSpPr>
          <p:cNvPr id="8" name="Rectangle 7"/>
          <p:cNvSpPr/>
          <p:nvPr/>
        </p:nvSpPr>
        <p:spPr>
          <a:xfrm>
            <a:off x="548640"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794_FFFFFF.png"/>
          <p:cNvPicPr>
            <a:picLocks noChangeAspect="1"/>
          </p:cNvPicPr>
          <p:nvPr/>
        </p:nvPicPr>
        <p:blipFill>
          <a:blip r:embed="rId3"/>
          <a:stretch>
            <a:fillRect/>
          </a:stretch>
        </p:blipFill>
        <p:spPr>
          <a:xfrm>
            <a:off x="658368" y="1527048"/>
            <a:ext cx="329184" cy="329184"/>
          </a:xfrm>
          <a:prstGeom prst="rect">
            <a:avLst/>
          </a:prstGeom>
        </p:spPr>
      </p:pic>
      <p:sp>
        <p:nvSpPr>
          <p:cNvPr id="10" name="TextBox 9"/>
          <p:cNvSpPr txBox="1"/>
          <p:nvPr/>
        </p:nvSpPr>
        <p:spPr>
          <a:xfrm>
            <a:off x="1097280" y="1463040"/>
            <a:ext cx="2880360" cy="457200"/>
          </a:xfrm>
          <a:prstGeom prst="rect">
            <a:avLst/>
          </a:prstGeom>
          <a:noFill/>
        </p:spPr>
        <p:txBody>
          <a:bodyPr wrap="square" lIns="0" tIns="0" rIns="0" bIns="0" anchor="ctr"/>
          <a:lstStyle/>
          <a:p>
            <a:pPr algn="l">
              <a:spcAft>
                <a:spcPts val="600"/>
              </a:spcAft>
            </a:pPr>
            <a:r>
              <a:rPr sz="1700" b="1" i="0">
                <a:solidFill>
                  <a:srgbClr val="FFFFFF"/>
                </a:solidFill>
                <a:latin typeface="Arial"/>
              </a:rPr>
              <a:t>Writing Helper</a:t>
            </a:r>
          </a:p>
        </p:txBody>
      </p:sp>
      <p:sp>
        <p:nvSpPr>
          <p:cNvPr id="11" name="Rectangle 10"/>
          <p:cNvSpPr/>
          <p:nvPr/>
        </p:nvSpPr>
        <p:spPr>
          <a:xfrm>
            <a:off x="548640" y="1920240"/>
            <a:ext cx="3520440" cy="12801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029968"/>
            <a:ext cx="3246120" cy="1097280"/>
          </a:xfrm>
          <a:prstGeom prst="rect">
            <a:avLst/>
          </a:prstGeom>
          <a:noFill/>
        </p:spPr>
        <p:txBody>
          <a:bodyPr wrap="square" lIns="0" tIns="0" rIns="0" bIns="0" anchor="t"/>
          <a:lstStyle/>
          <a:p>
            <a:pPr algn="l">
              <a:spcAft>
                <a:spcPts val="400"/>
              </a:spcAft>
            </a:pPr>
            <a:r>
              <a:rPr sz="1500" b="0" i="0">
                <a:solidFill>
                  <a:srgbClr val="222222"/>
                </a:solidFill>
                <a:latin typeface="Arial"/>
              </a:rPr>
              <a:t>tone, length, reading level</a:t>
            </a:r>
          </a:p>
        </p:txBody>
      </p:sp>
      <p:sp>
        <p:nvSpPr>
          <p:cNvPr id="13" name="Rectangle 12"/>
          <p:cNvSpPr/>
          <p:nvPr/>
        </p:nvSpPr>
        <p:spPr>
          <a:xfrm>
            <a:off x="4297679"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8BD_FFFFFF.png"/>
          <p:cNvPicPr>
            <a:picLocks noChangeAspect="1"/>
          </p:cNvPicPr>
          <p:nvPr/>
        </p:nvPicPr>
        <p:blipFill>
          <a:blip r:embed="rId4"/>
          <a:stretch>
            <a:fillRect/>
          </a:stretch>
        </p:blipFill>
        <p:spPr>
          <a:xfrm>
            <a:off x="4407407" y="1527048"/>
            <a:ext cx="329184" cy="329184"/>
          </a:xfrm>
          <a:prstGeom prst="rect">
            <a:avLst/>
          </a:prstGeom>
        </p:spPr>
      </p:pic>
      <p:sp>
        <p:nvSpPr>
          <p:cNvPr id="15" name="TextBox 14"/>
          <p:cNvSpPr txBox="1"/>
          <p:nvPr/>
        </p:nvSpPr>
        <p:spPr>
          <a:xfrm>
            <a:off x="4846319" y="1463040"/>
            <a:ext cx="2880360" cy="457200"/>
          </a:xfrm>
          <a:prstGeom prst="rect">
            <a:avLst/>
          </a:prstGeom>
          <a:noFill/>
        </p:spPr>
        <p:txBody>
          <a:bodyPr wrap="square" lIns="0" tIns="0" rIns="0" bIns="0" anchor="ctr"/>
          <a:lstStyle/>
          <a:p>
            <a:pPr algn="l">
              <a:spcAft>
                <a:spcPts val="600"/>
              </a:spcAft>
            </a:pPr>
            <a:r>
              <a:rPr sz="1700" b="1" i="0">
                <a:solidFill>
                  <a:srgbClr val="FFFFFF"/>
                </a:solidFill>
                <a:latin typeface="Arial"/>
              </a:rPr>
              <a:t>Summarize</a:t>
            </a:r>
          </a:p>
        </p:txBody>
      </p:sp>
      <p:sp>
        <p:nvSpPr>
          <p:cNvPr id="16" name="Rectangle 15"/>
          <p:cNvSpPr/>
          <p:nvPr/>
        </p:nvSpPr>
        <p:spPr>
          <a:xfrm>
            <a:off x="4297679" y="1920240"/>
            <a:ext cx="3520440" cy="12801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2029968"/>
            <a:ext cx="3246120" cy="1097280"/>
          </a:xfrm>
          <a:prstGeom prst="rect">
            <a:avLst/>
          </a:prstGeom>
          <a:noFill/>
        </p:spPr>
        <p:txBody>
          <a:bodyPr wrap="square" lIns="0" tIns="0" rIns="0" bIns="0" anchor="t"/>
          <a:lstStyle/>
          <a:p>
            <a:pPr algn="l">
              <a:spcAft>
                <a:spcPts val="400"/>
              </a:spcAft>
            </a:pPr>
            <a:r>
              <a:rPr sz="1500" b="0" i="0">
                <a:solidFill>
                  <a:srgbClr val="222222"/>
                </a:solidFill>
                <a:latin typeface="Arial"/>
              </a:rPr>
              <a:t>free-text answers in a report</a:t>
            </a:r>
          </a:p>
        </p:txBody>
      </p:sp>
      <p:sp>
        <p:nvSpPr>
          <p:cNvPr id="18" name="Rectangle 17"/>
          <p:cNvSpPr/>
          <p:nvPr/>
        </p:nvSpPr>
        <p:spPr>
          <a:xfrm>
            <a:off x="8046719" y="1463040"/>
            <a:ext cx="3520440" cy="457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E8C1_FFFFFF.png"/>
          <p:cNvPicPr>
            <a:picLocks noChangeAspect="1"/>
          </p:cNvPicPr>
          <p:nvPr/>
        </p:nvPicPr>
        <p:blipFill>
          <a:blip r:embed="rId5"/>
          <a:stretch>
            <a:fillRect/>
          </a:stretch>
        </p:blipFill>
        <p:spPr>
          <a:xfrm>
            <a:off x="8156447" y="1527048"/>
            <a:ext cx="329184" cy="329184"/>
          </a:xfrm>
          <a:prstGeom prst="rect">
            <a:avLst/>
          </a:prstGeom>
        </p:spPr>
      </p:pic>
      <p:sp>
        <p:nvSpPr>
          <p:cNvPr id="20" name="TextBox 19"/>
          <p:cNvSpPr txBox="1"/>
          <p:nvPr/>
        </p:nvSpPr>
        <p:spPr>
          <a:xfrm>
            <a:off x="8595359" y="1463040"/>
            <a:ext cx="2880360" cy="457200"/>
          </a:xfrm>
          <a:prstGeom prst="rect">
            <a:avLst/>
          </a:prstGeom>
          <a:noFill/>
        </p:spPr>
        <p:txBody>
          <a:bodyPr wrap="square" lIns="0" tIns="0" rIns="0" bIns="0" anchor="ctr"/>
          <a:lstStyle/>
          <a:p>
            <a:pPr algn="l">
              <a:spcAft>
                <a:spcPts val="600"/>
              </a:spcAft>
            </a:pPr>
            <a:r>
              <a:rPr sz="1700" b="1" i="0">
                <a:solidFill>
                  <a:srgbClr val="FFFFFF"/>
                </a:solidFill>
                <a:latin typeface="Arial"/>
              </a:rPr>
              <a:t>Auto-translate</a:t>
            </a:r>
          </a:p>
        </p:txBody>
      </p:sp>
      <p:sp>
        <p:nvSpPr>
          <p:cNvPr id="21" name="Rectangle 20"/>
          <p:cNvSpPr/>
          <p:nvPr/>
        </p:nvSpPr>
        <p:spPr>
          <a:xfrm>
            <a:off x="8046719" y="1920240"/>
            <a:ext cx="3520440" cy="128016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79" y="2029968"/>
            <a:ext cx="3246120" cy="1097280"/>
          </a:xfrm>
          <a:prstGeom prst="rect">
            <a:avLst/>
          </a:prstGeom>
          <a:noFill/>
        </p:spPr>
        <p:txBody>
          <a:bodyPr wrap="square" lIns="0" tIns="0" rIns="0" bIns="0" anchor="t"/>
          <a:lstStyle/>
          <a:p>
            <a:pPr algn="l">
              <a:spcAft>
                <a:spcPts val="400"/>
              </a:spcAft>
            </a:pPr>
            <a:r>
              <a:rPr sz="1500" b="0" i="0">
                <a:solidFill>
                  <a:srgbClr val="222222"/>
                </a:solidFill>
                <a:latin typeface="Arial"/>
              </a:rPr>
              <a:t>Multi-Language Management</a:t>
            </a:r>
          </a:p>
        </p:txBody>
      </p:sp>
      <p:sp>
        <p:nvSpPr>
          <p:cNvPr id="23" name="TextBox 22"/>
          <p:cNvSpPr txBox="1"/>
          <p:nvPr/>
        </p:nvSpPr>
        <p:spPr>
          <a:xfrm>
            <a:off x="548640" y="3520440"/>
            <a:ext cx="10972800" cy="1463040"/>
          </a:xfrm>
          <a:prstGeom prst="rect">
            <a:avLst/>
          </a:prstGeom>
          <a:noFill/>
        </p:spPr>
        <p:txBody>
          <a:bodyPr wrap="square" lIns="0" tIns="0" rIns="0" bIns="0" anchor="t"/>
          <a:lstStyle/>
          <a:p>
            <a:pPr marL="256032" indent="-256032" algn="l">
              <a:spcAft>
                <a:spcPts val="800"/>
              </a:spcAft>
              <a:buClr>
                <a:srgbClr val="1E88C8"/>
              </a:buClr>
              <a:buSzPct val="75000"/>
              <a:buFont typeface="Arial"/>
              <a:buChar char="■"/>
            </a:pPr>
            <a:r>
              <a:rPr sz="1700" b="0" i="0">
                <a:solidFill>
                  <a:srgbClr val="222222"/>
                </a:solidFill>
                <a:latin typeface="Arial"/>
              </a:rPr>
              <a:t>Off by default: </a:t>
            </a:r>
            <a:r>
              <a:rPr sz="1700" b="1" i="0">
                <a:solidFill>
                  <a:srgbClr val="1E88C8"/>
                </a:solidFill>
                <a:latin typeface="Arial"/>
              </a:rPr>
              <a:t>the institution decides</a:t>
            </a:r>
          </a:p>
          <a:p>
            <a:pPr marL="256032" indent="-256032" algn="l">
              <a:spcAft>
                <a:spcPts val="800"/>
              </a:spcAft>
              <a:buClr>
                <a:srgbClr val="1E88C8"/>
              </a:buClr>
              <a:buSzPct val="75000"/>
              <a:buFont typeface="Arial"/>
              <a:buChar char="■"/>
            </a:pPr>
            <a:r>
              <a:rPr sz="1700" b="0" i="0">
                <a:solidFill>
                  <a:srgbClr val="222222"/>
                </a:solidFill>
                <a:latin typeface="Arial"/>
              </a:rPr>
              <a:t>A human reviews every output</a:t>
            </a:r>
          </a:p>
          <a:p>
            <a:pPr marL="256032" indent="-256032" algn="l">
              <a:spcAft>
                <a:spcPts val="800"/>
              </a:spcAft>
              <a:buClr>
                <a:srgbClr val="1E88C8"/>
              </a:buClr>
              <a:buSzPct val="75000"/>
              <a:buFont typeface="Arial"/>
              <a:buChar char="■"/>
            </a:pPr>
            <a:r>
              <a:rPr sz="1700" b="0" i="0">
                <a:solidFill>
                  <a:srgbClr val="222222"/>
                </a:solidFill>
                <a:latin typeface="Arial"/>
              </a:rPr>
              <a:t>Never changes research data directly</a:t>
            </a:r>
          </a:p>
        </p:txBody>
      </p:sp>
      <p:sp>
        <p:nvSpPr>
          <p:cNvPr id="24" name="Rectangle 23"/>
          <p:cNvSpPr/>
          <p:nvPr/>
        </p:nvSpPr>
        <p:spPr>
          <a:xfrm>
            <a:off x="548640" y="507492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507492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946_1E88C8.png"/>
          <p:cNvPicPr>
            <a:picLocks noChangeAspect="1"/>
          </p:cNvPicPr>
          <p:nvPr/>
        </p:nvPicPr>
        <p:blipFill>
          <a:blip r:embed="rId6"/>
          <a:stretch>
            <a:fillRect/>
          </a:stretch>
        </p:blipFill>
        <p:spPr>
          <a:xfrm>
            <a:off x="777240" y="5166359"/>
            <a:ext cx="365760" cy="365760"/>
          </a:xfrm>
          <a:prstGeom prst="rect">
            <a:avLst/>
          </a:prstGeom>
        </p:spPr>
      </p:pic>
      <p:sp>
        <p:nvSpPr>
          <p:cNvPr id="27" name="TextBox 26"/>
          <p:cNvSpPr txBox="1"/>
          <p:nvPr/>
        </p:nvSpPr>
        <p:spPr>
          <a:xfrm>
            <a:off x="1280160" y="5074920"/>
            <a:ext cx="10268712" cy="548640"/>
          </a:xfrm>
          <a:prstGeom prst="rect">
            <a:avLst/>
          </a:prstGeom>
          <a:noFill/>
        </p:spPr>
        <p:txBody>
          <a:bodyPr wrap="square" lIns="0" tIns="0" rIns="0" bIns="0" anchor="ctr"/>
          <a:lstStyle/>
          <a:p>
            <a:pPr algn="l">
              <a:spcAft>
                <a:spcPts val="600"/>
              </a:spcAft>
            </a:pPr>
            <a:r>
              <a:rPr sz="1500" b="0" i="0">
                <a:solidFill>
                  <a:srgbClr val="222222"/>
                </a:solidFill>
                <a:latin typeface="Arial"/>
              </a:rPr>
              <a:t>Not available on your server? The rest of REDCap works the same.</a:t>
            </a:r>
          </a:p>
        </p:txBody>
      </p:sp>
      <p:sp>
        <p:nvSpPr>
          <p:cNvPr id="28" name="TextBox 27"/>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AI: artificial intelligence   ·   REDCap: Research Electronic Data Capture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Hands-on lab: build TBCARE in 60 minutes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59</a:t>
            </a:r>
          </a:p>
        </p:txBody>
      </p:sp>
      <p:sp>
        <p:nvSpPr>
          <p:cNvPr id="8" name="Rectangle 7"/>
          <p:cNvSpPr/>
          <p:nvPr/>
        </p:nvSpPr>
        <p:spPr>
          <a:xfrm>
            <a:off x="548640" y="1463040"/>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1645920"/>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1</a:t>
            </a:r>
          </a:p>
        </p:txBody>
      </p:sp>
      <p:sp>
        <p:nvSpPr>
          <p:cNvPr id="10" name="TextBox 9"/>
          <p:cNvSpPr txBox="1"/>
          <p:nvPr/>
        </p:nvSpPr>
        <p:spPr>
          <a:xfrm>
            <a:off x="1371600" y="1508760"/>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Create the project</a:t>
            </a:r>
          </a:p>
          <a:p>
            <a:pPr algn="l">
              <a:spcAft>
                <a:spcPts val="600"/>
              </a:spcAft>
            </a:pPr>
            <a:r>
              <a:rPr sz="1200" b="0" i="0">
                <a:solidFill>
                  <a:srgbClr val="62676D"/>
                </a:solidFill>
                <a:latin typeface="Arial"/>
              </a:rPr>
              <a:t>Practice / Just for fun</a:t>
            </a:r>
          </a:p>
        </p:txBody>
      </p:sp>
      <p:sp>
        <p:nvSpPr>
          <p:cNvPr id="11" name="TextBox 10"/>
          <p:cNvSpPr txBox="1"/>
          <p:nvPr/>
        </p:nvSpPr>
        <p:spPr>
          <a:xfrm>
            <a:off x="4937759" y="1508760"/>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9</a:t>
            </a:r>
          </a:p>
        </p:txBody>
      </p:sp>
      <p:sp>
        <p:nvSpPr>
          <p:cNvPr id="12" name="Rectangle 11"/>
          <p:cNvSpPr/>
          <p:nvPr/>
        </p:nvSpPr>
        <p:spPr>
          <a:xfrm>
            <a:off x="548640" y="2487168"/>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5800" y="2670048"/>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2</a:t>
            </a:r>
          </a:p>
        </p:txBody>
      </p:sp>
      <p:sp>
        <p:nvSpPr>
          <p:cNvPr id="14" name="TextBox 13"/>
          <p:cNvSpPr txBox="1"/>
          <p:nvPr/>
        </p:nvSpPr>
        <p:spPr>
          <a:xfrm>
            <a:off x="1371600" y="2532888"/>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Upload the data dictionary</a:t>
            </a:r>
          </a:p>
          <a:p>
            <a:pPr algn="l">
              <a:spcAft>
                <a:spcPts val="600"/>
              </a:spcAft>
            </a:pPr>
            <a:r>
              <a:rPr sz="1200" b="0" i="0">
                <a:solidFill>
                  <a:srgbClr val="62676D"/>
                </a:solidFill>
                <a:latin typeface="Arial"/>
              </a:rPr>
              <a:t>or build Enrolment by hand</a:t>
            </a:r>
          </a:p>
        </p:txBody>
      </p:sp>
      <p:sp>
        <p:nvSpPr>
          <p:cNvPr id="15" name="TextBox 14"/>
          <p:cNvSpPr txBox="1"/>
          <p:nvPr/>
        </p:nvSpPr>
        <p:spPr>
          <a:xfrm>
            <a:off x="4937759" y="2532888"/>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14</a:t>
            </a:r>
          </a:p>
        </p:txBody>
      </p:sp>
      <p:sp>
        <p:nvSpPr>
          <p:cNvPr id="16" name="Rectangle 15"/>
          <p:cNvSpPr/>
          <p:nvPr/>
        </p:nvSpPr>
        <p:spPr>
          <a:xfrm>
            <a:off x="548640" y="3511296"/>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85800" y="3694176"/>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3</a:t>
            </a:r>
          </a:p>
        </p:txBody>
      </p:sp>
      <p:sp>
        <p:nvSpPr>
          <p:cNvPr id="18" name="TextBox 17"/>
          <p:cNvSpPr txBox="1"/>
          <p:nvPr/>
        </p:nvSpPr>
        <p:spPr>
          <a:xfrm>
            <a:off x="1371600" y="3557016"/>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Add validation</a:t>
            </a:r>
          </a:p>
          <a:p>
            <a:pPr algn="l">
              <a:spcAft>
                <a:spcPts val="600"/>
              </a:spcAft>
            </a:pPr>
            <a:r>
              <a:rPr sz="1200" b="0" i="0">
                <a:solidFill>
                  <a:srgbClr val="62676D"/>
                </a:solidFill>
                <a:latin typeface="Arial"/>
              </a:rPr>
              <a:t>dates, weight 30–200, required</a:t>
            </a:r>
          </a:p>
        </p:txBody>
      </p:sp>
      <p:sp>
        <p:nvSpPr>
          <p:cNvPr id="19" name="TextBox 18"/>
          <p:cNvSpPr txBox="1"/>
          <p:nvPr/>
        </p:nvSpPr>
        <p:spPr>
          <a:xfrm>
            <a:off x="4937759" y="3557016"/>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16</a:t>
            </a:r>
          </a:p>
        </p:txBody>
      </p:sp>
      <p:sp>
        <p:nvSpPr>
          <p:cNvPr id="20" name="Rectangle 19"/>
          <p:cNvSpPr/>
          <p:nvPr/>
        </p:nvSpPr>
        <p:spPr>
          <a:xfrm>
            <a:off x="548640" y="4535424"/>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85800" y="4718304"/>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4</a:t>
            </a:r>
          </a:p>
        </p:txBody>
      </p:sp>
      <p:sp>
        <p:nvSpPr>
          <p:cNvPr id="22" name="TextBox 21"/>
          <p:cNvSpPr txBox="1"/>
          <p:nvPr/>
        </p:nvSpPr>
        <p:spPr>
          <a:xfrm>
            <a:off x="1371600" y="4581144"/>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Add branching</a:t>
            </a:r>
          </a:p>
          <a:p>
            <a:pPr algn="l">
              <a:spcAft>
                <a:spcPts val="600"/>
              </a:spcAft>
            </a:pPr>
            <a:r>
              <a:rPr sz="1200" b="0" i="0">
                <a:solidFill>
                  <a:srgbClr val="62676D"/>
                </a:solidFill>
                <a:latin typeface="Arial"/>
              </a:rPr>
              <a:t>test type if lab done</a:t>
            </a:r>
          </a:p>
        </p:txBody>
      </p:sp>
      <p:sp>
        <p:nvSpPr>
          <p:cNvPr id="23" name="TextBox 22"/>
          <p:cNvSpPr txBox="1"/>
          <p:nvPr/>
        </p:nvSpPr>
        <p:spPr>
          <a:xfrm>
            <a:off x="4937759" y="4581144"/>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17</a:t>
            </a:r>
          </a:p>
        </p:txBody>
      </p:sp>
      <p:sp>
        <p:nvSpPr>
          <p:cNvPr id="24" name="Rectangle 23"/>
          <p:cNvSpPr/>
          <p:nvPr/>
        </p:nvSpPr>
        <p:spPr>
          <a:xfrm>
            <a:off x="6217920" y="1463040"/>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355080" y="1645920"/>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5</a:t>
            </a:r>
          </a:p>
        </p:txBody>
      </p:sp>
      <p:sp>
        <p:nvSpPr>
          <p:cNvPr id="26" name="TextBox 25"/>
          <p:cNvSpPr txBox="1"/>
          <p:nvPr/>
        </p:nvSpPr>
        <p:spPr>
          <a:xfrm>
            <a:off x="7040880" y="1508760"/>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Add BMI</a:t>
            </a:r>
          </a:p>
          <a:p>
            <a:pPr algn="l">
              <a:spcAft>
                <a:spcPts val="600"/>
              </a:spcAft>
            </a:pPr>
            <a:r>
              <a:rPr sz="1200" b="0" i="0">
                <a:solidFill>
                  <a:srgbClr val="62676D"/>
                </a:solidFill>
                <a:latin typeface="Arial"/>
              </a:rPr>
              <a:t>calculated field</a:t>
            </a:r>
          </a:p>
        </p:txBody>
      </p:sp>
      <p:sp>
        <p:nvSpPr>
          <p:cNvPr id="27" name="TextBox 26"/>
          <p:cNvSpPr txBox="1"/>
          <p:nvPr/>
        </p:nvSpPr>
        <p:spPr>
          <a:xfrm>
            <a:off x="10607040" y="1508760"/>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18</a:t>
            </a:r>
          </a:p>
        </p:txBody>
      </p:sp>
      <p:sp>
        <p:nvSpPr>
          <p:cNvPr id="28" name="Rectangle 27"/>
          <p:cNvSpPr/>
          <p:nvPr/>
        </p:nvSpPr>
        <p:spPr>
          <a:xfrm>
            <a:off x="6217920" y="2487168"/>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55080" y="2670048"/>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6</a:t>
            </a:r>
          </a:p>
        </p:txBody>
      </p:sp>
      <p:sp>
        <p:nvSpPr>
          <p:cNvPr id="30" name="TextBox 29"/>
          <p:cNvSpPr txBox="1"/>
          <p:nvPr/>
        </p:nvSpPr>
        <p:spPr>
          <a:xfrm>
            <a:off x="7040880" y="2532888"/>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Go longitudinal</a:t>
            </a:r>
          </a:p>
          <a:p>
            <a:pPr algn="l">
              <a:spcAft>
                <a:spcPts val="600"/>
              </a:spcAft>
            </a:pPr>
            <a:r>
              <a:rPr sz="1200" b="0" i="0">
                <a:solidFill>
                  <a:srgbClr val="62676D"/>
                </a:solidFill>
                <a:latin typeface="Arial"/>
              </a:rPr>
              <a:t>4 events, designate forms</a:t>
            </a:r>
          </a:p>
        </p:txBody>
      </p:sp>
      <p:sp>
        <p:nvSpPr>
          <p:cNvPr id="31" name="TextBox 30"/>
          <p:cNvSpPr txBox="1"/>
          <p:nvPr/>
        </p:nvSpPr>
        <p:spPr>
          <a:xfrm>
            <a:off x="10607040" y="2532888"/>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26–27</a:t>
            </a:r>
          </a:p>
        </p:txBody>
      </p:sp>
      <p:sp>
        <p:nvSpPr>
          <p:cNvPr id="32" name="Rectangle 31"/>
          <p:cNvSpPr/>
          <p:nvPr/>
        </p:nvSpPr>
        <p:spPr>
          <a:xfrm>
            <a:off x="6217920" y="3511296"/>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355080" y="3694176"/>
            <a:ext cx="502920" cy="50292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7</a:t>
            </a:r>
          </a:p>
        </p:txBody>
      </p:sp>
      <p:sp>
        <p:nvSpPr>
          <p:cNvPr id="34" name="TextBox 33"/>
          <p:cNvSpPr txBox="1"/>
          <p:nvPr/>
        </p:nvSpPr>
        <p:spPr>
          <a:xfrm>
            <a:off x="7040880" y="3557016"/>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Add two DAGs</a:t>
            </a:r>
          </a:p>
          <a:p>
            <a:pPr algn="l">
              <a:spcAft>
                <a:spcPts val="600"/>
              </a:spcAft>
            </a:pPr>
            <a:r>
              <a:rPr sz="1200" b="0" i="0">
                <a:solidFill>
                  <a:srgbClr val="62676D"/>
                </a:solidFill>
                <a:latin typeface="Arial"/>
              </a:rPr>
              <a:t>Antwerp, Mbarara</a:t>
            </a:r>
          </a:p>
        </p:txBody>
      </p:sp>
      <p:sp>
        <p:nvSpPr>
          <p:cNvPr id="35" name="TextBox 34"/>
          <p:cNvSpPr txBox="1"/>
          <p:nvPr/>
        </p:nvSpPr>
        <p:spPr>
          <a:xfrm>
            <a:off x="10607040" y="3557016"/>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33</a:t>
            </a:r>
          </a:p>
        </p:txBody>
      </p:sp>
      <p:sp>
        <p:nvSpPr>
          <p:cNvPr id="36" name="Rectangle 35"/>
          <p:cNvSpPr/>
          <p:nvPr/>
        </p:nvSpPr>
        <p:spPr>
          <a:xfrm>
            <a:off x="6217920" y="4535424"/>
            <a:ext cx="5422392" cy="8686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355080" y="4718304"/>
            <a:ext cx="502920" cy="5029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500" b="1" i="0">
                <a:solidFill>
                  <a:srgbClr val="FFFFFF"/>
                </a:solidFill>
                <a:latin typeface="Arial"/>
              </a:rPr>
              <a:t>8</a:t>
            </a:r>
          </a:p>
        </p:txBody>
      </p:sp>
      <p:sp>
        <p:nvSpPr>
          <p:cNvPr id="38" name="TextBox 37"/>
          <p:cNvSpPr txBox="1"/>
          <p:nvPr/>
        </p:nvSpPr>
        <p:spPr>
          <a:xfrm>
            <a:off x="7040880" y="4581144"/>
            <a:ext cx="3566160" cy="777240"/>
          </a:xfrm>
          <a:prstGeom prst="rect">
            <a:avLst/>
          </a:prstGeom>
          <a:noFill/>
        </p:spPr>
        <p:txBody>
          <a:bodyPr wrap="square" lIns="0" tIns="0" rIns="0" bIns="0" anchor="ctr"/>
          <a:lstStyle/>
          <a:p>
            <a:pPr algn="l">
              <a:spcAft>
                <a:spcPts val="100"/>
              </a:spcAft>
            </a:pPr>
            <a:r>
              <a:rPr sz="1500" b="1" i="0">
                <a:solidFill>
                  <a:srgbClr val="41464C"/>
                </a:solidFill>
                <a:latin typeface="Arial"/>
              </a:rPr>
              <a:t>Test and export</a:t>
            </a:r>
          </a:p>
          <a:p>
            <a:pPr algn="l">
              <a:spcAft>
                <a:spcPts val="600"/>
              </a:spcAft>
            </a:pPr>
            <a:r>
              <a:rPr sz="1200" b="0" i="0">
                <a:solidFill>
                  <a:srgbClr val="62676D"/>
                </a:solidFill>
                <a:latin typeface="Arial"/>
              </a:rPr>
              <a:t>3 fake records; de-identified CSV</a:t>
            </a:r>
          </a:p>
        </p:txBody>
      </p:sp>
      <p:sp>
        <p:nvSpPr>
          <p:cNvPr id="39" name="TextBox 38"/>
          <p:cNvSpPr txBox="1"/>
          <p:nvPr/>
        </p:nvSpPr>
        <p:spPr>
          <a:xfrm>
            <a:off x="10607040" y="4581144"/>
            <a:ext cx="914400" cy="777240"/>
          </a:xfrm>
          <a:prstGeom prst="rect">
            <a:avLst/>
          </a:prstGeom>
          <a:noFill/>
        </p:spPr>
        <p:txBody>
          <a:bodyPr wrap="square" lIns="0" tIns="0" rIns="0" bIns="0" anchor="ctr"/>
          <a:lstStyle/>
          <a:p>
            <a:pPr algn="r">
              <a:spcAft>
                <a:spcPts val="600"/>
              </a:spcAft>
            </a:pPr>
            <a:r>
              <a:rPr sz="1100" b="0" i="0">
                <a:solidFill>
                  <a:srgbClr val="1E88C8"/>
                </a:solidFill>
                <a:latin typeface="Arial"/>
              </a:rPr>
              <a:t>slide 42</a:t>
            </a:r>
          </a:p>
        </p:txBody>
      </p:sp>
      <p:sp>
        <p:nvSpPr>
          <p:cNvPr id="40" name="Rectangle 39"/>
          <p:cNvSpPr/>
          <p:nvPr/>
        </p:nvSpPr>
        <p:spPr>
          <a:xfrm>
            <a:off x="548640" y="548640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48640" y="548640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E7BA_C8102E.png"/>
          <p:cNvPicPr>
            <a:picLocks noChangeAspect="1"/>
          </p:cNvPicPr>
          <p:nvPr/>
        </p:nvPicPr>
        <p:blipFill>
          <a:blip r:embed="rId3"/>
          <a:stretch>
            <a:fillRect/>
          </a:stretch>
        </p:blipFill>
        <p:spPr>
          <a:xfrm>
            <a:off x="777240" y="5577840"/>
            <a:ext cx="365760" cy="365760"/>
          </a:xfrm>
          <a:prstGeom prst="rect">
            <a:avLst/>
          </a:prstGeom>
        </p:spPr>
      </p:pic>
      <p:sp>
        <p:nvSpPr>
          <p:cNvPr id="43" name="TextBox 42"/>
          <p:cNvSpPr txBox="1"/>
          <p:nvPr/>
        </p:nvSpPr>
        <p:spPr>
          <a:xfrm>
            <a:off x="1280160" y="5486400"/>
            <a:ext cx="10268712" cy="548640"/>
          </a:xfrm>
          <a:prstGeom prst="rect">
            <a:avLst/>
          </a:prstGeom>
          <a:noFill/>
        </p:spPr>
        <p:txBody>
          <a:bodyPr wrap="square" lIns="0" tIns="0" rIns="0" bIns="0" anchor="ctr"/>
          <a:lstStyle/>
          <a:p>
            <a:pPr algn="l">
              <a:spcAft>
                <a:spcPts val="600"/>
              </a:spcAft>
            </a:pPr>
            <a:r>
              <a:rPr sz="1500" b="1" i="0">
                <a:solidFill>
                  <a:srgbClr val="C8102E"/>
                </a:solidFill>
                <a:latin typeface="Arial"/>
              </a:rPr>
              <a:t>Fake data only.</a:t>
            </a:r>
            <a:r>
              <a:rPr sz="1500" b="0" i="0">
                <a:solidFill>
                  <a:srgbClr val="222222"/>
                </a:solidFill>
                <a:latin typeface="Arial"/>
              </a:rPr>
              <a:t> Then swap with the next pair and try to break their project.</a:t>
            </a:r>
          </a:p>
        </p:txBody>
      </p:sp>
      <p:sp>
        <p:nvSpPr>
          <p:cNvPr id="44" name="TextBox 43"/>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BMI: body mass index   ·   CSV: comma-separated values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Lab check: did it work?</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60</a:t>
            </a:r>
          </a:p>
        </p:txBody>
      </p:sp>
      <p:pic>
        <p:nvPicPr>
          <p:cNvPr id="8" name="Picture 7" descr="E9D5_2E7D32.png"/>
          <p:cNvPicPr>
            <a:picLocks noChangeAspect="1"/>
          </p:cNvPicPr>
          <p:nvPr/>
        </p:nvPicPr>
        <p:blipFill>
          <a:blip r:embed="rId3"/>
          <a:stretch>
            <a:fillRect/>
          </a:stretch>
        </p:blipFill>
        <p:spPr>
          <a:xfrm>
            <a:off x="640080" y="1463040"/>
            <a:ext cx="384048" cy="384048"/>
          </a:xfrm>
          <a:prstGeom prst="rect">
            <a:avLst/>
          </a:prstGeom>
        </p:spPr>
      </p:pic>
      <p:sp>
        <p:nvSpPr>
          <p:cNvPr id="9" name="TextBox 8"/>
          <p:cNvSpPr txBox="1"/>
          <p:nvPr/>
        </p:nvSpPr>
        <p:spPr>
          <a:xfrm>
            <a:off x="1188720" y="1435608"/>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Date of birth:</a:t>
            </a:r>
            <a:r>
              <a:rPr sz="1700" b="0" i="0">
                <a:solidFill>
                  <a:srgbClr val="222222"/>
                </a:solidFill>
                <a:latin typeface="Arial"/>
              </a:rPr>
              <a:t>  type 31-02-1990: REDCap should refuse it</a:t>
            </a:r>
          </a:p>
        </p:txBody>
      </p:sp>
      <p:pic>
        <p:nvPicPr>
          <p:cNvPr id="10" name="Picture 9" descr="E9D5_2E7D32.png"/>
          <p:cNvPicPr>
            <a:picLocks noChangeAspect="1"/>
          </p:cNvPicPr>
          <p:nvPr/>
        </p:nvPicPr>
        <p:blipFill>
          <a:blip r:embed="rId3"/>
          <a:stretch>
            <a:fillRect/>
          </a:stretch>
        </p:blipFill>
        <p:spPr>
          <a:xfrm>
            <a:off x="640080" y="2066544"/>
            <a:ext cx="384048" cy="384048"/>
          </a:xfrm>
          <a:prstGeom prst="rect">
            <a:avLst/>
          </a:prstGeom>
        </p:spPr>
      </p:pic>
      <p:sp>
        <p:nvSpPr>
          <p:cNvPr id="11" name="TextBox 10"/>
          <p:cNvSpPr txBox="1"/>
          <p:nvPr/>
        </p:nvSpPr>
        <p:spPr>
          <a:xfrm>
            <a:off x="1188720" y="2039112"/>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Weight:</a:t>
            </a:r>
            <a:r>
              <a:rPr sz="1700" b="0" i="0">
                <a:solidFill>
                  <a:srgbClr val="222222"/>
                </a:solidFill>
                <a:latin typeface="Arial"/>
              </a:rPr>
              <a:t>  type 615: out-of-range warning</a:t>
            </a:r>
          </a:p>
        </p:txBody>
      </p:sp>
      <p:pic>
        <p:nvPicPr>
          <p:cNvPr id="12" name="Picture 11" descr="E9D5_2E7D32.png"/>
          <p:cNvPicPr>
            <a:picLocks noChangeAspect="1"/>
          </p:cNvPicPr>
          <p:nvPr/>
        </p:nvPicPr>
        <p:blipFill>
          <a:blip r:embed="rId3"/>
          <a:stretch>
            <a:fillRect/>
          </a:stretch>
        </p:blipFill>
        <p:spPr>
          <a:xfrm>
            <a:off x="640080" y="2670048"/>
            <a:ext cx="384048" cy="384048"/>
          </a:xfrm>
          <a:prstGeom prst="rect">
            <a:avLst/>
          </a:prstGeom>
        </p:spPr>
      </p:pic>
      <p:sp>
        <p:nvSpPr>
          <p:cNvPr id="13" name="TextBox 12"/>
          <p:cNvSpPr txBox="1"/>
          <p:nvPr/>
        </p:nvSpPr>
        <p:spPr>
          <a:xfrm>
            <a:off x="1188720" y="2642616"/>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Branching:</a:t>
            </a:r>
            <a:r>
              <a:rPr sz="1700" b="0" i="0">
                <a:solidFill>
                  <a:srgbClr val="222222"/>
                </a:solidFill>
                <a:latin typeface="Arial"/>
              </a:rPr>
              <a:t>  lab not done: test type stays hidden</a:t>
            </a:r>
          </a:p>
        </p:txBody>
      </p:sp>
      <p:pic>
        <p:nvPicPr>
          <p:cNvPr id="14" name="Picture 13" descr="E9D5_2E7D32.png"/>
          <p:cNvPicPr>
            <a:picLocks noChangeAspect="1"/>
          </p:cNvPicPr>
          <p:nvPr/>
        </p:nvPicPr>
        <p:blipFill>
          <a:blip r:embed="rId3"/>
          <a:stretch>
            <a:fillRect/>
          </a:stretch>
        </p:blipFill>
        <p:spPr>
          <a:xfrm>
            <a:off x="640080" y="3273552"/>
            <a:ext cx="384048" cy="384048"/>
          </a:xfrm>
          <a:prstGeom prst="rect">
            <a:avLst/>
          </a:prstGeom>
        </p:spPr>
      </p:pic>
      <p:sp>
        <p:nvSpPr>
          <p:cNvPr id="15" name="TextBox 14"/>
          <p:cNvSpPr txBox="1"/>
          <p:nvPr/>
        </p:nvSpPr>
        <p:spPr>
          <a:xfrm>
            <a:off x="1188720" y="3246120"/>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BMI:</a:t>
            </a:r>
            <a:r>
              <a:rPr sz="1700" b="0" i="0">
                <a:solidFill>
                  <a:srgbClr val="222222"/>
                </a:solidFill>
                <a:latin typeface="Arial"/>
              </a:rPr>
              <a:t>  60 kg, 170 cm gives 20.8</a:t>
            </a:r>
          </a:p>
        </p:txBody>
      </p:sp>
      <p:pic>
        <p:nvPicPr>
          <p:cNvPr id="16" name="Picture 15" descr="E9D5_2E7D32.png"/>
          <p:cNvPicPr>
            <a:picLocks noChangeAspect="1"/>
          </p:cNvPicPr>
          <p:nvPr/>
        </p:nvPicPr>
        <p:blipFill>
          <a:blip r:embed="rId3"/>
          <a:stretch>
            <a:fillRect/>
          </a:stretch>
        </p:blipFill>
        <p:spPr>
          <a:xfrm>
            <a:off x="640080" y="3877056"/>
            <a:ext cx="384048" cy="384048"/>
          </a:xfrm>
          <a:prstGeom prst="rect">
            <a:avLst/>
          </a:prstGeom>
        </p:spPr>
      </p:pic>
      <p:sp>
        <p:nvSpPr>
          <p:cNvPr id="17" name="TextBox 16"/>
          <p:cNvSpPr txBox="1"/>
          <p:nvPr/>
        </p:nvSpPr>
        <p:spPr>
          <a:xfrm>
            <a:off x="1188720" y="3849624"/>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Events:</a:t>
            </a:r>
            <a:r>
              <a:rPr sz="1700" b="0" i="0">
                <a:solidFill>
                  <a:srgbClr val="222222"/>
                </a:solidFill>
                <a:latin typeface="Arial"/>
              </a:rPr>
              <a:t>  Record Status Dashboard shows 4 columns</a:t>
            </a:r>
          </a:p>
        </p:txBody>
      </p:sp>
      <p:pic>
        <p:nvPicPr>
          <p:cNvPr id="18" name="Picture 17" descr="E9D5_2E7D32.png"/>
          <p:cNvPicPr>
            <a:picLocks noChangeAspect="1"/>
          </p:cNvPicPr>
          <p:nvPr/>
        </p:nvPicPr>
        <p:blipFill>
          <a:blip r:embed="rId3"/>
          <a:stretch>
            <a:fillRect/>
          </a:stretch>
        </p:blipFill>
        <p:spPr>
          <a:xfrm>
            <a:off x="640080" y="4480560"/>
            <a:ext cx="384048" cy="384048"/>
          </a:xfrm>
          <a:prstGeom prst="rect">
            <a:avLst/>
          </a:prstGeom>
        </p:spPr>
      </p:pic>
      <p:sp>
        <p:nvSpPr>
          <p:cNvPr id="19" name="TextBox 18"/>
          <p:cNvSpPr txBox="1"/>
          <p:nvPr/>
        </p:nvSpPr>
        <p:spPr>
          <a:xfrm>
            <a:off x="1188720" y="4453128"/>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DAGs:</a:t>
            </a:r>
            <a:r>
              <a:rPr sz="1700" b="0" i="0">
                <a:solidFill>
                  <a:srgbClr val="222222"/>
                </a:solidFill>
                <a:latin typeface="Arial"/>
              </a:rPr>
              <a:t>  a Mbarara user cannot see Antwerp records</a:t>
            </a:r>
          </a:p>
        </p:txBody>
      </p:sp>
      <p:pic>
        <p:nvPicPr>
          <p:cNvPr id="20" name="Picture 19" descr="E9D5_2E7D32.png"/>
          <p:cNvPicPr>
            <a:picLocks noChangeAspect="1"/>
          </p:cNvPicPr>
          <p:nvPr/>
        </p:nvPicPr>
        <p:blipFill>
          <a:blip r:embed="rId3"/>
          <a:stretch>
            <a:fillRect/>
          </a:stretch>
        </p:blipFill>
        <p:spPr>
          <a:xfrm>
            <a:off x="640080" y="5084064"/>
            <a:ext cx="384048" cy="384048"/>
          </a:xfrm>
          <a:prstGeom prst="rect">
            <a:avLst/>
          </a:prstGeom>
        </p:spPr>
      </p:pic>
      <p:sp>
        <p:nvSpPr>
          <p:cNvPr id="21" name="TextBox 20"/>
          <p:cNvSpPr txBox="1"/>
          <p:nvPr/>
        </p:nvSpPr>
        <p:spPr>
          <a:xfrm>
            <a:off x="1188720" y="5056632"/>
            <a:ext cx="10332720" cy="502920"/>
          </a:xfrm>
          <a:prstGeom prst="rect">
            <a:avLst/>
          </a:prstGeom>
          <a:noFill/>
        </p:spPr>
        <p:txBody>
          <a:bodyPr wrap="square" lIns="0" tIns="0" rIns="0" bIns="0" anchor="ctr"/>
          <a:lstStyle/>
          <a:p>
            <a:pPr algn="l">
              <a:spcAft>
                <a:spcPts val="600"/>
              </a:spcAft>
            </a:pPr>
            <a:r>
              <a:rPr sz="1700" b="1" i="0">
                <a:solidFill>
                  <a:srgbClr val="222222"/>
                </a:solidFill>
                <a:latin typeface="Arial"/>
              </a:rPr>
              <a:t>Export:</a:t>
            </a:r>
            <a:r>
              <a:rPr sz="1700" b="0" i="0">
                <a:solidFill>
                  <a:srgbClr val="222222"/>
                </a:solidFill>
                <a:latin typeface="Arial"/>
              </a:rPr>
              <a:t>  identifier fields are missing from the de-identified CSV</a:t>
            </a:r>
          </a:p>
        </p:txBody>
      </p:sp>
      <p:sp>
        <p:nvSpPr>
          <p:cNvPr id="22" name="TextBox 21"/>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BMI: body mass index   ·   CSV: comma-separated values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Common mistakes, and how to avoid them</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61</a:t>
            </a:r>
          </a:p>
        </p:txBody>
      </p:sp>
      <p:graphicFrame>
        <p:nvGraphicFramePr>
          <p:cNvPr id="8" name="Table 7"/>
          <p:cNvGraphicFramePr>
            <a:graphicFrameLocks noGrp="1"/>
          </p:cNvGraphicFramePr>
          <p:nvPr/>
        </p:nvGraphicFramePr>
        <p:xfrm>
          <a:off x="548640" y="1463040"/>
          <a:ext cx="11091672" cy="3968496"/>
        </p:xfrm>
        <a:graphic>
          <a:graphicData uri="http://schemas.openxmlformats.org/drawingml/2006/table">
            <a:tbl>
              <a:tblPr>
                <a:tableStyleId>{5C22544A-7EE6-4342-B048-85BDC9FD1C3A}</a:tableStyleId>
              </a:tblPr>
              <a:tblGrid>
                <a:gridCol w="548640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tblGrid>
              <a:tr h="566928">
                <a:tc>
                  <a:txBody>
                    <a:bodyPr/>
                    <a:lstStyle/>
                    <a:p>
                      <a:pPr algn="l">
                        <a:spcAft>
                          <a:spcPts val="0"/>
                        </a:spcAft>
                      </a:pPr>
                      <a:r>
                        <a:rPr sz="1500" b="1" i="0">
                          <a:solidFill>
                            <a:srgbClr val="FFFFFF"/>
                          </a:solidFill>
                          <a:latin typeface="Arial"/>
                        </a:rPr>
                        <a:t>Mistake</a:t>
                      </a:r>
                    </a:p>
                  </a:txBody>
                  <a:tcPr marT="36576" marB="36576" anchor="ctr">
                    <a:solidFill>
                      <a:srgbClr val="C8102E"/>
                    </a:solidFill>
                  </a:tcPr>
                </a:tc>
                <a:tc>
                  <a:txBody>
                    <a:bodyPr/>
                    <a:lstStyle/>
                    <a:p>
                      <a:pPr algn="l">
                        <a:spcAft>
                          <a:spcPts val="0"/>
                        </a:spcAft>
                      </a:pPr>
                      <a:r>
                        <a:rPr sz="1500" b="1" i="0">
                          <a:solidFill>
                            <a:srgbClr val="FFFFFF"/>
                          </a:solidFill>
                          <a:latin typeface="Arial"/>
                        </a:rPr>
                        <a:t>Better</a:t>
                      </a:r>
                    </a:p>
                  </a:txBody>
                  <a:tcPr marT="36576" marB="36576" anchor="ctr">
                    <a:solidFill>
                      <a:srgbClr val="2E7D32"/>
                    </a:solidFill>
                  </a:tcPr>
                </a:tc>
                <a:extLst>
                  <a:ext uri="{0D108BD9-81ED-4DB2-BD59-A6C34878D82A}">
                    <a16:rowId xmlns:a16="http://schemas.microsoft.com/office/drawing/2014/main" val="10000"/>
                  </a:ext>
                </a:extLst>
              </a:tr>
              <a:tr h="566928">
                <a:tc>
                  <a:txBody>
                    <a:bodyPr/>
                    <a:lstStyle/>
                    <a:p>
                      <a:pPr algn="l">
                        <a:spcAft>
                          <a:spcPts val="0"/>
                        </a:spcAft>
                      </a:pPr>
                      <a:r>
                        <a:rPr sz="1500" b="0" i="0">
                          <a:solidFill>
                            <a:srgbClr val="C8102E"/>
                          </a:solidFill>
                          <a:latin typeface="Arial"/>
                        </a:rPr>
                        <a:t>Real data in Development</a:t>
                      </a:r>
                    </a:p>
                  </a:txBody>
                  <a:tcPr marT="36576" marB="36576" anchor="ctr">
                    <a:solidFill>
                      <a:srgbClr val="FFFFFF"/>
                    </a:solidFill>
                  </a:tcPr>
                </a:tc>
                <a:tc>
                  <a:txBody>
                    <a:bodyPr/>
                    <a:lstStyle/>
                    <a:p>
                      <a:pPr algn="l">
                        <a:spcAft>
                          <a:spcPts val="0"/>
                        </a:spcAft>
                      </a:pPr>
                      <a:r>
                        <a:rPr sz="1500" b="0" i="0">
                          <a:solidFill>
                            <a:srgbClr val="222222"/>
                          </a:solidFill>
                          <a:latin typeface="Arial"/>
                        </a:rPr>
                        <a:t>Fake data until Production</a:t>
                      </a:r>
                    </a:p>
                  </a:txBody>
                  <a:tcPr marT="36576" marB="36576" anchor="ctr">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500" b="0" i="0">
                          <a:solidFill>
                            <a:srgbClr val="C8102E"/>
                          </a:solidFill>
                          <a:latin typeface="Arial"/>
                        </a:rPr>
                        <a:t>Free text for sex, district, outcome</a:t>
                      </a:r>
                    </a:p>
                  </a:txBody>
                  <a:tcPr marT="36576" marB="36576" anchor="ctr">
                    <a:solidFill>
                      <a:srgbClr val="F2F4F6"/>
                    </a:solidFill>
                  </a:tcPr>
                </a:tc>
                <a:tc>
                  <a:txBody>
                    <a:bodyPr/>
                    <a:lstStyle/>
                    <a:p>
                      <a:pPr algn="l">
                        <a:spcAft>
                          <a:spcPts val="0"/>
                        </a:spcAft>
                      </a:pPr>
                      <a:r>
                        <a:rPr sz="1500" b="0" i="0">
                          <a:solidFill>
                            <a:srgbClr val="222222"/>
                          </a:solidFill>
                          <a:latin typeface="Arial"/>
                        </a:rPr>
                        <a:t>Radio buttons or drop-downs</a:t>
                      </a:r>
                    </a:p>
                  </a:txBody>
                  <a:tcPr marT="36576" marB="36576" anchor="ctr">
                    <a:solidFill>
                      <a:srgbClr val="F2F4F6"/>
                    </a:solidFill>
                  </a:tcPr>
                </a:tc>
                <a:extLst>
                  <a:ext uri="{0D108BD9-81ED-4DB2-BD59-A6C34878D82A}">
                    <a16:rowId xmlns:a16="http://schemas.microsoft.com/office/drawing/2014/main" val="10002"/>
                  </a:ext>
                </a:extLst>
              </a:tr>
              <a:tr h="566928">
                <a:tc>
                  <a:txBody>
                    <a:bodyPr/>
                    <a:lstStyle/>
                    <a:p>
                      <a:pPr algn="l">
                        <a:spcAft>
                          <a:spcPts val="0"/>
                        </a:spcAft>
                      </a:pPr>
                      <a:r>
                        <a:rPr sz="1500" b="0" i="0">
                          <a:solidFill>
                            <a:srgbClr val="C8102E"/>
                          </a:solidFill>
                          <a:latin typeface="Arial"/>
                        </a:rPr>
                        <a:t>med_1, med_2, med_3 fields</a:t>
                      </a:r>
                    </a:p>
                  </a:txBody>
                  <a:tcPr marT="36576" marB="36576" anchor="ctr">
                    <a:solidFill>
                      <a:srgbClr val="FFFFFF"/>
                    </a:solidFill>
                  </a:tcPr>
                </a:tc>
                <a:tc>
                  <a:txBody>
                    <a:bodyPr/>
                    <a:lstStyle/>
                    <a:p>
                      <a:pPr algn="l">
                        <a:spcAft>
                          <a:spcPts val="0"/>
                        </a:spcAft>
                      </a:pPr>
                      <a:r>
                        <a:rPr sz="1500" b="0" i="0">
                          <a:solidFill>
                            <a:srgbClr val="222222"/>
                          </a:solidFill>
                          <a:latin typeface="Arial"/>
                        </a:rPr>
                        <a:t>A repeating instrument</a:t>
                      </a:r>
                    </a:p>
                  </a:txBody>
                  <a:tcPr marT="36576" marB="36576" anchor="ctr">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500" b="0" i="0">
                          <a:solidFill>
                            <a:srgbClr val="C8102E"/>
                          </a:solidFill>
                          <a:latin typeface="Arial"/>
                        </a:rPr>
                        <a:t>Identifier flag not set</a:t>
                      </a:r>
                    </a:p>
                  </a:txBody>
                  <a:tcPr marT="36576" marB="36576" anchor="ctr">
                    <a:solidFill>
                      <a:srgbClr val="F2F4F6"/>
                    </a:solidFill>
                  </a:tcPr>
                </a:tc>
                <a:tc>
                  <a:txBody>
                    <a:bodyPr/>
                    <a:lstStyle/>
                    <a:p>
                      <a:pPr algn="l">
                        <a:spcAft>
                          <a:spcPts val="0"/>
                        </a:spcAft>
                      </a:pPr>
                      <a:r>
                        <a:rPr sz="1500" b="0" i="0">
                          <a:solidFill>
                            <a:srgbClr val="222222"/>
                          </a:solidFill>
                          <a:latin typeface="Arial"/>
                        </a:rPr>
                        <a:t>Tick Identifier for all personal fields</a:t>
                      </a:r>
                    </a:p>
                  </a:txBody>
                  <a:tcPr marT="36576" marB="36576" anchor="ctr">
                    <a:solidFill>
                      <a:srgbClr val="F2F4F6"/>
                    </a:solidFill>
                  </a:tcPr>
                </a:tc>
                <a:extLst>
                  <a:ext uri="{0D108BD9-81ED-4DB2-BD59-A6C34878D82A}">
                    <a16:rowId xmlns:a16="http://schemas.microsoft.com/office/drawing/2014/main" val="10004"/>
                  </a:ext>
                </a:extLst>
              </a:tr>
              <a:tr h="566928">
                <a:tc>
                  <a:txBody>
                    <a:bodyPr/>
                    <a:lstStyle/>
                    <a:p>
                      <a:pPr algn="l">
                        <a:spcAft>
                          <a:spcPts val="0"/>
                        </a:spcAft>
                      </a:pPr>
                      <a:r>
                        <a:rPr sz="1500" b="0" i="0">
                          <a:solidFill>
                            <a:srgbClr val="C8102E"/>
                          </a:solidFill>
                          <a:latin typeface="Arial"/>
                        </a:rPr>
                        <a:t>Renaming variables in Production</a:t>
                      </a:r>
                    </a:p>
                  </a:txBody>
                  <a:tcPr marT="36576" marB="36576" anchor="ctr">
                    <a:solidFill>
                      <a:srgbClr val="FFFFFF"/>
                    </a:solidFill>
                  </a:tcPr>
                </a:tc>
                <a:tc>
                  <a:txBody>
                    <a:bodyPr/>
                    <a:lstStyle/>
                    <a:p>
                      <a:pPr algn="l">
                        <a:spcAft>
                          <a:spcPts val="0"/>
                        </a:spcAft>
                      </a:pPr>
                      <a:r>
                        <a:rPr sz="1500" b="0" i="0">
                          <a:solidFill>
                            <a:srgbClr val="222222"/>
                          </a:solidFill>
                          <a:latin typeface="Arial"/>
                        </a:rPr>
                        <a:t>Fix names before going live</a:t>
                      </a:r>
                    </a:p>
                  </a:txBody>
                  <a:tcPr marT="36576" marB="36576" anchor="ctr">
                    <a:solidFill>
                      <a:srgbClr val="FFFFFF"/>
                    </a:solidFill>
                  </a:tcPr>
                </a:tc>
                <a:extLst>
                  <a:ext uri="{0D108BD9-81ED-4DB2-BD59-A6C34878D82A}">
                    <a16:rowId xmlns:a16="http://schemas.microsoft.com/office/drawing/2014/main" val="10005"/>
                  </a:ext>
                </a:extLst>
              </a:tr>
              <a:tr h="566928">
                <a:tc>
                  <a:txBody>
                    <a:bodyPr/>
                    <a:lstStyle/>
                    <a:p>
                      <a:pPr algn="l">
                        <a:spcAft>
                          <a:spcPts val="0"/>
                        </a:spcAft>
                      </a:pPr>
                      <a:r>
                        <a:rPr sz="1500" b="0" i="0">
                          <a:solidFill>
                            <a:srgbClr val="C8102E"/>
                          </a:solidFill>
                          <a:latin typeface="Arial"/>
                        </a:rPr>
                        <a:t>API token in the script</a:t>
                      </a:r>
                    </a:p>
                  </a:txBody>
                  <a:tcPr marT="36576" marB="36576" anchor="ctr">
                    <a:solidFill>
                      <a:srgbClr val="F2F4F6"/>
                    </a:solidFill>
                  </a:tcPr>
                </a:tc>
                <a:tc>
                  <a:txBody>
                    <a:bodyPr/>
                    <a:lstStyle/>
                    <a:p>
                      <a:pPr algn="l">
                        <a:spcAft>
                          <a:spcPts val="0"/>
                        </a:spcAft>
                      </a:pPr>
                      <a:r>
                        <a:rPr sz="1500" b="0" i="0">
                          <a:solidFill>
                            <a:srgbClr val="222222"/>
                          </a:solidFill>
                          <a:latin typeface="Arial"/>
                        </a:rPr>
                        <a:t>Token in .Renviron</a:t>
                      </a:r>
                    </a:p>
                  </a:txBody>
                  <a:tcPr marT="36576" marB="36576" anchor="ctr">
                    <a:solidFill>
                      <a:srgbClr val="F2F4F6"/>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API: application programming interface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Take-home messages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62</a:t>
            </a:r>
          </a:p>
        </p:txBody>
      </p:sp>
      <p:sp>
        <p:nvSpPr>
          <p:cNvPr id="8" name="Oval 7"/>
          <p:cNvSpPr/>
          <p:nvPr/>
        </p:nvSpPr>
        <p:spPr>
          <a:xfrm>
            <a:off x="548640" y="1463040"/>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1</a:t>
            </a:r>
          </a:p>
        </p:txBody>
      </p:sp>
      <p:sp>
        <p:nvSpPr>
          <p:cNvPr id="9" name="TextBox 8"/>
          <p:cNvSpPr txBox="1"/>
          <p:nvPr/>
        </p:nvSpPr>
        <p:spPr>
          <a:xfrm>
            <a:off x="1143000" y="1444752"/>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Build in </a:t>
            </a:r>
            <a:r>
              <a:rPr sz="1900" b="1" i="0">
                <a:solidFill>
                  <a:srgbClr val="1E88C8"/>
                </a:solidFill>
                <a:latin typeface="Arial"/>
              </a:rPr>
              <a:t>Development</a:t>
            </a:r>
            <a:r>
              <a:rPr sz="1900" b="0" i="0">
                <a:solidFill>
                  <a:srgbClr val="222222"/>
                </a:solidFill>
                <a:latin typeface="Arial"/>
              </a:rPr>
              <a:t> with fake data; go live only after testing</a:t>
            </a:r>
          </a:p>
        </p:txBody>
      </p:sp>
      <p:sp>
        <p:nvSpPr>
          <p:cNvPr id="10" name="Oval 9"/>
          <p:cNvSpPr/>
          <p:nvPr/>
        </p:nvSpPr>
        <p:spPr>
          <a:xfrm>
            <a:off x="548640" y="2121408"/>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2</a:t>
            </a:r>
          </a:p>
        </p:txBody>
      </p:sp>
      <p:sp>
        <p:nvSpPr>
          <p:cNvPr id="11" name="TextBox 10"/>
          <p:cNvSpPr txBox="1"/>
          <p:nvPr/>
        </p:nvSpPr>
        <p:spPr>
          <a:xfrm>
            <a:off x="1143000" y="2103120"/>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Design the </a:t>
            </a:r>
            <a:r>
              <a:rPr sz="1900" b="1" i="0">
                <a:solidFill>
                  <a:srgbClr val="2E7D32"/>
                </a:solidFill>
                <a:latin typeface="Arial"/>
              </a:rPr>
              <a:t>data dictionary first</a:t>
            </a:r>
            <a:r>
              <a:rPr sz="1900" b="0" i="0">
                <a:solidFill>
                  <a:srgbClr val="222222"/>
                </a:solidFill>
                <a:latin typeface="Arial"/>
              </a:rPr>
              <a:t>: it is also your codebook</a:t>
            </a:r>
          </a:p>
        </p:txBody>
      </p:sp>
      <p:sp>
        <p:nvSpPr>
          <p:cNvPr id="12" name="Oval 11"/>
          <p:cNvSpPr/>
          <p:nvPr/>
        </p:nvSpPr>
        <p:spPr>
          <a:xfrm>
            <a:off x="548640" y="2779776"/>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3</a:t>
            </a:r>
          </a:p>
        </p:txBody>
      </p:sp>
      <p:sp>
        <p:nvSpPr>
          <p:cNvPr id="13" name="TextBox 12"/>
          <p:cNvSpPr txBox="1"/>
          <p:nvPr/>
        </p:nvSpPr>
        <p:spPr>
          <a:xfrm>
            <a:off x="1143000" y="2761488"/>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Fixed lists, validation and branching </a:t>
            </a:r>
            <a:r>
              <a:rPr sz="1900" b="1" i="0">
                <a:solidFill>
                  <a:srgbClr val="2E7D32"/>
                </a:solidFill>
                <a:latin typeface="Arial"/>
              </a:rPr>
              <a:t>prevent</a:t>
            </a:r>
            <a:r>
              <a:rPr sz="1900" b="0" i="0">
                <a:solidFill>
                  <a:srgbClr val="222222"/>
                </a:solidFill>
                <a:latin typeface="Arial"/>
              </a:rPr>
              <a:t> errors</a:t>
            </a:r>
          </a:p>
        </p:txBody>
      </p:sp>
      <p:sp>
        <p:nvSpPr>
          <p:cNvPr id="14" name="Oval 13"/>
          <p:cNvSpPr/>
          <p:nvPr/>
        </p:nvSpPr>
        <p:spPr>
          <a:xfrm>
            <a:off x="548640" y="3438144"/>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4</a:t>
            </a:r>
          </a:p>
        </p:txBody>
      </p:sp>
      <p:sp>
        <p:nvSpPr>
          <p:cNvPr id="15" name="TextBox 14"/>
          <p:cNvSpPr txBox="1"/>
          <p:nvPr/>
        </p:nvSpPr>
        <p:spPr>
          <a:xfrm>
            <a:off x="1143000" y="3419856"/>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Choose the </a:t>
            </a:r>
            <a:r>
              <a:rPr sz="1900" b="1" i="0">
                <a:solidFill>
                  <a:srgbClr val="1E88C8"/>
                </a:solidFill>
                <a:latin typeface="Arial"/>
              </a:rPr>
              <a:t>project type</a:t>
            </a:r>
            <a:r>
              <a:rPr sz="1900" b="0" i="0">
                <a:solidFill>
                  <a:srgbClr val="222222"/>
                </a:solidFill>
                <a:latin typeface="Arial"/>
              </a:rPr>
              <a:t> before collecting data</a:t>
            </a:r>
          </a:p>
        </p:txBody>
      </p:sp>
      <p:sp>
        <p:nvSpPr>
          <p:cNvPr id="16" name="Oval 15"/>
          <p:cNvSpPr/>
          <p:nvPr/>
        </p:nvSpPr>
        <p:spPr>
          <a:xfrm>
            <a:off x="548640" y="4096512"/>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5</a:t>
            </a:r>
          </a:p>
        </p:txBody>
      </p:sp>
      <p:sp>
        <p:nvSpPr>
          <p:cNvPr id="17" name="TextBox 16"/>
          <p:cNvSpPr txBox="1"/>
          <p:nvPr/>
        </p:nvSpPr>
        <p:spPr>
          <a:xfrm>
            <a:off x="1143000" y="4078224"/>
            <a:ext cx="10424160" cy="502920"/>
          </a:xfrm>
          <a:prstGeom prst="rect">
            <a:avLst/>
          </a:prstGeom>
          <a:noFill/>
        </p:spPr>
        <p:txBody>
          <a:bodyPr wrap="square" lIns="0" tIns="0" rIns="0" bIns="0" anchor="ctr"/>
          <a:lstStyle/>
          <a:p>
            <a:pPr algn="l">
              <a:spcAft>
                <a:spcPts val="600"/>
              </a:spcAft>
            </a:pPr>
            <a:r>
              <a:rPr sz="1900" b="1" i="0">
                <a:solidFill>
                  <a:srgbClr val="1E88C8"/>
                </a:solidFill>
                <a:latin typeface="Arial"/>
              </a:rPr>
              <a:t>DAGs</a:t>
            </a:r>
            <a:r>
              <a:rPr sz="1900" b="0" i="0">
                <a:solidFill>
                  <a:srgbClr val="222222"/>
                </a:solidFill>
                <a:latin typeface="Arial"/>
              </a:rPr>
              <a:t>, queries and locking make multi-site work traceable</a:t>
            </a:r>
          </a:p>
        </p:txBody>
      </p:sp>
      <p:sp>
        <p:nvSpPr>
          <p:cNvPr id="18" name="Oval 17"/>
          <p:cNvSpPr/>
          <p:nvPr/>
        </p:nvSpPr>
        <p:spPr>
          <a:xfrm>
            <a:off x="548640" y="4754879"/>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6</a:t>
            </a:r>
          </a:p>
        </p:txBody>
      </p:sp>
      <p:sp>
        <p:nvSpPr>
          <p:cNvPr id="19" name="TextBox 18"/>
          <p:cNvSpPr txBox="1"/>
          <p:nvPr/>
        </p:nvSpPr>
        <p:spPr>
          <a:xfrm>
            <a:off x="1143000" y="4736592"/>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Tick </a:t>
            </a:r>
            <a:r>
              <a:rPr sz="1900" b="1" i="0">
                <a:solidFill>
                  <a:srgbClr val="C8102E"/>
                </a:solidFill>
                <a:latin typeface="Arial"/>
              </a:rPr>
              <a:t>Identifier</a:t>
            </a:r>
            <a:r>
              <a:rPr sz="1900" b="0" i="0">
                <a:solidFill>
                  <a:srgbClr val="222222"/>
                </a:solidFill>
                <a:latin typeface="Arial"/>
              </a:rPr>
              <a:t> so exports can be de-identified</a:t>
            </a:r>
          </a:p>
        </p:txBody>
      </p:sp>
      <p:sp>
        <p:nvSpPr>
          <p:cNvPr id="20" name="Oval 19"/>
          <p:cNvSpPr/>
          <p:nvPr/>
        </p:nvSpPr>
        <p:spPr>
          <a:xfrm>
            <a:off x="548640" y="5413248"/>
            <a:ext cx="411480" cy="41148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600"/>
              </a:spcAft>
            </a:pPr>
            <a:r>
              <a:rPr sz="1300" b="1" i="0">
                <a:solidFill>
                  <a:srgbClr val="FFFFFF"/>
                </a:solidFill>
                <a:latin typeface="Arial"/>
              </a:rPr>
              <a:t>7</a:t>
            </a:r>
          </a:p>
        </p:txBody>
      </p:sp>
      <p:sp>
        <p:nvSpPr>
          <p:cNvPr id="21" name="TextBox 20"/>
          <p:cNvSpPr txBox="1"/>
          <p:nvPr/>
        </p:nvSpPr>
        <p:spPr>
          <a:xfrm>
            <a:off x="1143000" y="5394960"/>
            <a:ext cx="10424160" cy="502920"/>
          </a:xfrm>
          <a:prstGeom prst="rect">
            <a:avLst/>
          </a:prstGeom>
          <a:noFill/>
        </p:spPr>
        <p:txBody>
          <a:bodyPr wrap="square" lIns="0" tIns="0" rIns="0" bIns="0" anchor="ctr"/>
          <a:lstStyle/>
          <a:p>
            <a:pPr algn="l">
              <a:spcAft>
                <a:spcPts val="600"/>
              </a:spcAft>
            </a:pPr>
            <a:r>
              <a:rPr sz="1900" b="0" i="0">
                <a:solidFill>
                  <a:srgbClr val="222222"/>
                </a:solidFill>
                <a:latin typeface="Arial"/>
              </a:rPr>
              <a:t>Rewatch any step: projectredcap.org/resources/videos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66928"/>
            <a:ext cx="11064240" cy="640080"/>
          </a:xfrm>
          <a:prstGeom prst="rect">
            <a:avLst/>
          </a:prstGeom>
          <a:noFill/>
        </p:spPr>
        <p:txBody>
          <a:bodyPr wrap="square" lIns="0" tIns="0" rIns="0" bIns="0" anchor="t"/>
          <a:lstStyle/>
          <a:p>
            <a:pPr algn="l">
              <a:spcAft>
                <a:spcPts val="600"/>
              </a:spcAft>
            </a:pPr>
            <a:r>
              <a:rPr sz="2800" b="0" i="0">
                <a:solidFill>
                  <a:srgbClr val="C8102E"/>
                </a:solidFill>
                <a:latin typeface="Arial"/>
              </a:rPr>
              <a:t>Resources</a:t>
            </a:r>
          </a:p>
        </p:txBody>
      </p:sp>
      <p:sp>
        <p:nvSpPr>
          <p:cNvPr id="6" name="TextBox 5"/>
          <p:cNvSpPr txBox="1"/>
          <p:nvPr/>
        </p:nvSpPr>
        <p:spPr>
          <a:xfrm>
            <a:off x="548640" y="6510528"/>
            <a:ext cx="8229600" cy="228600"/>
          </a:xfrm>
          <a:prstGeom prst="rect">
            <a:avLst/>
          </a:prstGeom>
          <a:noFill/>
        </p:spPr>
        <p:txBody>
          <a:bodyPr wrap="square" lIns="0" tIns="0" rIns="0" bIns="0" anchor="t"/>
          <a:lstStyle/>
          <a:p>
            <a:pPr algn="l">
              <a:spcAft>
                <a:spcPts val="600"/>
              </a:spcAft>
            </a:pPr>
            <a:r>
              <a:rPr sz="900" b="0" i="0">
                <a:solidFill>
                  <a:srgbClr val="A3A9AF"/>
                </a:solidFill>
                <a:latin typeface="Arial"/>
              </a:rPr>
              <a:t>MEPI  ·  Research Data Management  ·  REDCap training</a:t>
            </a:r>
          </a:p>
        </p:txBody>
      </p:sp>
      <p:sp>
        <p:nvSpPr>
          <p:cNvPr id="7" name="TextBox 6"/>
          <p:cNvSpPr txBox="1"/>
          <p:nvPr/>
        </p:nvSpPr>
        <p:spPr>
          <a:xfrm>
            <a:off x="10725912" y="6510528"/>
            <a:ext cx="914400" cy="228600"/>
          </a:xfrm>
          <a:prstGeom prst="rect">
            <a:avLst/>
          </a:prstGeom>
          <a:noFill/>
        </p:spPr>
        <p:txBody>
          <a:bodyPr wrap="square" lIns="0" tIns="0" rIns="0" bIns="0" anchor="t"/>
          <a:lstStyle/>
          <a:p>
            <a:pPr algn="r">
              <a:spcAft>
                <a:spcPts val="600"/>
              </a:spcAft>
            </a:pPr>
            <a:r>
              <a:rPr sz="900" b="0" i="0">
                <a:solidFill>
                  <a:srgbClr val="A3A9AF"/>
                </a:solidFill>
                <a:latin typeface="Arial"/>
              </a:rPr>
              <a:t>63</a:t>
            </a:r>
          </a:p>
        </p:txBody>
      </p:sp>
      <p:sp>
        <p:nvSpPr>
          <p:cNvPr id="8" name="Rectangle 7"/>
          <p:cNvSpPr/>
          <p:nvPr/>
        </p:nvSpPr>
        <p:spPr>
          <a:xfrm>
            <a:off x="548640" y="146304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768_1E88C8.png"/>
          <p:cNvPicPr>
            <a:picLocks noChangeAspect="1"/>
          </p:cNvPicPr>
          <p:nvPr/>
        </p:nvPicPr>
        <p:blipFill>
          <a:blip r:embed="rId3"/>
          <a:stretch>
            <a:fillRect/>
          </a:stretch>
        </p:blipFill>
        <p:spPr>
          <a:xfrm>
            <a:off x="731520" y="1737360"/>
            <a:ext cx="457200" cy="457200"/>
          </a:xfrm>
          <a:prstGeom prst="rect">
            <a:avLst/>
          </a:prstGeom>
        </p:spPr>
      </p:pic>
      <p:sp>
        <p:nvSpPr>
          <p:cNvPr id="10" name="TextBox 9"/>
          <p:cNvSpPr txBox="1"/>
          <p:nvPr/>
        </p:nvSpPr>
        <p:spPr>
          <a:xfrm>
            <a:off x="1371600" y="150876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REDCap training videos</a:t>
            </a:r>
          </a:p>
          <a:p>
            <a:pPr algn="l">
              <a:spcAft>
                <a:spcPts val="600"/>
              </a:spcAft>
            </a:pPr>
            <a:r>
              <a:rPr sz="1200" b="0" i="0">
                <a:solidFill>
                  <a:srgbClr val="62676D"/>
                </a:solidFill>
                <a:latin typeface="Arial"/>
              </a:rPr>
              <a:t>projectredcap.org/resources/videos (23 videos)</a:t>
            </a:r>
          </a:p>
        </p:txBody>
      </p:sp>
      <p:sp>
        <p:nvSpPr>
          <p:cNvPr id="11" name="Rectangle 10"/>
          <p:cNvSpPr/>
          <p:nvPr/>
        </p:nvSpPr>
        <p:spPr>
          <a:xfrm>
            <a:off x="6217920" y="146304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E946_1E88C8.png"/>
          <p:cNvPicPr>
            <a:picLocks noChangeAspect="1"/>
          </p:cNvPicPr>
          <p:nvPr/>
        </p:nvPicPr>
        <p:blipFill>
          <a:blip r:embed="rId4"/>
          <a:stretch>
            <a:fillRect/>
          </a:stretch>
        </p:blipFill>
        <p:spPr>
          <a:xfrm>
            <a:off x="6400800" y="1737360"/>
            <a:ext cx="457200" cy="457200"/>
          </a:xfrm>
          <a:prstGeom prst="rect">
            <a:avLst/>
          </a:prstGeom>
        </p:spPr>
      </p:pic>
      <p:sp>
        <p:nvSpPr>
          <p:cNvPr id="13" name="TextBox 12"/>
          <p:cNvSpPr txBox="1"/>
          <p:nvPr/>
        </p:nvSpPr>
        <p:spPr>
          <a:xfrm>
            <a:off x="7040880" y="150876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Help and FAQ inside REDCap</a:t>
            </a:r>
          </a:p>
          <a:p>
            <a:pPr algn="l">
              <a:spcAft>
                <a:spcPts val="600"/>
              </a:spcAft>
            </a:pPr>
            <a:r>
              <a:rPr sz="1200" b="0" i="0">
                <a:solidFill>
                  <a:srgbClr val="62676D"/>
                </a:solidFill>
                <a:latin typeface="Arial"/>
              </a:rPr>
              <a:t>always matches your version</a:t>
            </a:r>
          </a:p>
        </p:txBody>
      </p:sp>
      <p:sp>
        <p:nvSpPr>
          <p:cNvPr id="14" name="Rectangle 13"/>
          <p:cNvSpPr/>
          <p:nvPr/>
        </p:nvSpPr>
        <p:spPr>
          <a:xfrm>
            <a:off x="548640" y="265176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8F1_1E88C8.png"/>
          <p:cNvPicPr>
            <a:picLocks noChangeAspect="1"/>
          </p:cNvPicPr>
          <p:nvPr/>
        </p:nvPicPr>
        <p:blipFill>
          <a:blip r:embed="rId5"/>
          <a:stretch>
            <a:fillRect/>
          </a:stretch>
        </p:blipFill>
        <p:spPr>
          <a:xfrm>
            <a:off x="731520" y="2926080"/>
            <a:ext cx="457200" cy="457200"/>
          </a:xfrm>
          <a:prstGeom prst="rect">
            <a:avLst/>
          </a:prstGeom>
        </p:spPr>
      </p:pic>
      <p:sp>
        <p:nvSpPr>
          <p:cNvPr id="16" name="TextBox 15"/>
          <p:cNvSpPr txBox="1"/>
          <p:nvPr/>
        </p:nvSpPr>
        <p:spPr>
          <a:xfrm>
            <a:off x="1371600" y="269748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Instrument Library</a:t>
            </a:r>
          </a:p>
          <a:p>
            <a:pPr algn="l">
              <a:spcAft>
                <a:spcPts val="600"/>
              </a:spcAft>
            </a:pPr>
            <a:r>
              <a:rPr sz="1200" b="0" i="0">
                <a:solidFill>
                  <a:srgbClr val="62676D"/>
                </a:solidFill>
                <a:latin typeface="Arial"/>
              </a:rPr>
              <a:t>validated instruments, ready to import</a:t>
            </a:r>
          </a:p>
        </p:txBody>
      </p:sp>
      <p:sp>
        <p:nvSpPr>
          <p:cNvPr id="17" name="Rectangle 16"/>
          <p:cNvSpPr/>
          <p:nvPr/>
        </p:nvSpPr>
        <p:spPr>
          <a:xfrm>
            <a:off x="6217920" y="265176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E716_1E88C8.png"/>
          <p:cNvPicPr>
            <a:picLocks noChangeAspect="1"/>
          </p:cNvPicPr>
          <p:nvPr/>
        </p:nvPicPr>
        <p:blipFill>
          <a:blip r:embed="rId6"/>
          <a:stretch>
            <a:fillRect/>
          </a:stretch>
        </p:blipFill>
        <p:spPr>
          <a:xfrm>
            <a:off x="6400800" y="2926080"/>
            <a:ext cx="457200" cy="457200"/>
          </a:xfrm>
          <a:prstGeom prst="rect">
            <a:avLst/>
          </a:prstGeom>
        </p:spPr>
      </p:pic>
      <p:sp>
        <p:nvSpPr>
          <p:cNvPr id="19" name="TextBox 18"/>
          <p:cNvSpPr txBox="1"/>
          <p:nvPr/>
        </p:nvSpPr>
        <p:spPr>
          <a:xfrm>
            <a:off x="7040880" y="269748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UAntwerp REDCap</a:t>
            </a:r>
          </a:p>
          <a:p>
            <a:pPr algn="l">
              <a:spcAft>
                <a:spcPts val="600"/>
              </a:spcAft>
            </a:pPr>
            <a:r>
              <a:rPr sz="1200" b="0" i="0">
                <a:solidFill>
                  <a:srgbClr val="62676D"/>
                </a:solidFill>
                <a:latin typeface="Arial"/>
              </a:rPr>
              <a:t>redcap.uantwerpen.be  ·  ask your administrator</a:t>
            </a:r>
          </a:p>
        </p:txBody>
      </p:sp>
      <p:sp>
        <p:nvSpPr>
          <p:cNvPr id="20" name="Rectangle 19"/>
          <p:cNvSpPr/>
          <p:nvPr/>
        </p:nvSpPr>
        <p:spPr>
          <a:xfrm>
            <a:off x="548640" y="384048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8D7_1E88C8.png"/>
          <p:cNvPicPr>
            <a:picLocks noChangeAspect="1"/>
          </p:cNvPicPr>
          <p:nvPr/>
        </p:nvPicPr>
        <p:blipFill>
          <a:blip r:embed="rId7"/>
          <a:stretch>
            <a:fillRect/>
          </a:stretch>
        </p:blipFill>
        <p:spPr>
          <a:xfrm>
            <a:off x="731520" y="4114800"/>
            <a:ext cx="457200" cy="457200"/>
          </a:xfrm>
          <a:prstGeom prst="rect">
            <a:avLst/>
          </a:prstGeom>
        </p:spPr>
      </p:pic>
      <p:sp>
        <p:nvSpPr>
          <p:cNvPr id="22" name="TextBox 21"/>
          <p:cNvSpPr txBox="1"/>
          <p:nvPr/>
        </p:nvSpPr>
        <p:spPr>
          <a:xfrm>
            <a:off x="1371600" y="388620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RDM support</a:t>
            </a:r>
          </a:p>
          <a:p>
            <a:pPr algn="l">
              <a:spcAft>
                <a:spcPts val="600"/>
              </a:spcAft>
            </a:pPr>
            <a:r>
              <a:rPr sz="1200" b="0" i="0">
                <a:solidFill>
                  <a:srgbClr val="62676D"/>
                </a:solidFill>
                <a:latin typeface="Arial"/>
              </a:rPr>
              <a:t>rdm-support@uantwerpen.be</a:t>
            </a:r>
          </a:p>
        </p:txBody>
      </p:sp>
      <p:sp>
        <p:nvSpPr>
          <p:cNvPr id="23" name="Rectangle 22"/>
          <p:cNvSpPr/>
          <p:nvPr/>
        </p:nvSpPr>
        <p:spPr>
          <a:xfrm>
            <a:off x="6217920" y="3840480"/>
            <a:ext cx="5422392" cy="10058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E8A5_1E88C8.png"/>
          <p:cNvPicPr>
            <a:picLocks noChangeAspect="1"/>
          </p:cNvPicPr>
          <p:nvPr/>
        </p:nvPicPr>
        <p:blipFill>
          <a:blip r:embed="rId8"/>
          <a:stretch>
            <a:fillRect/>
          </a:stretch>
        </p:blipFill>
        <p:spPr>
          <a:xfrm>
            <a:off x="6400800" y="4114800"/>
            <a:ext cx="457200" cy="457200"/>
          </a:xfrm>
          <a:prstGeom prst="rect">
            <a:avLst/>
          </a:prstGeom>
        </p:spPr>
      </p:pic>
      <p:sp>
        <p:nvSpPr>
          <p:cNvPr id="25" name="TextBox 24"/>
          <p:cNvSpPr txBox="1"/>
          <p:nvPr/>
        </p:nvSpPr>
        <p:spPr>
          <a:xfrm>
            <a:off x="7040880" y="3886200"/>
            <a:ext cx="4480560" cy="914400"/>
          </a:xfrm>
          <a:prstGeom prst="rect">
            <a:avLst/>
          </a:prstGeom>
          <a:noFill/>
        </p:spPr>
        <p:txBody>
          <a:bodyPr wrap="square" lIns="0" tIns="0" rIns="0" bIns="0" anchor="ctr"/>
          <a:lstStyle/>
          <a:p>
            <a:pPr algn="l">
              <a:spcAft>
                <a:spcPts val="100"/>
              </a:spcAft>
            </a:pPr>
            <a:r>
              <a:rPr sz="1500" b="1" i="0">
                <a:solidFill>
                  <a:srgbClr val="41464C"/>
                </a:solidFill>
                <a:latin typeface="Arial"/>
              </a:rPr>
              <a:t>Part 2 of this course</a:t>
            </a:r>
          </a:p>
          <a:p>
            <a:pPr algn="l">
              <a:spcAft>
                <a:spcPts val="600"/>
              </a:spcAft>
            </a:pPr>
            <a:r>
              <a:rPr sz="1200" b="0" i="0">
                <a:solidFill>
                  <a:srgbClr val="62676D"/>
                </a:solidFill>
                <a:latin typeface="Arial"/>
              </a:rPr>
              <a:t>the DMP and the TBCARE case study</a:t>
            </a:r>
          </a:p>
        </p:txBody>
      </p:sp>
      <p:sp>
        <p:nvSpPr>
          <p:cNvPr id="26" name="TextBox 25"/>
          <p:cNvSpPr txBox="1"/>
          <p:nvPr/>
        </p:nvSpPr>
        <p:spPr>
          <a:xfrm>
            <a:off x="548640" y="6053328"/>
            <a:ext cx="7498079" cy="438912"/>
          </a:xfrm>
          <a:prstGeom prst="rect">
            <a:avLst/>
          </a:prstGeom>
          <a:noFill/>
        </p:spPr>
        <p:txBody>
          <a:bodyPr wrap="square" lIns="0" tIns="0" rIns="0" bIns="0" anchor="b"/>
          <a:lstStyle/>
          <a:p>
            <a:pPr algn="l">
              <a:spcAft>
                <a:spcPts val="600"/>
              </a:spcAft>
            </a:pPr>
            <a:r>
              <a:rPr sz="850" b="0" i="0">
                <a:solidFill>
                  <a:srgbClr val="62676D"/>
                </a:solidFill>
                <a:latin typeface="Arial"/>
              </a:rPr>
              <a:t>REDCap: Research Electronic Data Capture   ·   RDM: research data management   ·   DMP: Data Management Plan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103120"/>
            <a:ext cx="10972800" cy="914400"/>
          </a:xfrm>
          <a:prstGeom prst="rect">
            <a:avLst/>
          </a:prstGeom>
          <a:noFill/>
        </p:spPr>
        <p:txBody>
          <a:bodyPr wrap="square" lIns="0" tIns="0" rIns="0" bIns="0" anchor="t"/>
          <a:lstStyle/>
          <a:p>
            <a:pPr algn="l">
              <a:spcAft>
                <a:spcPts val="600"/>
              </a:spcAft>
            </a:pPr>
            <a:r>
              <a:rPr sz="4800" b="1" i="0">
                <a:solidFill>
                  <a:srgbClr val="C8102E"/>
                </a:solidFill>
                <a:latin typeface="Arial"/>
              </a:rPr>
              <a:t>Questions?</a:t>
            </a:r>
          </a:p>
        </p:txBody>
      </p:sp>
      <p:sp>
        <p:nvSpPr>
          <p:cNvPr id="6" name="TextBox 5"/>
          <p:cNvSpPr txBox="1"/>
          <p:nvPr/>
        </p:nvSpPr>
        <p:spPr>
          <a:xfrm>
            <a:off x="548640" y="3108960"/>
            <a:ext cx="10972800" cy="548640"/>
          </a:xfrm>
          <a:prstGeom prst="rect">
            <a:avLst/>
          </a:prstGeom>
          <a:noFill/>
        </p:spPr>
        <p:txBody>
          <a:bodyPr wrap="square" lIns="0" tIns="0" rIns="0" bIns="0" anchor="t"/>
          <a:lstStyle/>
          <a:p>
            <a:pPr algn="l">
              <a:spcAft>
                <a:spcPts val="600"/>
              </a:spcAft>
            </a:pPr>
            <a:r>
              <a:rPr sz="2000" b="0" i="0">
                <a:solidFill>
                  <a:srgbClr val="41464C"/>
                </a:solidFill>
                <a:latin typeface="Arial"/>
              </a:rPr>
              <a:t>Bernard Osangir  &amp;  Tafadzwa Maseko</a:t>
            </a:r>
          </a:p>
        </p:txBody>
      </p:sp>
      <p:sp>
        <p:nvSpPr>
          <p:cNvPr id="7" name="TextBox 6"/>
          <p:cNvSpPr txBox="1"/>
          <p:nvPr/>
        </p:nvSpPr>
        <p:spPr>
          <a:xfrm>
            <a:off x="548640" y="3657600"/>
            <a:ext cx="10972800" cy="457200"/>
          </a:xfrm>
          <a:prstGeom prst="rect">
            <a:avLst/>
          </a:prstGeom>
          <a:noFill/>
        </p:spPr>
        <p:txBody>
          <a:bodyPr wrap="square" lIns="0" tIns="0" rIns="0" bIns="0" anchor="t"/>
          <a:lstStyle/>
          <a:p>
            <a:pPr algn="l">
              <a:spcAft>
                <a:spcPts val="600"/>
              </a:spcAft>
            </a:pPr>
            <a:r>
              <a:rPr sz="1500" b="0" i="0">
                <a:solidFill>
                  <a:srgbClr val="62676D"/>
                </a:solidFill>
                <a:latin typeface="Arial"/>
              </a:rPr>
              <a:t>projectredcap.org/resources/videos  ·  rdm-support@uantwerpen.be</a:t>
            </a:r>
          </a:p>
        </p:txBody>
      </p:sp>
      <p:pic>
        <p:nvPicPr>
          <p:cNvPr id="8" name="Picture 7" descr="logo.jpeg"/>
          <p:cNvPicPr>
            <a:picLocks noChangeAspect="1"/>
          </p:cNvPicPr>
          <p:nvPr/>
        </p:nvPicPr>
        <p:blipFill>
          <a:blip r:embed="rId3"/>
          <a:stretch>
            <a:fillRect/>
          </a:stretch>
        </p:blipFill>
        <p:spPr>
          <a:xfrm>
            <a:off x="457200" y="5120640"/>
            <a:ext cx="2743200" cy="1271016"/>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6" name="TextBox 5"/>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46</a:t>
            </a:r>
          </a:p>
        </p:txBody>
      </p:sp>
      <p:sp>
        <p:nvSpPr>
          <p:cNvPr id="7" name="TextBox 6"/>
          <p:cNvSpPr txBox="1"/>
          <p:nvPr/>
        </p:nvSpPr>
        <p:spPr>
          <a:xfrm>
            <a:off x="548640" y="1188720"/>
            <a:ext cx="5486400" cy="365760"/>
          </a:xfrm>
          <a:prstGeom prst="rect">
            <a:avLst/>
          </a:prstGeom>
          <a:noFill/>
        </p:spPr>
        <p:txBody>
          <a:bodyPr wrap="square" lIns="0" rIns="0" tIns="0" bIns="0" anchor="t"/>
          <a:lstStyle/>
          <a:p>
            <a:pPr algn="l">
              <a:spcAft>
                <a:spcPts val="600"/>
              </a:spcAft>
            </a:pPr>
            <a:r>
              <a:rPr sz="1300" b="1" i="0">
                <a:solidFill>
                  <a:srgbClr val="1E88C8"/>
                </a:solidFill>
                <a:latin typeface="Arial"/>
              </a:rPr>
              <a:t>EXTENSION  ·  TBCARE</a:t>
            </a:r>
          </a:p>
        </p:txBody>
      </p:sp>
      <p:sp>
        <p:nvSpPr>
          <p:cNvPr id="8" name="TextBox 7"/>
          <p:cNvSpPr txBox="1"/>
          <p:nvPr/>
        </p:nvSpPr>
        <p:spPr>
          <a:xfrm>
            <a:off x="548640" y="1600200"/>
            <a:ext cx="7772400" cy="1280160"/>
          </a:xfrm>
          <a:prstGeom prst="rect">
            <a:avLst/>
          </a:prstGeom>
          <a:noFill/>
        </p:spPr>
        <p:txBody>
          <a:bodyPr wrap="square" lIns="0" rIns="0" tIns="0" bIns="0" anchor="t"/>
          <a:lstStyle/>
          <a:p>
            <a:pPr algn="l">
              <a:spcAft>
                <a:spcPts val="600"/>
              </a:spcAft>
            </a:pPr>
            <a:r>
              <a:rPr sz="4000" b="0" i="0">
                <a:solidFill>
                  <a:srgbClr val="C8102E"/>
                </a:solidFill>
                <a:latin typeface="Arial"/>
              </a:rPr>
              <a:t>From paper CRF to analysis in R</a:t>
            </a:r>
          </a:p>
        </p:txBody>
      </p:sp>
      <p:sp>
        <p:nvSpPr>
          <p:cNvPr id="9" name="Rectangle 8"/>
          <p:cNvSpPr/>
          <p:nvPr/>
        </p:nvSpPr>
        <p:spPr>
          <a:xfrm>
            <a:off x="566928" y="3017520"/>
            <a:ext cx="6949440" cy="27432"/>
          </a:xfrm>
          <a:prstGeom prst="rect">
            <a:avLst/>
          </a:prstGeom>
          <a:solidFill>
            <a:srgbClr val="C9C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7132320" cy="2743200"/>
          </a:xfrm>
          <a:prstGeom prst="rect">
            <a:avLst/>
          </a:prstGeom>
          <a:noFill/>
        </p:spPr>
        <p:txBody>
          <a:bodyPr wrap="square" lIns="0" rIns="0" tIns="0" bIns="0" anchor="t"/>
          <a:lstStyle/>
          <a:p>
            <a:pPr algn="l" marL="256032" indent="-256032">
              <a:spcAft>
                <a:spcPts val="800"/>
              </a:spcAft>
              <a:buClr>
                <a:srgbClr val="1E88C8"/>
              </a:buClr>
              <a:buSzPct val="75000"/>
              <a:buFont typeface="Arial"/>
              <a:buChar char="■"/>
            </a:pPr>
            <a:r>
              <a:rPr sz="1800" b="0" i="0">
                <a:solidFill>
                  <a:srgbClr val="222222"/>
                </a:solidFill>
                <a:latin typeface="Arial"/>
              </a:rPr>
              <a:t>The database development roadmap</a:t>
            </a:r>
          </a:p>
          <a:p>
            <a:pPr algn="l" marL="256032" indent="-256032">
              <a:spcAft>
                <a:spcPts val="800"/>
              </a:spcAft>
              <a:buClr>
                <a:srgbClr val="1E88C8"/>
              </a:buClr>
              <a:buSzPct val="75000"/>
              <a:buFont typeface="Arial"/>
              <a:buChar char="■"/>
            </a:pPr>
            <a:r>
              <a:rPr sz="1800" b="0" i="0">
                <a:solidFill>
                  <a:srgbClr val="222222"/>
                </a:solidFill>
                <a:latin typeface="Arial"/>
              </a:rPr>
              <a:t>TBCARE design: two arms, repeating events</a:t>
            </a:r>
          </a:p>
          <a:p>
            <a:pPr algn="l" marL="256032" indent="-256032">
              <a:spcAft>
                <a:spcPts val="800"/>
              </a:spcAft>
              <a:buClr>
                <a:srgbClr val="1E88C8"/>
              </a:buClr>
              <a:buSzPct val="75000"/>
              <a:buFont typeface="Arial"/>
              <a:buChar char="■"/>
            </a:pPr>
            <a:r>
              <a:rPr sz="1800" b="0" i="0">
                <a:solidFill>
                  <a:srgbClr val="222222"/>
                </a:solidFill>
                <a:latin typeface="Arial"/>
              </a:rPr>
              <a:t>The data dictionary and build order</a:t>
            </a:r>
          </a:p>
          <a:p>
            <a:pPr algn="l" marL="256032" indent="-256032">
              <a:spcAft>
                <a:spcPts val="800"/>
              </a:spcAft>
              <a:buClr>
                <a:srgbClr val="1E88C8"/>
              </a:buClr>
              <a:buSzPct val="75000"/>
              <a:buFont typeface="Arial"/>
              <a:buChar char="■"/>
            </a:pPr>
            <a:r>
              <a:rPr sz="1800" b="0" i="0">
                <a:solidFill>
                  <a:srgbClr val="222222"/>
                </a:solidFill>
                <a:latin typeface="Arial"/>
              </a:rPr>
              <a:t>Uploading simulated data</a:t>
            </a:r>
          </a:p>
          <a:p>
            <a:pPr algn="l" marL="256032" indent="-256032">
              <a:spcAft>
                <a:spcPts val="800"/>
              </a:spcAft>
              <a:buClr>
                <a:srgbClr val="1E88C8"/>
              </a:buClr>
              <a:buSzPct val="75000"/>
              <a:buFont typeface="Arial"/>
              <a:buChar char="■"/>
            </a:pPr>
            <a:r>
              <a:rPr sz="1800" b="0" i="0">
                <a:solidFill>
                  <a:srgbClr val="222222"/>
                </a:solidFill>
                <a:latin typeface="Arial"/>
              </a:rPr>
              <a:t>Record linking with the national TB register</a:t>
            </a:r>
          </a:p>
          <a:p>
            <a:pPr algn="l" marL="256032" indent="-256032">
              <a:spcAft>
                <a:spcPts val="800"/>
              </a:spcAft>
              <a:buClr>
                <a:srgbClr val="1E88C8"/>
              </a:buClr>
              <a:buSzPct val="75000"/>
              <a:buFont typeface="Arial"/>
              <a:buChar char="■"/>
            </a:pPr>
            <a:r>
              <a:rPr sz="1800" b="0" i="0">
                <a:solidFill>
                  <a:srgbClr val="222222"/>
                </a:solidFill>
                <a:latin typeface="Arial"/>
              </a:rPr>
              <a:t>R: REDCapR, REDCapDM, REDCapSync and RosyREDCap</a:t>
            </a:r>
          </a:p>
        </p:txBody>
      </p:sp>
      <p:sp>
        <p:nvSpPr>
          <p:cNvPr id="11" name="Rectangle 10"/>
          <p:cNvSpPr/>
          <p:nvPr/>
        </p:nvSpPr>
        <p:spPr>
          <a:xfrm>
            <a:off x="8138160" y="1280160"/>
            <a:ext cx="350215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8247888" y="1344168"/>
            <a:ext cx="329184" cy="329184"/>
          </a:xfrm>
          <a:prstGeom prst="rect">
            <a:avLst/>
          </a:prstGeom>
        </p:spPr>
      </p:pic>
      <p:sp>
        <p:nvSpPr>
          <p:cNvPr id="13" name="TextBox 12"/>
          <p:cNvSpPr txBox="1"/>
          <p:nvPr/>
        </p:nvSpPr>
        <p:spPr>
          <a:xfrm>
            <a:off x="8686800" y="1280160"/>
            <a:ext cx="2862072" cy="457200"/>
          </a:xfrm>
          <a:prstGeom prst="rect">
            <a:avLst/>
          </a:prstGeom>
          <a:noFill/>
        </p:spPr>
        <p:txBody>
          <a:bodyPr wrap="square" lIns="0" rIns="0" tIns="0" bIns="0" anchor="ctr"/>
          <a:lstStyle/>
          <a:p>
            <a:pPr algn="l">
              <a:spcAft>
                <a:spcPts val="600"/>
              </a:spcAft>
            </a:pPr>
            <a:r>
              <a:rPr sz="1500" b="1" i="0">
                <a:solidFill>
                  <a:srgbClr val="FFFFFF"/>
                </a:solidFill>
                <a:latin typeface="Arial"/>
              </a:rPr>
              <a:t>On the website</a:t>
            </a:r>
          </a:p>
        </p:txBody>
      </p:sp>
      <p:sp>
        <p:nvSpPr>
          <p:cNvPr id="14" name="Rectangle 13"/>
          <p:cNvSpPr/>
          <p:nvPr/>
        </p:nvSpPr>
        <p:spPr>
          <a:xfrm>
            <a:off x="8138160" y="1737360"/>
            <a:ext cx="3502152" cy="3749039"/>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47088"/>
            <a:ext cx="3227832" cy="3566159"/>
          </a:xfrm>
          <a:prstGeom prst="rect">
            <a:avLst/>
          </a:prstGeom>
          <a:noFill/>
        </p:spPr>
        <p:txBody>
          <a:bodyPr wrap="square" lIns="0" rIns="0" tIns="0" bIns="0" anchor="t"/>
          <a:lstStyle/>
          <a:p>
            <a:pPr algn="l">
              <a:spcAft>
                <a:spcPts val="400"/>
              </a:spcAft>
            </a:pPr>
            <a:r>
              <a:rPr sz="1400" b="0" i="0">
                <a:solidFill>
                  <a:srgbClr val="222222"/>
                </a:solidFill>
                <a:latin typeface="Arial"/>
              </a:rPr>
              <a:t>Slides and CRFs</a:t>
            </a:r>
          </a:p>
          <a:p>
            <a:pPr algn="l">
              <a:spcAft>
                <a:spcPts val="400"/>
              </a:spcAft>
            </a:pPr>
            <a:r>
              <a:rPr sz="1400" b="0" i="0">
                <a:solidFill>
                  <a:srgbClr val="222222"/>
                </a:solidFill>
                <a:latin typeface="Arial"/>
              </a:rPr>
              <a:t>Data dictionary</a:t>
            </a:r>
          </a:p>
          <a:p>
            <a:pPr algn="l">
              <a:spcAft>
                <a:spcPts val="400"/>
              </a:spcAft>
            </a:pPr>
            <a:r>
              <a:rPr sz="1400" b="0" i="0">
                <a:solidFill>
                  <a:srgbClr val="222222"/>
                </a:solidFill>
                <a:latin typeface="Arial"/>
              </a:rPr>
              <a:t>Simulated data</a:t>
            </a:r>
          </a:p>
          <a:p>
            <a:pPr algn="l">
              <a:spcAft>
                <a:spcPts val="400"/>
              </a:spcAft>
            </a:pPr>
            <a:r>
              <a:rPr sz="1400" b="0" i="0">
                <a:solidFill>
                  <a:srgbClr val="222222"/>
                </a:solidFill>
                <a:latin typeface="Arial"/>
              </a:rPr>
              <a:t>R scripts</a:t>
            </a:r>
          </a:p>
          <a:p>
            <a:pPr algn="l">
              <a:spcAft>
                <a:spcPts val="400"/>
              </a:spcAft>
            </a:pPr>
            <a:r>
              <a:rPr sz="1400" b="0" i="0">
                <a:solidFill>
                  <a:srgbClr val="222222"/>
                </a:solidFill>
                <a:latin typeface="Arial"/>
              </a:rPr>
              <a:t>R you can run in the browser</a:t>
            </a:r>
          </a:p>
          <a:p>
            <a:pPr algn="l">
              <a:spcAft>
                <a:spcPts val="400"/>
              </a:spcAft>
            </a:pPr>
          </a:p>
          <a:p>
            <a:pPr algn="l">
              <a:spcAft>
                <a:spcPts val="400"/>
              </a:spcAft>
            </a:pPr>
            <a:r>
              <a:rPr sz="1400" b="1" i="0">
                <a:solidFill>
                  <a:srgbClr val="1E88C8"/>
                </a:solidFill>
                <a:latin typeface="Arial"/>
              </a:rPr>
              <a:t>bosangir.github.io/</a:t>
            </a:r>
          </a:p>
          <a:p>
            <a:pPr algn="l">
              <a:spcAft>
                <a:spcPts val="400"/>
              </a:spcAft>
            </a:pPr>
            <a:r>
              <a:rPr sz="1400" b="1" i="0">
                <a:solidFill>
                  <a:srgbClr val="1E88C8"/>
                </a:solidFill>
                <a:latin typeface="Arial"/>
              </a:rPr>
              <a:t>REDCapMepi/coursework</a:t>
            </a:r>
          </a:p>
        </p:txBody>
      </p:sp>
      <p:sp>
        <p:nvSpPr>
          <p:cNvPr id="16" name="TextBox 15"/>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CRF: case report form   ·   TB: tuberculosis   ·   CRFs: case report forms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The roadmap of a REDCap database</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47</a:t>
            </a:r>
          </a:p>
        </p:txBody>
      </p:sp>
      <p:sp>
        <p:nvSpPr>
          <p:cNvPr id="8" name="Oval 7"/>
          <p:cNvSpPr/>
          <p:nvPr/>
        </p:nvSpPr>
        <p:spPr>
          <a:xfrm>
            <a:off x="548640" y="1508760"/>
            <a:ext cx="457200" cy="457200"/>
          </a:xfrm>
          <a:prstGeom prst="ellipse">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1</a:t>
            </a:r>
          </a:p>
        </p:txBody>
      </p:sp>
      <p:pic>
        <p:nvPicPr>
          <p:cNvPr id="9" name="Picture 8" descr="E8A5_41464C.png"/>
          <p:cNvPicPr>
            <a:picLocks noChangeAspect="1"/>
          </p:cNvPicPr>
          <p:nvPr/>
        </p:nvPicPr>
        <p:blipFill>
          <a:blip r:embed="rId3"/>
          <a:stretch>
            <a:fillRect/>
          </a:stretch>
        </p:blipFill>
        <p:spPr>
          <a:xfrm>
            <a:off x="1143000" y="1527048"/>
            <a:ext cx="411480" cy="411480"/>
          </a:xfrm>
          <a:prstGeom prst="rect">
            <a:avLst/>
          </a:prstGeom>
        </p:spPr>
      </p:pic>
      <p:sp>
        <p:nvSpPr>
          <p:cNvPr id="10" name="TextBox 9"/>
          <p:cNvSpPr txBox="1"/>
          <p:nvPr/>
        </p:nvSpPr>
        <p:spPr>
          <a:xfrm>
            <a:off x="548640" y="210312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Protocol and DMP</a:t>
            </a:r>
          </a:p>
        </p:txBody>
      </p:sp>
      <p:sp>
        <p:nvSpPr>
          <p:cNvPr id="11" name="TextBox 10"/>
          <p:cNvSpPr txBox="1"/>
          <p:nvPr/>
        </p:nvSpPr>
        <p:spPr>
          <a:xfrm>
            <a:off x="548640" y="249631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what and why</a:t>
            </a:r>
          </a:p>
        </p:txBody>
      </p:sp>
      <p:cxnSp>
        <p:nvCxnSpPr>
          <p:cNvPr id="12" name="Connector 11"/>
          <p:cNvCxnSpPr/>
          <p:nvPr/>
        </p:nvCxnSpPr>
        <p:spPr>
          <a:xfrm>
            <a:off x="1691640" y="1737360"/>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364992" y="1508760"/>
            <a:ext cx="457200" cy="457200"/>
          </a:xfrm>
          <a:prstGeom prst="ellipse">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2</a:t>
            </a:r>
          </a:p>
        </p:txBody>
      </p:sp>
      <p:pic>
        <p:nvPicPr>
          <p:cNvPr id="14" name="Picture 13" descr="F0E3_41464C.png"/>
          <p:cNvPicPr>
            <a:picLocks noChangeAspect="1"/>
          </p:cNvPicPr>
          <p:nvPr/>
        </p:nvPicPr>
        <p:blipFill>
          <a:blip r:embed="rId4"/>
          <a:stretch>
            <a:fillRect/>
          </a:stretch>
        </p:blipFill>
        <p:spPr>
          <a:xfrm>
            <a:off x="3959352" y="1527048"/>
            <a:ext cx="411480" cy="411480"/>
          </a:xfrm>
          <a:prstGeom prst="rect">
            <a:avLst/>
          </a:prstGeom>
        </p:spPr>
      </p:pic>
      <p:sp>
        <p:nvSpPr>
          <p:cNvPr id="15" name="TextBox 14"/>
          <p:cNvSpPr txBox="1"/>
          <p:nvPr/>
        </p:nvSpPr>
        <p:spPr>
          <a:xfrm>
            <a:off x="3364992" y="210312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CRFs</a:t>
            </a:r>
          </a:p>
        </p:txBody>
      </p:sp>
      <p:sp>
        <p:nvSpPr>
          <p:cNvPr id="16" name="TextBox 15"/>
          <p:cNvSpPr txBox="1"/>
          <p:nvPr/>
        </p:nvSpPr>
        <p:spPr>
          <a:xfrm>
            <a:off x="3364992" y="249631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paper and annotated</a:t>
            </a:r>
          </a:p>
        </p:txBody>
      </p:sp>
      <p:cxnSp>
        <p:nvCxnSpPr>
          <p:cNvPr id="17" name="Connector 16"/>
          <p:cNvCxnSpPr/>
          <p:nvPr/>
        </p:nvCxnSpPr>
        <p:spPr>
          <a:xfrm>
            <a:off x="4507992" y="1737360"/>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181344" y="1508760"/>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3</a:t>
            </a:r>
          </a:p>
        </p:txBody>
      </p:sp>
      <p:pic>
        <p:nvPicPr>
          <p:cNvPr id="19" name="Picture 18" descr="E8EF_1E88C8.png"/>
          <p:cNvPicPr>
            <a:picLocks noChangeAspect="1"/>
          </p:cNvPicPr>
          <p:nvPr/>
        </p:nvPicPr>
        <p:blipFill>
          <a:blip r:embed="rId5"/>
          <a:stretch>
            <a:fillRect/>
          </a:stretch>
        </p:blipFill>
        <p:spPr>
          <a:xfrm>
            <a:off x="6775704" y="1527048"/>
            <a:ext cx="411480" cy="411480"/>
          </a:xfrm>
          <a:prstGeom prst="rect">
            <a:avLst/>
          </a:prstGeom>
        </p:spPr>
      </p:pic>
      <p:sp>
        <p:nvSpPr>
          <p:cNvPr id="20" name="TextBox 19"/>
          <p:cNvSpPr txBox="1"/>
          <p:nvPr/>
        </p:nvSpPr>
        <p:spPr>
          <a:xfrm>
            <a:off x="6181344" y="210312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Data dictionary</a:t>
            </a:r>
          </a:p>
        </p:txBody>
      </p:sp>
      <p:sp>
        <p:nvSpPr>
          <p:cNvPr id="21" name="TextBox 20"/>
          <p:cNvSpPr txBox="1"/>
          <p:nvPr/>
        </p:nvSpPr>
        <p:spPr>
          <a:xfrm>
            <a:off x="6181344" y="249631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CRFs as a spreadsheet</a:t>
            </a:r>
          </a:p>
        </p:txBody>
      </p:sp>
      <p:cxnSp>
        <p:nvCxnSpPr>
          <p:cNvPr id="22" name="Connector 21"/>
          <p:cNvCxnSpPr/>
          <p:nvPr/>
        </p:nvCxnSpPr>
        <p:spPr>
          <a:xfrm>
            <a:off x="7324344" y="1737360"/>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997696" y="1508760"/>
            <a:ext cx="457200" cy="457200"/>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4</a:t>
            </a:r>
          </a:p>
        </p:txBody>
      </p:sp>
      <p:pic>
        <p:nvPicPr>
          <p:cNvPr id="24" name="Picture 23" descr="image.png"/>
          <p:cNvPicPr>
            <a:picLocks noChangeAspect="1"/>
          </p:cNvPicPr>
          <p:nvPr/>
        </p:nvPicPr>
        <p:blipFill>
          <a:blip r:embed="rId6"/>
          <a:stretch>
            <a:fillRect/>
          </a:stretch>
        </p:blipFill>
        <p:spPr>
          <a:xfrm>
            <a:off x="9592056" y="1527048"/>
            <a:ext cx="411480" cy="411480"/>
          </a:xfrm>
          <a:prstGeom prst="rect">
            <a:avLst/>
          </a:prstGeom>
        </p:spPr>
      </p:pic>
      <p:sp>
        <p:nvSpPr>
          <p:cNvPr id="25" name="TextBox 24"/>
          <p:cNvSpPr txBox="1"/>
          <p:nvPr/>
        </p:nvSpPr>
        <p:spPr>
          <a:xfrm>
            <a:off x="8997696" y="210312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Build</a:t>
            </a:r>
          </a:p>
        </p:txBody>
      </p:sp>
      <p:sp>
        <p:nvSpPr>
          <p:cNvPr id="26" name="TextBox 25"/>
          <p:cNvSpPr txBox="1"/>
          <p:nvPr/>
        </p:nvSpPr>
        <p:spPr>
          <a:xfrm>
            <a:off x="8997696" y="249631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Development status</a:t>
            </a:r>
          </a:p>
        </p:txBody>
      </p:sp>
      <p:sp>
        <p:nvSpPr>
          <p:cNvPr id="27" name="Oval 26"/>
          <p:cNvSpPr/>
          <p:nvPr/>
        </p:nvSpPr>
        <p:spPr>
          <a:xfrm>
            <a:off x="548640" y="352044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5</a:t>
            </a:r>
          </a:p>
        </p:txBody>
      </p:sp>
      <p:pic>
        <p:nvPicPr>
          <p:cNvPr id="28" name="Picture 27" descr="E9D5_C8102E.png"/>
          <p:cNvPicPr>
            <a:picLocks noChangeAspect="1"/>
          </p:cNvPicPr>
          <p:nvPr/>
        </p:nvPicPr>
        <p:blipFill>
          <a:blip r:embed="rId7"/>
          <a:stretch>
            <a:fillRect/>
          </a:stretch>
        </p:blipFill>
        <p:spPr>
          <a:xfrm>
            <a:off x="1143000" y="3538728"/>
            <a:ext cx="411480" cy="411480"/>
          </a:xfrm>
          <a:prstGeom prst="rect">
            <a:avLst/>
          </a:prstGeom>
        </p:spPr>
      </p:pic>
      <p:sp>
        <p:nvSpPr>
          <p:cNvPr id="29" name="TextBox 28"/>
          <p:cNvSpPr txBox="1"/>
          <p:nvPr/>
        </p:nvSpPr>
        <p:spPr>
          <a:xfrm>
            <a:off x="548640" y="411480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Test</a:t>
            </a:r>
          </a:p>
        </p:txBody>
      </p:sp>
      <p:sp>
        <p:nvSpPr>
          <p:cNvPr id="30" name="TextBox 29"/>
          <p:cNvSpPr txBox="1"/>
          <p:nvPr/>
        </p:nvSpPr>
        <p:spPr>
          <a:xfrm>
            <a:off x="548640" y="450799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fake data, second person</a:t>
            </a:r>
          </a:p>
        </p:txBody>
      </p:sp>
      <p:cxnSp>
        <p:nvCxnSpPr>
          <p:cNvPr id="31" name="Connector 30"/>
          <p:cNvCxnSpPr/>
          <p:nvPr/>
        </p:nvCxnSpPr>
        <p:spPr>
          <a:xfrm>
            <a:off x="1691640" y="3749039"/>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364992" y="3520440"/>
            <a:ext cx="457200" cy="4572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6</a:t>
            </a:r>
          </a:p>
        </p:txBody>
      </p:sp>
      <p:pic>
        <p:nvPicPr>
          <p:cNvPr id="33" name="Picture 32" descr="E7B8_2E7D32.png"/>
          <p:cNvPicPr>
            <a:picLocks noChangeAspect="1"/>
          </p:cNvPicPr>
          <p:nvPr/>
        </p:nvPicPr>
        <p:blipFill>
          <a:blip r:embed="rId8"/>
          <a:stretch>
            <a:fillRect/>
          </a:stretch>
        </p:blipFill>
        <p:spPr>
          <a:xfrm>
            <a:off x="3959352" y="3538728"/>
            <a:ext cx="411480" cy="411480"/>
          </a:xfrm>
          <a:prstGeom prst="rect">
            <a:avLst/>
          </a:prstGeom>
        </p:spPr>
      </p:pic>
      <p:sp>
        <p:nvSpPr>
          <p:cNvPr id="34" name="TextBox 33"/>
          <p:cNvSpPr txBox="1"/>
          <p:nvPr/>
        </p:nvSpPr>
        <p:spPr>
          <a:xfrm>
            <a:off x="3364992" y="411480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Production</a:t>
            </a:r>
          </a:p>
        </p:txBody>
      </p:sp>
      <p:sp>
        <p:nvSpPr>
          <p:cNvPr id="35" name="TextBox 34"/>
          <p:cNvSpPr txBox="1"/>
          <p:nvPr/>
        </p:nvSpPr>
        <p:spPr>
          <a:xfrm>
            <a:off x="3364992" y="450799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after sign-off</a:t>
            </a:r>
          </a:p>
        </p:txBody>
      </p:sp>
      <p:cxnSp>
        <p:nvCxnSpPr>
          <p:cNvPr id="36" name="Connector 35"/>
          <p:cNvCxnSpPr/>
          <p:nvPr/>
        </p:nvCxnSpPr>
        <p:spPr>
          <a:xfrm>
            <a:off x="4507992" y="3749039"/>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181344" y="3520440"/>
            <a:ext cx="457200" cy="4572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7</a:t>
            </a:r>
          </a:p>
        </p:txBody>
      </p:sp>
      <p:pic>
        <p:nvPicPr>
          <p:cNvPr id="38" name="Picture 37" descr="image.png"/>
          <p:cNvPicPr>
            <a:picLocks noChangeAspect="1"/>
          </p:cNvPicPr>
          <p:nvPr/>
        </p:nvPicPr>
        <p:blipFill>
          <a:blip r:embed="rId9"/>
          <a:stretch>
            <a:fillRect/>
          </a:stretch>
        </p:blipFill>
        <p:spPr>
          <a:xfrm>
            <a:off x="6775704" y="3538728"/>
            <a:ext cx="411480" cy="411480"/>
          </a:xfrm>
          <a:prstGeom prst="rect">
            <a:avLst/>
          </a:prstGeom>
        </p:spPr>
      </p:pic>
      <p:sp>
        <p:nvSpPr>
          <p:cNvPr id="39" name="TextBox 38"/>
          <p:cNvSpPr txBox="1"/>
          <p:nvPr/>
        </p:nvSpPr>
        <p:spPr>
          <a:xfrm>
            <a:off x="6181344" y="411480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Collect and clean</a:t>
            </a:r>
          </a:p>
        </p:txBody>
      </p:sp>
      <p:sp>
        <p:nvSpPr>
          <p:cNvPr id="40" name="TextBox 39"/>
          <p:cNvSpPr txBox="1"/>
          <p:nvPr/>
        </p:nvSpPr>
        <p:spPr>
          <a:xfrm>
            <a:off x="6181344" y="450799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queries, rules, monitoring</a:t>
            </a:r>
          </a:p>
        </p:txBody>
      </p:sp>
      <p:cxnSp>
        <p:nvCxnSpPr>
          <p:cNvPr id="41" name="Connector 40"/>
          <p:cNvCxnSpPr/>
          <p:nvPr/>
        </p:nvCxnSpPr>
        <p:spPr>
          <a:xfrm>
            <a:off x="7324344" y="3749039"/>
            <a:ext cx="1554480" cy="0"/>
          </a:xfrm>
          <a:prstGeom prst="line">
            <a:avLst/>
          </a:prstGeom>
          <a:ln w="15875">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997696" y="3520440"/>
            <a:ext cx="457200" cy="4572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400" b="1" i="0">
                <a:solidFill>
                  <a:srgbClr val="FFFFFF"/>
                </a:solidFill>
                <a:latin typeface="Arial"/>
              </a:rPr>
              <a:t>8</a:t>
            </a:r>
          </a:p>
        </p:txBody>
      </p:sp>
      <p:pic>
        <p:nvPicPr>
          <p:cNvPr id="43" name="Picture 42" descr="E896_2E7D32.png"/>
          <p:cNvPicPr>
            <a:picLocks noChangeAspect="1"/>
          </p:cNvPicPr>
          <p:nvPr/>
        </p:nvPicPr>
        <p:blipFill>
          <a:blip r:embed="rId10"/>
          <a:stretch>
            <a:fillRect/>
          </a:stretch>
        </p:blipFill>
        <p:spPr>
          <a:xfrm>
            <a:off x="9592056" y="3538728"/>
            <a:ext cx="411480" cy="411480"/>
          </a:xfrm>
          <a:prstGeom prst="rect">
            <a:avLst/>
          </a:prstGeom>
        </p:spPr>
      </p:pic>
      <p:sp>
        <p:nvSpPr>
          <p:cNvPr id="44" name="TextBox 43"/>
          <p:cNvSpPr txBox="1"/>
          <p:nvPr/>
        </p:nvSpPr>
        <p:spPr>
          <a:xfrm>
            <a:off x="8997696" y="4114800"/>
            <a:ext cx="2606040" cy="411480"/>
          </a:xfrm>
          <a:prstGeom prst="rect">
            <a:avLst/>
          </a:prstGeom>
          <a:noFill/>
        </p:spPr>
        <p:txBody>
          <a:bodyPr wrap="square" lIns="0" rIns="0" tIns="0" bIns="0" anchor="t"/>
          <a:lstStyle/>
          <a:p>
            <a:pPr algn="l">
              <a:spcAft>
                <a:spcPts val="600"/>
              </a:spcAft>
            </a:pPr>
            <a:r>
              <a:rPr sz="1700" b="1" i="0">
                <a:solidFill>
                  <a:srgbClr val="41464C"/>
                </a:solidFill>
                <a:latin typeface="Arial"/>
              </a:rPr>
              <a:t>Lock and analyse</a:t>
            </a:r>
          </a:p>
        </p:txBody>
      </p:sp>
      <p:sp>
        <p:nvSpPr>
          <p:cNvPr id="45" name="TextBox 44"/>
          <p:cNvSpPr txBox="1"/>
          <p:nvPr/>
        </p:nvSpPr>
        <p:spPr>
          <a:xfrm>
            <a:off x="8997696" y="4507992"/>
            <a:ext cx="2606040" cy="548640"/>
          </a:xfrm>
          <a:prstGeom prst="rect">
            <a:avLst/>
          </a:prstGeom>
          <a:noFill/>
        </p:spPr>
        <p:txBody>
          <a:bodyPr wrap="square" lIns="0" rIns="0" tIns="0" bIns="0" anchor="t"/>
          <a:lstStyle/>
          <a:p>
            <a:pPr algn="l">
              <a:spcAft>
                <a:spcPts val="600"/>
              </a:spcAft>
            </a:pPr>
            <a:r>
              <a:rPr sz="1400" b="0" i="0">
                <a:solidFill>
                  <a:srgbClr val="62676D"/>
                </a:solidFill>
                <a:latin typeface="Arial"/>
              </a:rPr>
              <a:t>de-identified export, R</a:t>
            </a:r>
          </a:p>
        </p:txBody>
      </p:sp>
      <p:sp>
        <p:nvSpPr>
          <p:cNvPr id="46" name="Rectangle 45"/>
          <p:cNvSpPr/>
          <p:nvPr/>
        </p:nvSpPr>
        <p:spPr>
          <a:xfrm>
            <a:off x="548640" y="544068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544068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11"/>
          <a:stretch>
            <a:fillRect/>
          </a:stretch>
        </p:blipFill>
        <p:spPr>
          <a:xfrm>
            <a:off x="777240" y="5532120"/>
            <a:ext cx="365760" cy="365760"/>
          </a:xfrm>
          <a:prstGeom prst="rect">
            <a:avLst/>
          </a:prstGeom>
        </p:spPr>
      </p:pic>
      <p:sp>
        <p:nvSpPr>
          <p:cNvPr id="49" name="TextBox 48"/>
          <p:cNvSpPr txBox="1"/>
          <p:nvPr/>
        </p:nvSpPr>
        <p:spPr>
          <a:xfrm>
            <a:off x="1280160" y="544068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A change after Production goes back to </a:t>
            </a:r>
            <a:r>
              <a:rPr sz="1500" b="1" i="0">
                <a:solidFill>
                  <a:srgbClr val="1E88C8"/>
                </a:solidFill>
                <a:latin typeface="Arial"/>
              </a:rPr>
              <a:t>CRF, dictionary and test</a:t>
            </a:r>
            <a:r>
              <a:rPr sz="1500" b="0" i="0">
                <a:solidFill>
                  <a:srgbClr val="222222"/>
                </a:solidFill>
                <a:latin typeface="Arial"/>
              </a:rPr>
              <a:t> (Draft Mode).</a:t>
            </a:r>
          </a:p>
        </p:txBody>
      </p:sp>
      <p:sp>
        <p:nvSpPr>
          <p:cNvPr id="50" name="TextBox 49"/>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REDCap: Research Electronic Data Capture   ·   DMP: Data Management Plan   ·   CRFs: case report forms   ·   CRF: case report form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TBCARE design: two arms, repeating events</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48</a:t>
            </a:r>
          </a:p>
        </p:txBody>
      </p:sp>
      <p:sp>
        <p:nvSpPr>
          <p:cNvPr id="8" name="TextBox 7"/>
          <p:cNvSpPr txBox="1"/>
          <p:nvPr/>
        </p:nvSpPr>
        <p:spPr>
          <a:xfrm>
            <a:off x="548640" y="1371600"/>
            <a:ext cx="4389120" cy="365760"/>
          </a:xfrm>
          <a:prstGeom prst="rect">
            <a:avLst/>
          </a:prstGeom>
          <a:noFill/>
        </p:spPr>
        <p:txBody>
          <a:bodyPr wrap="square" lIns="0" rIns="0" tIns="0" bIns="0" anchor="t"/>
          <a:lstStyle/>
          <a:p>
            <a:pPr algn="l">
              <a:spcAft>
                <a:spcPts val="600"/>
              </a:spcAft>
            </a:pPr>
            <a:r>
              <a:rPr sz="1300" b="1" i="0">
                <a:solidFill>
                  <a:srgbClr val="41464C"/>
                </a:solidFill>
                <a:latin typeface="Arial"/>
              </a:rPr>
              <a:t>Arm 1  ·  drug-susceptible TB  ·  6 months</a:t>
            </a:r>
          </a:p>
        </p:txBody>
      </p:sp>
      <p:graphicFrame>
        <p:nvGraphicFramePr>
          <p:cNvPr id="9" name="Table 8"/>
          <p:cNvGraphicFramePr>
            <a:graphicFrameLocks noGrp="1"/>
          </p:cNvGraphicFramePr>
          <p:nvPr/>
        </p:nvGraphicFramePr>
        <p:xfrm>
          <a:off x="548640" y="1737360"/>
          <a:ext cx="4453128" cy="3291840"/>
        </p:xfrm>
        <a:graphic>
          <a:graphicData uri="http://schemas.openxmlformats.org/drawingml/2006/table">
            <a:tbl>
              <a:tblPr firstRow="0" bandRow="0">
                <a:tableStyleId>{5C22544A-7EE6-4342-B048-85BDC9FD1C3A}</a:tableStyleId>
              </a:tblPr>
              <a:tblGrid>
                <a:gridCol w="1600200"/>
                <a:gridCol w="475488"/>
                <a:gridCol w="475488"/>
                <a:gridCol w="475488"/>
                <a:gridCol w="475488"/>
                <a:gridCol w="475488"/>
                <a:gridCol w="475488"/>
              </a:tblGrid>
              <a:tr h="274320">
                <a:tc>
                  <a:txBody>
                    <a:bodyPr wrap="square"/>
                    <a:lstStyle/>
                    <a:p>
                      <a:pPr algn="l">
                        <a:spcAft>
                          <a:spcPts val="0"/>
                        </a:spcAft>
                      </a:pPr>
                      <a:r>
                        <a:rPr sz="900" b="1" i="0">
                          <a:solidFill>
                            <a:srgbClr val="FFFFFF"/>
                          </a:solidFill>
                          <a:latin typeface="Arial"/>
                        </a:rPr>
                        <a:t>Form</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B</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M2</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M6</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M12</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Uns</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Log</a:t>
                      </a:r>
                    </a:p>
                  </a:txBody>
                  <a:tcPr marL="91440" marR="91440" marT="36576" marB="36576" anchor="ctr">
                    <a:solidFill>
                      <a:srgbClr val="41464C"/>
                    </a:solidFill>
                  </a:tcPr>
                </a:tc>
              </a:tr>
              <a:tr h="274320">
                <a:tc>
                  <a:txBody>
                    <a:bodyPr wrap="square"/>
                    <a:lstStyle/>
                    <a:p>
                      <a:pPr algn="l">
                        <a:spcAft>
                          <a:spcPts val="0"/>
                        </a:spcAft>
                      </a:pPr>
                      <a:r>
                        <a:rPr sz="900" b="0" i="0">
                          <a:solidFill>
                            <a:srgbClr val="222222"/>
                          </a:solidFill>
                          <a:latin typeface="Arial"/>
                        </a:rPr>
                        <a:t>Screening</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e-Consent</a:t>
                      </a:r>
                    </a:p>
                  </a:txBody>
                  <a:tcPr marL="91440" marR="91440" marT="36576" marB="36576" anchor="ctr">
                    <a:solidFill>
                      <a:srgbClr val="F2F4F6"/>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Enrolment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Clinical</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Laboratory</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ECG</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Quality of life</a:t>
                      </a: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Adverse events</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r>
                        <a:rPr sz="900" b="1" i="0">
                          <a:solidFill>
                            <a:srgbClr val="C8102E"/>
                          </a:solidFill>
                          <a:latin typeface="Arial"/>
                        </a:rPr>
                        <a:t>R</a:t>
                      </a: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Medications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C8102E"/>
                          </a:solidFill>
                          <a:latin typeface="Arial"/>
                        </a:rPr>
                        <a:t>R</a:t>
                      </a: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Outcome</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Completion</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bl>
          </a:graphicData>
        </a:graphic>
      </p:graphicFrame>
      <p:sp>
        <p:nvSpPr>
          <p:cNvPr id="10" name="TextBox 9"/>
          <p:cNvSpPr txBox="1"/>
          <p:nvPr/>
        </p:nvSpPr>
        <p:spPr>
          <a:xfrm>
            <a:off x="5120640" y="1371600"/>
            <a:ext cx="6400800" cy="365760"/>
          </a:xfrm>
          <a:prstGeom prst="rect">
            <a:avLst/>
          </a:prstGeom>
          <a:noFill/>
        </p:spPr>
        <p:txBody>
          <a:bodyPr wrap="square" lIns="0" rIns="0" tIns="0" bIns="0" anchor="t"/>
          <a:lstStyle/>
          <a:p>
            <a:pPr algn="l">
              <a:spcAft>
                <a:spcPts val="600"/>
              </a:spcAft>
            </a:pPr>
            <a:r>
              <a:rPr sz="1300" b="1" i="0">
                <a:solidFill>
                  <a:srgbClr val="41464C"/>
                </a:solidFill>
                <a:latin typeface="Arial"/>
              </a:rPr>
              <a:t>Arm 2  ·  drug-resistant TB  ·  9 months</a:t>
            </a:r>
          </a:p>
        </p:txBody>
      </p:sp>
      <p:graphicFrame>
        <p:nvGraphicFramePr>
          <p:cNvPr id="11" name="Table 10"/>
          <p:cNvGraphicFramePr>
            <a:graphicFrameLocks noGrp="1"/>
          </p:cNvGraphicFramePr>
          <p:nvPr/>
        </p:nvGraphicFramePr>
        <p:xfrm>
          <a:off x="5120640" y="1737360"/>
          <a:ext cx="5879592" cy="3291840"/>
        </p:xfrm>
        <a:graphic>
          <a:graphicData uri="http://schemas.openxmlformats.org/drawingml/2006/table">
            <a:tbl>
              <a:tblPr firstRow="0" bandRow="0">
                <a:tableStyleId>{5C22544A-7EE6-4342-B048-85BDC9FD1C3A}</a:tableStyleId>
              </a:tblPr>
              <a:tblGrid>
                <a:gridCol w="1600200"/>
                <a:gridCol w="475488"/>
                <a:gridCol w="475488"/>
                <a:gridCol w="475488"/>
                <a:gridCol w="475488"/>
                <a:gridCol w="475488"/>
                <a:gridCol w="475488"/>
                <a:gridCol w="475488"/>
                <a:gridCol w="475488"/>
                <a:gridCol w="475488"/>
              </a:tblGrid>
              <a:tr h="274320">
                <a:tc>
                  <a:txBody>
                    <a:bodyPr wrap="square"/>
                    <a:lstStyle/>
                    <a:p>
                      <a:pPr algn="l">
                        <a:spcAft>
                          <a:spcPts val="0"/>
                        </a:spcAft>
                      </a:pPr>
                      <a:r>
                        <a:rPr sz="900" b="1" i="0">
                          <a:solidFill>
                            <a:srgbClr val="FFFFFF"/>
                          </a:solidFill>
                          <a:latin typeface="Arial"/>
                        </a:rPr>
                        <a:t>Form</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B</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M1</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M2</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M4</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M6</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M9</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M12</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Uns</a:t>
                      </a:r>
                    </a:p>
                  </a:txBody>
                  <a:tcPr marL="91440" marR="91440" marT="36576" marB="36576" anchor="ctr">
                    <a:solidFill>
                      <a:srgbClr val="41464C"/>
                    </a:solidFill>
                  </a:tcPr>
                </a:tc>
                <a:tc>
                  <a:txBody>
                    <a:bodyPr wrap="square"/>
                    <a:lstStyle/>
                    <a:p>
                      <a:pPr algn="ctr">
                        <a:spcAft>
                          <a:spcPts val="0"/>
                        </a:spcAft>
                      </a:pPr>
                      <a:r>
                        <a:rPr sz="900" b="1" i="0">
                          <a:solidFill>
                            <a:srgbClr val="FFFFFF"/>
                          </a:solidFill>
                          <a:latin typeface="Arial"/>
                        </a:rPr>
                        <a:t>Log</a:t>
                      </a:r>
                    </a:p>
                  </a:txBody>
                  <a:tcPr marL="91440" marR="91440" marT="36576" marB="36576" anchor="ctr">
                    <a:solidFill>
                      <a:srgbClr val="41464C"/>
                    </a:solidFill>
                  </a:tcPr>
                </a:tc>
              </a:tr>
              <a:tr h="274320">
                <a:tc>
                  <a:txBody>
                    <a:bodyPr wrap="square"/>
                    <a:lstStyle/>
                    <a:p>
                      <a:pPr algn="l">
                        <a:spcAft>
                          <a:spcPts val="0"/>
                        </a:spcAft>
                      </a:pPr>
                      <a:r>
                        <a:rPr sz="900" b="0" i="0">
                          <a:solidFill>
                            <a:srgbClr val="222222"/>
                          </a:solidFill>
                          <a:latin typeface="Arial"/>
                        </a:rPr>
                        <a:t>Screening</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e-Consent</a:t>
                      </a:r>
                    </a:p>
                  </a:txBody>
                  <a:tcPr marL="91440" marR="91440" marT="36576" marB="36576" anchor="ctr">
                    <a:solidFill>
                      <a:srgbClr val="F2F4F6"/>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Enrolment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Clinical</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Laboratory</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ECG</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Quality of life</a:t>
                      </a: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1E88C8"/>
                          </a:solidFill>
                          <a:latin typeface="Arial"/>
                        </a:rPr>
                        <a:t>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Adverse events</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r>
                        <a:rPr sz="900" b="1" i="0">
                          <a:solidFill>
                            <a:srgbClr val="C8102E"/>
                          </a:solidFill>
                          <a:latin typeface="Arial"/>
                        </a:rPr>
                        <a:t>R</a:t>
                      </a: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Medications</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C8102E"/>
                          </a:solidFill>
                          <a:latin typeface="Arial"/>
                        </a:rPr>
                        <a:t>R</a:t>
                      </a:r>
                    </a:p>
                  </a:txBody>
                  <a:tcPr marL="91440" marR="91440" marT="36576" marB="36576" anchor="ctr">
                    <a:solidFill>
                      <a:srgbClr val="FFFFFF"/>
                    </a:solidFill>
                  </a:tcPr>
                </a:tc>
              </a:tr>
              <a:tr h="274320">
                <a:tc>
                  <a:txBody>
                    <a:bodyPr wrap="square"/>
                    <a:lstStyle/>
                    <a:p>
                      <a:pPr algn="l">
                        <a:spcAft>
                          <a:spcPts val="0"/>
                        </a:spcAft>
                      </a:pPr>
                      <a:r>
                        <a:rPr sz="900" b="0" i="0">
                          <a:solidFill>
                            <a:srgbClr val="222222"/>
                          </a:solidFill>
                          <a:latin typeface="Arial"/>
                        </a:rPr>
                        <a:t>Outcome</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c>
                  <a:txBody>
                    <a:bodyPr wrap="square"/>
                    <a:lstStyle/>
                    <a:p>
                      <a:pPr algn="ctr">
                        <a:spcAft>
                          <a:spcPts val="0"/>
                        </a:spcAft>
                      </a:pPr>
                    </a:p>
                  </a:txBody>
                  <a:tcPr marL="91440" marR="91440" marT="36576" marB="36576" anchor="ctr">
                    <a:solidFill>
                      <a:srgbClr val="F2F4F6"/>
                    </a:solidFill>
                  </a:tcPr>
                </a:tc>
              </a:tr>
              <a:tr h="274320">
                <a:tc>
                  <a:txBody>
                    <a:bodyPr wrap="square"/>
                    <a:lstStyle/>
                    <a:p>
                      <a:pPr algn="l">
                        <a:spcAft>
                          <a:spcPts val="0"/>
                        </a:spcAft>
                      </a:pPr>
                      <a:r>
                        <a:rPr sz="900" b="0" i="0">
                          <a:solidFill>
                            <a:srgbClr val="222222"/>
                          </a:solidFill>
                          <a:latin typeface="Arial"/>
                        </a:rPr>
                        <a:t>Completion</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r>
                        <a:rPr sz="900" b="1" i="0">
                          <a:solidFill>
                            <a:srgbClr val="2E7D32"/>
                          </a:solidFill>
                          <a:latin typeface="Arial"/>
                        </a:rPr>
                        <a:t>✓</a:t>
                      </a: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c>
                  <a:txBody>
                    <a:bodyPr wrap="square"/>
                    <a:lstStyle/>
                    <a:p>
                      <a:pPr algn="ctr">
                        <a:spcAft>
                          <a:spcPts val="0"/>
                        </a:spcAft>
                      </a:pPr>
                    </a:p>
                  </a:txBody>
                  <a:tcPr marL="91440" marR="91440" marT="36576" marB="36576" anchor="ctr">
                    <a:solidFill>
                      <a:srgbClr val="FFFFFF"/>
                    </a:solidFill>
                  </a:tcPr>
                </a:tc>
              </a:tr>
            </a:tbl>
          </a:graphicData>
        </a:graphic>
      </p:graphicFrame>
      <p:sp>
        <p:nvSpPr>
          <p:cNvPr id="12" name="TextBox 11"/>
          <p:cNvSpPr txBox="1"/>
          <p:nvPr/>
        </p:nvSpPr>
        <p:spPr>
          <a:xfrm>
            <a:off x="548640" y="5870448"/>
            <a:ext cx="10972800" cy="274320"/>
          </a:xfrm>
          <a:prstGeom prst="rect">
            <a:avLst/>
          </a:prstGeom>
          <a:noFill/>
        </p:spPr>
        <p:txBody>
          <a:bodyPr wrap="square" lIns="0" rIns="0" tIns="0" bIns="0" anchor="t"/>
          <a:lstStyle/>
          <a:p>
            <a:pPr algn="l">
              <a:spcAft>
                <a:spcPts val="600"/>
              </a:spcAft>
            </a:pPr>
            <a:r>
              <a:rPr sz="1100" b="0" i="0">
                <a:solidFill>
                  <a:srgbClr val="62676D"/>
                </a:solidFill>
                <a:latin typeface="Arial"/>
              </a:rPr>
              <a:t>✓ collected   ·   S survey (participant)   ·   R repeating instrument   ·   Uns = Unscheduled (repeating event)   ·   Log = Logs event</a:t>
            </a:r>
          </a:p>
        </p:txBody>
      </p:sp>
      <p:sp>
        <p:nvSpPr>
          <p:cNvPr id="13" name="TextBox 12"/>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TB: tuberculosis   ·   ECG: electrocardiogram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Designing the TBCARE data dictionary</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49</a:t>
            </a:r>
          </a:p>
        </p:txBody>
      </p:sp>
      <p:graphicFrame>
        <p:nvGraphicFramePr>
          <p:cNvPr id="8" name="Table 7"/>
          <p:cNvGraphicFramePr>
            <a:graphicFrameLocks noGrp="1"/>
          </p:cNvGraphicFramePr>
          <p:nvPr/>
        </p:nvGraphicFramePr>
        <p:xfrm>
          <a:off x="548640" y="1417320"/>
          <a:ext cx="11091672" cy="3840480"/>
        </p:xfrm>
        <a:graphic>
          <a:graphicData uri="http://schemas.openxmlformats.org/drawingml/2006/table">
            <a:tbl>
              <a:tblPr firstRow="0" bandRow="0">
                <a:tableStyleId>{5C22544A-7EE6-4342-B048-85BDC9FD1C3A}</a:tableStyleId>
              </a:tblPr>
              <a:tblGrid>
                <a:gridCol w="1051560"/>
                <a:gridCol w="1691640"/>
                <a:gridCol w="640080"/>
                <a:gridCol w="1417320"/>
                <a:gridCol w="2834640"/>
                <a:gridCol w="1325880"/>
                <a:gridCol w="1508760"/>
                <a:gridCol w="621792"/>
              </a:tblGrid>
              <a:tr h="384048">
                <a:tc>
                  <a:txBody>
                    <a:bodyPr wrap="square"/>
                    <a:lstStyle/>
                    <a:p>
                      <a:pPr algn="l">
                        <a:spcAft>
                          <a:spcPts val="0"/>
                        </a:spcAft>
                      </a:pPr>
                      <a:r>
                        <a:rPr sz="950" b="1" i="0">
                          <a:solidFill>
                            <a:srgbClr val="FFFFFF"/>
                          </a:solidFill>
                          <a:latin typeface="Arial"/>
                        </a:rPr>
                        <a:t>Variable</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Form</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Type</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Label</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Choices / calculation</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Validation</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Branching</a:t>
                      </a:r>
                    </a:p>
                  </a:txBody>
                  <a:tcPr marL="91440" marR="91440" marT="36576" marB="36576" anchor="ctr">
                    <a:solidFill>
                      <a:srgbClr val="2E7D32"/>
                    </a:solidFill>
                  </a:tcPr>
                </a:tc>
                <a:tc>
                  <a:txBody>
                    <a:bodyPr wrap="square"/>
                    <a:lstStyle/>
                    <a:p>
                      <a:pPr algn="l">
                        <a:spcAft>
                          <a:spcPts val="0"/>
                        </a:spcAft>
                      </a:pPr>
                      <a:r>
                        <a:rPr sz="950" b="1" i="0">
                          <a:solidFill>
                            <a:srgbClr val="FFFFFF"/>
                          </a:solidFill>
                          <a:latin typeface="Arial"/>
                        </a:rPr>
                        <a:t>Ident.</a:t>
                      </a:r>
                    </a:p>
                  </a:txBody>
                  <a:tcPr marL="91440" marR="91440" marT="36576" marB="36576" anchor="ctr">
                    <a:solidFill>
                      <a:srgbClr val="2E7D32"/>
                    </a:solidFill>
                  </a:tcPr>
                </a:tc>
              </a:tr>
              <a:tr h="384048">
                <a:tc>
                  <a:txBody>
                    <a:bodyPr wrap="square"/>
                    <a:lstStyle/>
                    <a:p>
                      <a:pPr algn="l">
                        <a:spcAft>
                          <a:spcPts val="0"/>
                        </a:spcAft>
                      </a:pPr>
                      <a:r>
                        <a:rPr sz="950" b="0" i="0">
                          <a:solidFill>
                            <a:srgbClr val="222222"/>
                          </a:solidFill>
                          <a:latin typeface="Arial"/>
                        </a:rPr>
                        <a:t>record_id</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screening</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text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Study ID</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Arial"/>
                        </a:rPr>
                        <a:t>dob</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enrolment</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text</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Date of birth</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date_dmy</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1" i="0">
                          <a:solidFill>
                            <a:srgbClr val="C8102E"/>
                          </a:solidFill>
                          <a:latin typeface="Arial"/>
                        </a:rPr>
                        <a:t>y</a:t>
                      </a: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Arial"/>
                        </a:rPr>
                        <a:t>sex</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enrolment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radio</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Sex at birth</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1, Male | 2, Female</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Arial"/>
                        </a:rPr>
                        <a:t>pregnant</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enrolment</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yesno</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Currently pregnant?</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[sex]='2' and [age]&gt;=15</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Arial"/>
                        </a:rPr>
                        <a:t>weight_kg</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clinical_assessment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text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Weight (kg)</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number_1dp 25–200</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Arial"/>
                        </a:rPr>
                        <a:t>bmi</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clinical_assessment</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calc</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BMI</a:t>
                      </a:r>
                    </a:p>
                  </a:txBody>
                  <a:tcPr marL="91440" marR="91440" marT="36576" marB="36576" anchor="ctr">
                    <a:solidFill>
                      <a:srgbClr val="F2F4F6"/>
                    </a:solidFill>
                  </a:tcPr>
                </a:tc>
                <a:tc>
                  <a:txBody>
                    <a:bodyPr wrap="square"/>
                    <a:lstStyle/>
                    <a:p>
                      <a:pPr algn="l">
                        <a:spcAft>
                          <a:spcPts val="0"/>
                        </a:spcAft>
                      </a:pPr>
                      <a:r>
                        <a:rPr sz="950" b="0" i="0">
                          <a:solidFill>
                            <a:srgbClr val="1E88C8"/>
                          </a:solidFill>
                          <a:latin typeface="Arial"/>
                        </a:rPr>
                        <a:t>round([weight_kg]/(([first-event-name][height_cm]/100)^2),1)</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Arial"/>
                        </a:rPr>
                        <a:t>qtcf</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ecg_monitoring</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text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QTcF (ms)</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integer 300–700</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Arial"/>
                        </a:rPr>
                        <a:t>qol_1</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quality_of_life</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radio</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Limited activities?</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1, Not at all | … | 5, Completely</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Arial"/>
                        </a:rPr>
                        <a:t>matrix: qol</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Arial"/>
                        </a:rPr>
                        <a:t>ae_term</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adverse_events</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text</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Arial"/>
                        </a:rPr>
                        <a:t>Adverse event</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bl>
          </a:graphicData>
        </a:graphic>
      </p:graphicFrame>
      <p:sp>
        <p:nvSpPr>
          <p:cNvPr id="9" name="TextBox 8"/>
          <p:cNvSpPr txBox="1"/>
          <p:nvPr/>
        </p:nvSpPr>
        <p:spPr>
          <a:xfrm>
            <a:off x="548640" y="5349240"/>
            <a:ext cx="914400" cy="502920"/>
          </a:xfrm>
          <a:prstGeom prst="rect">
            <a:avLst/>
          </a:prstGeom>
          <a:noFill/>
        </p:spPr>
        <p:txBody>
          <a:bodyPr wrap="square" lIns="0" rIns="0" tIns="0" bIns="0" anchor="t"/>
          <a:lstStyle/>
          <a:p>
            <a:pPr algn="l">
              <a:spcAft>
                <a:spcPts val="600"/>
              </a:spcAft>
            </a:pPr>
            <a:r>
              <a:rPr sz="2600" b="1" i="0">
                <a:solidFill>
                  <a:srgbClr val="2E7D32"/>
                </a:solidFill>
                <a:latin typeface="Arial"/>
              </a:rPr>
              <a:t>75</a:t>
            </a:r>
          </a:p>
        </p:txBody>
      </p:sp>
      <p:sp>
        <p:nvSpPr>
          <p:cNvPr id="10" name="TextBox 9"/>
          <p:cNvSpPr txBox="1"/>
          <p:nvPr/>
        </p:nvSpPr>
        <p:spPr>
          <a:xfrm>
            <a:off x="1325880" y="5376672"/>
            <a:ext cx="1188720" cy="502920"/>
          </a:xfrm>
          <a:prstGeom prst="rect">
            <a:avLst/>
          </a:prstGeom>
          <a:noFill/>
        </p:spPr>
        <p:txBody>
          <a:bodyPr wrap="square" lIns="0" rIns="0" tIns="0" bIns="0" anchor="ctr"/>
          <a:lstStyle/>
          <a:p>
            <a:pPr algn="l">
              <a:spcAft>
                <a:spcPts val="600"/>
              </a:spcAft>
            </a:pPr>
            <a:r>
              <a:rPr sz="1400" b="0" i="0">
                <a:solidFill>
                  <a:srgbClr val="222222"/>
                </a:solidFill>
                <a:latin typeface="Arial"/>
              </a:rPr>
              <a:t>fields</a:t>
            </a:r>
          </a:p>
        </p:txBody>
      </p:sp>
      <p:sp>
        <p:nvSpPr>
          <p:cNvPr id="11" name="TextBox 10"/>
          <p:cNvSpPr txBox="1"/>
          <p:nvPr/>
        </p:nvSpPr>
        <p:spPr>
          <a:xfrm>
            <a:off x="2560320" y="5349240"/>
            <a:ext cx="914400" cy="502920"/>
          </a:xfrm>
          <a:prstGeom prst="rect">
            <a:avLst/>
          </a:prstGeom>
          <a:noFill/>
        </p:spPr>
        <p:txBody>
          <a:bodyPr wrap="square" lIns="0" rIns="0" tIns="0" bIns="0" anchor="t"/>
          <a:lstStyle/>
          <a:p>
            <a:pPr algn="l">
              <a:spcAft>
                <a:spcPts val="600"/>
              </a:spcAft>
            </a:pPr>
            <a:r>
              <a:rPr sz="2600" b="1" i="0">
                <a:solidFill>
                  <a:srgbClr val="1E88C8"/>
                </a:solidFill>
                <a:latin typeface="Arial"/>
              </a:rPr>
              <a:t>11</a:t>
            </a:r>
          </a:p>
        </p:txBody>
      </p:sp>
      <p:sp>
        <p:nvSpPr>
          <p:cNvPr id="12" name="TextBox 11"/>
          <p:cNvSpPr txBox="1"/>
          <p:nvPr/>
        </p:nvSpPr>
        <p:spPr>
          <a:xfrm>
            <a:off x="3337560" y="5376672"/>
            <a:ext cx="1188720" cy="502920"/>
          </a:xfrm>
          <a:prstGeom prst="rect">
            <a:avLst/>
          </a:prstGeom>
          <a:noFill/>
        </p:spPr>
        <p:txBody>
          <a:bodyPr wrap="square" lIns="0" rIns="0" tIns="0" bIns="0" anchor="ctr"/>
          <a:lstStyle/>
          <a:p>
            <a:pPr algn="l">
              <a:spcAft>
                <a:spcPts val="600"/>
              </a:spcAft>
            </a:pPr>
            <a:r>
              <a:rPr sz="1400" b="0" i="0">
                <a:solidFill>
                  <a:srgbClr val="222222"/>
                </a:solidFill>
                <a:latin typeface="Arial"/>
              </a:rPr>
              <a:t>forms</a:t>
            </a:r>
          </a:p>
        </p:txBody>
      </p:sp>
      <p:sp>
        <p:nvSpPr>
          <p:cNvPr id="13" name="TextBox 12"/>
          <p:cNvSpPr txBox="1"/>
          <p:nvPr/>
        </p:nvSpPr>
        <p:spPr>
          <a:xfrm>
            <a:off x="4572000" y="5349240"/>
            <a:ext cx="914400" cy="502920"/>
          </a:xfrm>
          <a:prstGeom prst="rect">
            <a:avLst/>
          </a:prstGeom>
          <a:noFill/>
        </p:spPr>
        <p:txBody>
          <a:bodyPr wrap="square" lIns="0" rIns="0" tIns="0" bIns="0" anchor="t"/>
          <a:lstStyle/>
          <a:p>
            <a:pPr algn="l">
              <a:spcAft>
                <a:spcPts val="600"/>
              </a:spcAft>
            </a:pPr>
            <a:r>
              <a:rPr sz="2600" b="1" i="0">
                <a:solidFill>
                  <a:srgbClr val="C8102E"/>
                </a:solidFill>
                <a:latin typeface="Arial"/>
              </a:rPr>
              <a:t>6</a:t>
            </a:r>
          </a:p>
        </p:txBody>
      </p:sp>
      <p:sp>
        <p:nvSpPr>
          <p:cNvPr id="14" name="TextBox 13"/>
          <p:cNvSpPr txBox="1"/>
          <p:nvPr/>
        </p:nvSpPr>
        <p:spPr>
          <a:xfrm>
            <a:off x="5349240" y="5376672"/>
            <a:ext cx="1188720" cy="502920"/>
          </a:xfrm>
          <a:prstGeom prst="rect">
            <a:avLst/>
          </a:prstGeom>
          <a:noFill/>
        </p:spPr>
        <p:txBody>
          <a:bodyPr wrap="square" lIns="0" rIns="0" tIns="0" bIns="0" anchor="ctr"/>
          <a:lstStyle/>
          <a:p>
            <a:pPr algn="l">
              <a:spcAft>
                <a:spcPts val="600"/>
              </a:spcAft>
            </a:pPr>
            <a:r>
              <a:rPr sz="1400" b="0" i="0">
                <a:solidFill>
                  <a:srgbClr val="222222"/>
                </a:solidFill>
                <a:latin typeface="Arial"/>
              </a:rPr>
              <a:t>identifiers</a:t>
            </a:r>
          </a:p>
        </p:txBody>
      </p:sp>
      <p:sp>
        <p:nvSpPr>
          <p:cNvPr id="15" name="TextBox 14"/>
          <p:cNvSpPr txBox="1"/>
          <p:nvPr/>
        </p:nvSpPr>
        <p:spPr>
          <a:xfrm>
            <a:off x="6583680" y="5349240"/>
            <a:ext cx="914400" cy="502920"/>
          </a:xfrm>
          <a:prstGeom prst="rect">
            <a:avLst/>
          </a:prstGeom>
          <a:noFill/>
        </p:spPr>
        <p:txBody>
          <a:bodyPr wrap="square" lIns="0" rIns="0" tIns="0" bIns="0" anchor="t"/>
          <a:lstStyle/>
          <a:p>
            <a:pPr algn="l">
              <a:spcAft>
                <a:spcPts val="600"/>
              </a:spcAft>
            </a:pPr>
            <a:r>
              <a:rPr sz="2600" b="1" i="0">
                <a:solidFill>
                  <a:srgbClr val="B26A00"/>
                </a:solidFill>
                <a:latin typeface="Arial"/>
              </a:rPr>
              <a:t>5</a:t>
            </a:r>
          </a:p>
        </p:txBody>
      </p:sp>
      <p:sp>
        <p:nvSpPr>
          <p:cNvPr id="16" name="TextBox 15"/>
          <p:cNvSpPr txBox="1"/>
          <p:nvPr/>
        </p:nvSpPr>
        <p:spPr>
          <a:xfrm>
            <a:off x="7360920" y="5376672"/>
            <a:ext cx="1188720" cy="502920"/>
          </a:xfrm>
          <a:prstGeom prst="rect">
            <a:avLst/>
          </a:prstGeom>
          <a:noFill/>
        </p:spPr>
        <p:txBody>
          <a:bodyPr wrap="square" lIns="0" rIns="0" tIns="0" bIns="0" anchor="ctr"/>
          <a:lstStyle/>
          <a:p>
            <a:pPr algn="l">
              <a:spcAft>
                <a:spcPts val="600"/>
              </a:spcAft>
            </a:pPr>
            <a:r>
              <a:rPr sz="1400" b="0" i="0">
                <a:solidFill>
                  <a:srgbClr val="222222"/>
                </a:solidFill>
                <a:latin typeface="Arial"/>
              </a:rPr>
              <a:t>calculated</a:t>
            </a:r>
          </a:p>
        </p:txBody>
      </p:sp>
      <p:sp>
        <p:nvSpPr>
          <p:cNvPr id="17" name="TextBox 16"/>
          <p:cNvSpPr txBox="1"/>
          <p:nvPr/>
        </p:nvSpPr>
        <p:spPr>
          <a:xfrm>
            <a:off x="8595360" y="5303520"/>
            <a:ext cx="3044952" cy="640080"/>
          </a:xfrm>
          <a:prstGeom prst="rect">
            <a:avLst/>
          </a:prstGeom>
          <a:noFill/>
        </p:spPr>
        <p:txBody>
          <a:bodyPr wrap="square" lIns="0" rIns="0" tIns="0" bIns="0" anchor="t"/>
          <a:lstStyle/>
          <a:p>
            <a:pPr algn="l">
              <a:spcAft>
                <a:spcPts val="600"/>
              </a:spcAft>
            </a:pPr>
            <a:r>
              <a:rPr sz="1300" b="1" i="0">
                <a:solidFill>
                  <a:srgbClr val="2E7D32"/>
                </a:solidFill>
                <a:latin typeface="Arial"/>
              </a:rPr>
              <a:t>File: TBCARE_DataDictionary.csv</a:t>
            </a:r>
          </a:p>
        </p:txBody>
      </p:sp>
      <p:sp>
        <p:nvSpPr>
          <p:cNvPr id="18" name="TextBox 17"/>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ID: identifier   ·   BMI: body mass index   ·   QTcF: corrected QT interval (Fridericia)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Build TBCARE in this order</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50</a:t>
            </a:r>
          </a:p>
        </p:txBody>
      </p:sp>
      <p:graphicFrame>
        <p:nvGraphicFramePr>
          <p:cNvPr id="8" name="Table 7"/>
          <p:cNvGraphicFramePr>
            <a:graphicFrameLocks noGrp="1"/>
          </p:cNvGraphicFramePr>
          <p:nvPr/>
        </p:nvGraphicFramePr>
        <p:xfrm>
          <a:off x="548640" y="1417320"/>
          <a:ext cx="11091672" cy="4114800"/>
        </p:xfrm>
        <a:graphic>
          <a:graphicData uri="http://schemas.openxmlformats.org/drawingml/2006/table">
            <a:tbl>
              <a:tblPr firstRow="0" bandRow="0">
                <a:tableStyleId>{5C22544A-7EE6-4342-B048-85BDC9FD1C3A}</a:tableStyleId>
              </a:tblPr>
              <a:tblGrid>
                <a:gridCol w="457200"/>
                <a:gridCol w="3108960"/>
                <a:gridCol w="3931920"/>
                <a:gridCol w="3593592"/>
              </a:tblGrid>
              <a:tr h="457200">
                <a:tc>
                  <a:txBody>
                    <a:bodyPr wrap="square"/>
                    <a:lstStyle/>
                    <a:p>
                      <a:pPr algn="ctr">
                        <a:spcAft>
                          <a:spcPts val="0"/>
                        </a:spcAft>
                      </a:pPr>
                      <a:r>
                        <a:rPr sz="1300" b="1" i="0">
                          <a:solidFill>
                            <a:srgbClr val="FFFFFF"/>
                          </a:solidFill>
                          <a:latin typeface="Arial"/>
                        </a:rPr>
                        <a:t>#</a:t>
                      </a:r>
                    </a:p>
                  </a:txBody>
                  <a:tcPr marL="91440" marR="91440" marT="36576" marB="36576" anchor="ctr">
                    <a:solidFill>
                      <a:srgbClr val="41464C"/>
                    </a:solidFill>
                  </a:tcPr>
                </a:tc>
                <a:tc>
                  <a:txBody>
                    <a:bodyPr wrap="square"/>
                    <a:lstStyle/>
                    <a:p>
                      <a:pPr algn="l">
                        <a:spcAft>
                          <a:spcPts val="0"/>
                        </a:spcAft>
                      </a:pPr>
                      <a:r>
                        <a:rPr sz="1300" b="1" i="0">
                          <a:solidFill>
                            <a:srgbClr val="FFFFFF"/>
                          </a:solidFill>
                          <a:latin typeface="Arial"/>
                        </a:rPr>
                        <a:t>Step</a:t>
                      </a:r>
                    </a:p>
                  </a:txBody>
                  <a:tcPr marL="91440" marR="91440" marT="36576" marB="36576" anchor="ctr">
                    <a:solidFill>
                      <a:srgbClr val="41464C"/>
                    </a:solidFill>
                  </a:tcPr>
                </a:tc>
                <a:tc>
                  <a:txBody>
                    <a:bodyPr wrap="square"/>
                    <a:lstStyle/>
                    <a:p>
                      <a:pPr algn="l">
                        <a:spcAft>
                          <a:spcPts val="0"/>
                        </a:spcAft>
                      </a:pPr>
                      <a:r>
                        <a:rPr sz="1300" b="1" i="0">
                          <a:solidFill>
                            <a:srgbClr val="FFFFFF"/>
                          </a:solidFill>
                          <a:latin typeface="Arial"/>
                        </a:rPr>
                        <a:t>Where</a:t>
                      </a:r>
                    </a:p>
                  </a:txBody>
                  <a:tcPr marL="91440" marR="91440" marT="36576" marB="36576" anchor="ctr">
                    <a:solidFill>
                      <a:srgbClr val="41464C"/>
                    </a:solidFill>
                  </a:tcPr>
                </a:tc>
                <a:tc>
                  <a:txBody>
                    <a:bodyPr wrap="square"/>
                    <a:lstStyle/>
                    <a:p>
                      <a:pPr algn="l">
                        <a:spcAft>
                          <a:spcPts val="0"/>
                        </a:spcAft>
                      </a:pPr>
                      <a:r>
                        <a:rPr sz="1300" b="1" i="0">
                          <a:solidFill>
                            <a:srgbClr val="FFFFFF"/>
                          </a:solidFill>
                          <a:latin typeface="Arial"/>
                        </a:rPr>
                        <a:t>File</a:t>
                      </a:r>
                    </a:p>
                  </a:txBody>
                  <a:tcPr marL="91440" marR="91440" marT="36576" marB="36576" anchor="ctr">
                    <a:solidFill>
                      <a:srgbClr val="41464C"/>
                    </a:solidFill>
                  </a:tcPr>
                </a:tc>
              </a:tr>
              <a:tr h="457200">
                <a:tc>
                  <a:txBody>
                    <a:bodyPr wrap="square"/>
                    <a:lstStyle/>
                    <a:p>
                      <a:pPr algn="ctr">
                        <a:spcAft>
                          <a:spcPts val="0"/>
                        </a:spcAft>
                      </a:pPr>
                      <a:r>
                        <a:rPr sz="1300" b="0" i="0">
                          <a:solidFill>
                            <a:srgbClr val="222222"/>
                          </a:solidFill>
                          <a:latin typeface="Arial"/>
                        </a:rPr>
                        <a:t>1</a:t>
                      </a:r>
                    </a:p>
                  </a:txBody>
                  <a:tcPr marL="91440" marR="91440" marT="36576" marB="36576" anchor="ctr">
                    <a:solidFill>
                      <a:srgbClr val="FFFFFF"/>
                    </a:solidFill>
                  </a:tcPr>
                </a:tc>
                <a:tc>
                  <a:txBody>
                    <a:bodyPr wrap="square"/>
                    <a:lstStyle/>
                    <a:p>
                      <a:pPr algn="l">
                        <a:spcAft>
                          <a:spcPts val="0"/>
                        </a:spcAft>
                      </a:pPr>
                      <a:r>
                        <a:rPr sz="1300" b="1" i="0">
                          <a:solidFill>
                            <a:srgbClr val="222222"/>
                          </a:solidFill>
                          <a:latin typeface="Arial"/>
                        </a:rPr>
                        <a:t>Create project</a:t>
                      </a:r>
                    </a:p>
                  </a:txBody>
                  <a:tcPr marL="91440" marR="91440" marT="36576" marB="36576" anchor="ctr">
                    <a:solidFill>
                      <a:srgbClr val="FFFFFF"/>
                    </a:solidFill>
                  </a:tcPr>
                </a:tc>
                <a:tc>
                  <a:txBody>
                    <a:bodyPr wrap="square"/>
                    <a:lstStyle/>
                    <a:p>
                      <a:pPr algn="l">
                        <a:spcAft>
                          <a:spcPts val="0"/>
                        </a:spcAft>
                      </a:pPr>
                      <a:r>
                        <a:rPr sz="1300" b="0" i="0">
                          <a:solidFill>
                            <a:srgbClr val="222222"/>
                          </a:solidFill>
                          <a:latin typeface="Arial"/>
                        </a:rPr>
                        <a:t>Practice, empty project</a:t>
                      </a:r>
                    </a:p>
                  </a:txBody>
                  <a:tcPr marL="91440" marR="91440" marT="36576" marB="36576" anchor="ctr">
                    <a:solidFill>
                      <a:srgbClr val="FFFFFF"/>
                    </a:solidFill>
                  </a:tcPr>
                </a:tc>
                <a:tc>
                  <a:txBody>
                    <a:bodyPr wrap="square"/>
                    <a:lstStyle/>
                    <a:p>
                      <a:pPr algn="l">
                        <a:spcAft>
                          <a:spcPts val="0"/>
                        </a:spcAft>
                      </a:pPr>
                      <a:r>
                        <a:rPr sz="1300" b="0" i="0">
                          <a:solidFill>
                            <a:srgbClr val="62676D"/>
                          </a:solidFill>
                          <a:latin typeface="Arial"/>
                        </a:rPr>
                        <a:t>–</a:t>
                      </a:r>
                    </a:p>
                  </a:txBody>
                  <a:tcPr marL="91440" marR="91440" marT="36576" marB="36576" anchor="ctr">
                    <a:solidFill>
                      <a:srgbClr val="FFFFFF"/>
                    </a:solidFill>
                  </a:tcPr>
                </a:tc>
              </a:tr>
              <a:tr h="457200">
                <a:tc>
                  <a:txBody>
                    <a:bodyPr wrap="square"/>
                    <a:lstStyle/>
                    <a:p>
                      <a:pPr algn="ctr">
                        <a:spcAft>
                          <a:spcPts val="0"/>
                        </a:spcAft>
                      </a:pPr>
                      <a:r>
                        <a:rPr sz="1300" b="0" i="0">
                          <a:solidFill>
                            <a:srgbClr val="222222"/>
                          </a:solidFill>
                          <a:latin typeface="Arial"/>
                        </a:rPr>
                        <a:t>2</a:t>
                      </a:r>
                    </a:p>
                  </a:txBody>
                  <a:tcPr marL="91440" marR="91440" marT="36576" marB="36576" anchor="ctr">
                    <a:solidFill>
                      <a:srgbClr val="F2F4F6"/>
                    </a:solidFill>
                  </a:tcPr>
                </a:tc>
                <a:tc>
                  <a:txBody>
                    <a:bodyPr wrap="square"/>
                    <a:lstStyle/>
                    <a:p>
                      <a:pPr algn="l">
                        <a:spcAft>
                          <a:spcPts val="0"/>
                        </a:spcAft>
                      </a:pPr>
                      <a:r>
                        <a:rPr sz="1300" b="1" i="0">
                          <a:solidFill>
                            <a:srgbClr val="222222"/>
                          </a:solidFill>
                          <a:latin typeface="Arial"/>
                        </a:rPr>
                        <a:t>Upload data dictionary</a:t>
                      </a:r>
                    </a:p>
                  </a:txBody>
                  <a:tcPr marL="91440" marR="91440" marT="36576" marB="36576" anchor="ctr">
                    <a:solidFill>
                      <a:srgbClr val="F2F4F6"/>
                    </a:solidFill>
                  </a:tcPr>
                </a:tc>
                <a:tc>
                  <a:txBody>
                    <a:bodyPr wrap="square"/>
                    <a:lstStyle/>
                    <a:p>
                      <a:pPr algn="l">
                        <a:spcAft>
                          <a:spcPts val="0"/>
                        </a:spcAft>
                      </a:pPr>
                      <a:r>
                        <a:rPr sz="1300" b="0" i="0">
                          <a:solidFill>
                            <a:srgbClr val="222222"/>
                          </a:solidFill>
                          <a:latin typeface="Arial"/>
                        </a:rPr>
                        <a:t>Dictionary &gt; Upload</a:t>
                      </a:r>
                    </a:p>
                  </a:txBody>
                  <a:tcPr marL="91440" marR="91440" marT="36576" marB="36576" anchor="ctr">
                    <a:solidFill>
                      <a:srgbClr val="F2F4F6"/>
                    </a:solidFill>
                  </a:tcPr>
                </a:tc>
                <a:tc>
                  <a:txBody>
                    <a:bodyPr wrap="square"/>
                    <a:lstStyle/>
                    <a:p>
                      <a:pPr algn="l">
                        <a:spcAft>
                          <a:spcPts val="0"/>
                        </a:spcAft>
                      </a:pPr>
                      <a:r>
                        <a:rPr sz="1300" b="0" i="0">
                          <a:solidFill>
                            <a:srgbClr val="1E88C8"/>
                          </a:solidFill>
                          <a:latin typeface="Arial"/>
                        </a:rPr>
                        <a:t>TBCARE_DataDictionary.csv</a:t>
                      </a:r>
                    </a:p>
                  </a:txBody>
                  <a:tcPr marL="91440" marR="91440" marT="36576" marB="36576" anchor="ctr">
                    <a:solidFill>
                      <a:srgbClr val="F2F4F6"/>
                    </a:solidFill>
                  </a:tcPr>
                </a:tc>
              </a:tr>
              <a:tr h="457200">
                <a:tc>
                  <a:txBody>
                    <a:bodyPr wrap="square"/>
                    <a:lstStyle/>
                    <a:p>
                      <a:pPr algn="ctr">
                        <a:spcAft>
                          <a:spcPts val="0"/>
                        </a:spcAft>
                      </a:pPr>
                      <a:r>
                        <a:rPr sz="1300" b="0" i="0">
                          <a:solidFill>
                            <a:srgbClr val="222222"/>
                          </a:solidFill>
                          <a:latin typeface="Arial"/>
                        </a:rPr>
                        <a:t>3</a:t>
                      </a:r>
                    </a:p>
                  </a:txBody>
                  <a:tcPr marL="91440" marR="91440" marT="36576" marB="36576" anchor="ctr">
                    <a:solidFill>
                      <a:srgbClr val="FFFFFF"/>
                    </a:solidFill>
                  </a:tcPr>
                </a:tc>
                <a:tc>
                  <a:txBody>
                    <a:bodyPr wrap="square"/>
                    <a:lstStyle/>
                    <a:p>
                      <a:pPr algn="l">
                        <a:spcAft>
                          <a:spcPts val="0"/>
                        </a:spcAft>
                      </a:pPr>
                      <a:r>
                        <a:rPr sz="1300" b="1" i="0">
                          <a:solidFill>
                            <a:srgbClr val="222222"/>
                          </a:solidFill>
                          <a:latin typeface="Arial"/>
                        </a:rPr>
                        <a:t>Enable longitudinal + surveys</a:t>
                      </a:r>
                    </a:p>
                  </a:txBody>
                  <a:tcPr marL="91440" marR="91440" marT="36576" marB="36576" anchor="ctr">
                    <a:solidFill>
                      <a:srgbClr val="FFFFFF"/>
                    </a:solidFill>
                  </a:tcPr>
                </a:tc>
                <a:tc>
                  <a:txBody>
                    <a:bodyPr wrap="square"/>
                    <a:lstStyle/>
                    <a:p>
                      <a:pPr algn="l">
                        <a:spcAft>
                          <a:spcPts val="0"/>
                        </a:spcAft>
                      </a:pPr>
                      <a:r>
                        <a:rPr sz="1300" b="0" i="0">
                          <a:solidFill>
                            <a:srgbClr val="222222"/>
                          </a:solidFill>
                          <a:latin typeface="Arial"/>
                        </a:rPr>
                        <a:t>Project Setup</a:t>
                      </a:r>
                    </a:p>
                  </a:txBody>
                  <a:tcPr marL="91440" marR="91440" marT="36576" marB="36576" anchor="ctr">
                    <a:solidFill>
                      <a:srgbClr val="FFFFFF"/>
                    </a:solidFill>
                  </a:tcPr>
                </a:tc>
                <a:tc>
                  <a:txBody>
                    <a:bodyPr wrap="square"/>
                    <a:lstStyle/>
                    <a:p>
                      <a:pPr algn="l">
                        <a:spcAft>
                          <a:spcPts val="0"/>
                        </a:spcAft>
                      </a:pPr>
                      <a:r>
                        <a:rPr sz="1300" b="0" i="0">
                          <a:solidFill>
                            <a:srgbClr val="62676D"/>
                          </a:solidFill>
                          <a:latin typeface="Arial"/>
                        </a:rPr>
                        <a:t>–</a:t>
                      </a:r>
                    </a:p>
                  </a:txBody>
                  <a:tcPr marL="91440" marR="91440" marT="36576" marB="36576" anchor="ctr">
                    <a:solidFill>
                      <a:srgbClr val="FFFFFF"/>
                    </a:solidFill>
                  </a:tcPr>
                </a:tc>
              </a:tr>
              <a:tr h="457200">
                <a:tc>
                  <a:txBody>
                    <a:bodyPr wrap="square"/>
                    <a:lstStyle/>
                    <a:p>
                      <a:pPr algn="ctr">
                        <a:spcAft>
                          <a:spcPts val="0"/>
                        </a:spcAft>
                      </a:pPr>
                      <a:r>
                        <a:rPr sz="1300" b="0" i="0">
                          <a:solidFill>
                            <a:srgbClr val="222222"/>
                          </a:solidFill>
                          <a:latin typeface="Arial"/>
                        </a:rPr>
                        <a:t>4</a:t>
                      </a:r>
                    </a:p>
                  </a:txBody>
                  <a:tcPr marL="91440" marR="91440" marT="36576" marB="36576" anchor="ctr">
                    <a:solidFill>
                      <a:srgbClr val="F2F4F6"/>
                    </a:solidFill>
                  </a:tcPr>
                </a:tc>
                <a:tc>
                  <a:txBody>
                    <a:bodyPr wrap="square"/>
                    <a:lstStyle/>
                    <a:p>
                      <a:pPr algn="l">
                        <a:spcAft>
                          <a:spcPts val="0"/>
                        </a:spcAft>
                      </a:pPr>
                      <a:r>
                        <a:rPr sz="1300" b="1" i="0">
                          <a:solidFill>
                            <a:srgbClr val="222222"/>
                          </a:solidFill>
                          <a:latin typeface="Arial"/>
                        </a:rPr>
                        <a:t>Arms and events</a:t>
                      </a:r>
                    </a:p>
                  </a:txBody>
                  <a:tcPr marL="91440" marR="91440" marT="36576" marB="36576" anchor="ctr">
                    <a:solidFill>
                      <a:srgbClr val="F2F4F6"/>
                    </a:solidFill>
                  </a:tcPr>
                </a:tc>
                <a:tc>
                  <a:txBody>
                    <a:bodyPr wrap="square"/>
                    <a:lstStyle/>
                    <a:p>
                      <a:pPr algn="l">
                        <a:spcAft>
                          <a:spcPts val="0"/>
                        </a:spcAft>
                      </a:pPr>
                      <a:r>
                        <a:rPr sz="1300" b="0" i="0">
                          <a:solidFill>
                            <a:srgbClr val="222222"/>
                          </a:solidFill>
                          <a:latin typeface="Arial"/>
                        </a:rPr>
                        <a:t>Define My Events &gt; Upload</a:t>
                      </a:r>
                    </a:p>
                  </a:txBody>
                  <a:tcPr marL="91440" marR="91440" marT="36576" marB="36576" anchor="ctr">
                    <a:solidFill>
                      <a:srgbClr val="F2F4F6"/>
                    </a:solidFill>
                  </a:tcPr>
                </a:tc>
                <a:tc>
                  <a:txBody>
                    <a:bodyPr wrap="square"/>
                    <a:lstStyle/>
                    <a:p>
                      <a:pPr algn="l">
                        <a:spcAft>
                          <a:spcPts val="0"/>
                        </a:spcAft>
                      </a:pPr>
                      <a:r>
                        <a:rPr sz="1300" b="0" i="0">
                          <a:solidFill>
                            <a:srgbClr val="1E88C8"/>
                          </a:solidFill>
                          <a:latin typeface="Arial"/>
                        </a:rPr>
                        <a:t>TBCARE_arms.csv, TBCARE_events.csv</a:t>
                      </a:r>
                    </a:p>
                  </a:txBody>
                  <a:tcPr marL="91440" marR="91440" marT="36576" marB="36576" anchor="ctr">
                    <a:solidFill>
                      <a:srgbClr val="F2F4F6"/>
                    </a:solidFill>
                  </a:tcPr>
                </a:tc>
              </a:tr>
              <a:tr h="457200">
                <a:tc>
                  <a:txBody>
                    <a:bodyPr wrap="square"/>
                    <a:lstStyle/>
                    <a:p>
                      <a:pPr algn="ctr">
                        <a:spcAft>
                          <a:spcPts val="0"/>
                        </a:spcAft>
                      </a:pPr>
                      <a:r>
                        <a:rPr sz="1300" b="0" i="0">
                          <a:solidFill>
                            <a:srgbClr val="222222"/>
                          </a:solidFill>
                          <a:latin typeface="Arial"/>
                        </a:rPr>
                        <a:t>5</a:t>
                      </a:r>
                    </a:p>
                  </a:txBody>
                  <a:tcPr marL="91440" marR="91440" marT="36576" marB="36576" anchor="ctr">
                    <a:solidFill>
                      <a:srgbClr val="FFFFFF"/>
                    </a:solidFill>
                  </a:tcPr>
                </a:tc>
                <a:tc>
                  <a:txBody>
                    <a:bodyPr wrap="square"/>
                    <a:lstStyle/>
                    <a:p>
                      <a:pPr algn="l">
                        <a:spcAft>
                          <a:spcPts val="0"/>
                        </a:spcAft>
                      </a:pPr>
                      <a:r>
                        <a:rPr sz="1300" b="1" i="0">
                          <a:solidFill>
                            <a:srgbClr val="222222"/>
                          </a:solidFill>
                          <a:latin typeface="Arial"/>
                        </a:rPr>
                        <a:t>Designate instruments</a:t>
                      </a:r>
                    </a:p>
                  </a:txBody>
                  <a:tcPr marL="91440" marR="91440" marT="36576" marB="36576" anchor="ctr">
                    <a:solidFill>
                      <a:srgbClr val="FFFFFF"/>
                    </a:solidFill>
                  </a:tcPr>
                </a:tc>
                <a:tc>
                  <a:txBody>
                    <a:bodyPr wrap="square"/>
                    <a:lstStyle/>
                    <a:p>
                      <a:pPr algn="l">
                        <a:spcAft>
                          <a:spcPts val="0"/>
                        </a:spcAft>
                      </a:pPr>
                      <a:r>
                        <a:rPr sz="1300" b="0" i="0">
                          <a:solidFill>
                            <a:srgbClr val="222222"/>
                          </a:solidFill>
                          <a:latin typeface="Arial"/>
                        </a:rPr>
                        <a:t>Designate Instruments &gt; Upload</a:t>
                      </a:r>
                    </a:p>
                  </a:txBody>
                  <a:tcPr marL="91440" marR="91440" marT="36576" marB="36576" anchor="ctr">
                    <a:solidFill>
                      <a:srgbClr val="FFFFFF"/>
                    </a:solidFill>
                  </a:tcPr>
                </a:tc>
                <a:tc>
                  <a:txBody>
                    <a:bodyPr wrap="square"/>
                    <a:lstStyle/>
                    <a:p>
                      <a:pPr algn="l">
                        <a:spcAft>
                          <a:spcPts val="0"/>
                        </a:spcAft>
                      </a:pPr>
                      <a:r>
                        <a:rPr sz="1300" b="0" i="0">
                          <a:solidFill>
                            <a:srgbClr val="1E88C8"/>
                          </a:solidFill>
                          <a:latin typeface="Arial"/>
                        </a:rPr>
                        <a:t>TBCARE_instrument_event_mapping.csv</a:t>
                      </a:r>
                    </a:p>
                  </a:txBody>
                  <a:tcPr marL="91440" marR="91440" marT="36576" marB="36576" anchor="ctr">
                    <a:solidFill>
                      <a:srgbClr val="FFFFFF"/>
                    </a:solidFill>
                  </a:tcPr>
                </a:tc>
              </a:tr>
              <a:tr h="457200">
                <a:tc>
                  <a:txBody>
                    <a:bodyPr wrap="square"/>
                    <a:lstStyle/>
                    <a:p>
                      <a:pPr algn="ctr">
                        <a:spcAft>
                          <a:spcPts val="0"/>
                        </a:spcAft>
                      </a:pPr>
                      <a:r>
                        <a:rPr sz="1300" b="0" i="0">
                          <a:solidFill>
                            <a:srgbClr val="222222"/>
                          </a:solidFill>
                          <a:latin typeface="Arial"/>
                        </a:rPr>
                        <a:t>6</a:t>
                      </a:r>
                    </a:p>
                  </a:txBody>
                  <a:tcPr marL="91440" marR="91440" marT="36576" marB="36576" anchor="ctr">
                    <a:solidFill>
                      <a:srgbClr val="F2F4F6"/>
                    </a:solidFill>
                  </a:tcPr>
                </a:tc>
                <a:tc>
                  <a:txBody>
                    <a:bodyPr wrap="square"/>
                    <a:lstStyle/>
                    <a:p>
                      <a:pPr algn="l">
                        <a:spcAft>
                          <a:spcPts val="0"/>
                        </a:spcAft>
                      </a:pPr>
                      <a:r>
                        <a:rPr sz="1300" b="1" i="0">
                          <a:solidFill>
                            <a:srgbClr val="222222"/>
                          </a:solidFill>
                          <a:latin typeface="Arial"/>
                        </a:rPr>
                        <a:t>Repeating</a:t>
                      </a:r>
                    </a:p>
                  </a:txBody>
                  <a:tcPr marL="91440" marR="91440" marT="36576" marB="36576" anchor="ctr">
                    <a:solidFill>
                      <a:srgbClr val="F2F4F6"/>
                    </a:solidFill>
                  </a:tcPr>
                </a:tc>
                <a:tc>
                  <a:txBody>
                    <a:bodyPr wrap="square"/>
                    <a:lstStyle/>
                    <a:p>
                      <a:pPr algn="l">
                        <a:spcAft>
                          <a:spcPts val="0"/>
                        </a:spcAft>
                      </a:pPr>
                      <a:r>
                        <a:rPr sz="1300" b="0" i="0">
                          <a:solidFill>
                            <a:srgbClr val="222222"/>
                          </a:solidFill>
                          <a:latin typeface="Arial"/>
                        </a:rPr>
                        <a:t>Unscheduled = event; AE and medications = instruments</a:t>
                      </a:r>
                    </a:p>
                  </a:txBody>
                  <a:tcPr marL="91440" marR="91440" marT="36576" marB="36576" anchor="ctr">
                    <a:solidFill>
                      <a:srgbClr val="F2F4F6"/>
                    </a:solidFill>
                  </a:tcPr>
                </a:tc>
                <a:tc>
                  <a:txBody>
                    <a:bodyPr wrap="square"/>
                    <a:lstStyle/>
                    <a:p>
                      <a:pPr algn="l">
                        <a:spcAft>
                          <a:spcPts val="0"/>
                        </a:spcAft>
                      </a:pPr>
                      <a:r>
                        <a:rPr sz="1300" b="0" i="0">
                          <a:solidFill>
                            <a:srgbClr val="62676D"/>
                          </a:solidFill>
                          <a:latin typeface="Arial"/>
                        </a:rPr>
                        <a:t>set by hand</a:t>
                      </a:r>
                    </a:p>
                  </a:txBody>
                  <a:tcPr marL="91440" marR="91440" marT="36576" marB="36576" anchor="ctr">
                    <a:solidFill>
                      <a:srgbClr val="F2F4F6"/>
                    </a:solidFill>
                  </a:tcPr>
                </a:tc>
              </a:tr>
              <a:tr h="457200">
                <a:tc>
                  <a:txBody>
                    <a:bodyPr wrap="square"/>
                    <a:lstStyle/>
                    <a:p>
                      <a:pPr algn="ctr">
                        <a:spcAft>
                          <a:spcPts val="0"/>
                        </a:spcAft>
                      </a:pPr>
                      <a:r>
                        <a:rPr sz="1300" b="0" i="0">
                          <a:solidFill>
                            <a:srgbClr val="222222"/>
                          </a:solidFill>
                          <a:latin typeface="Arial"/>
                        </a:rPr>
                        <a:t>7</a:t>
                      </a:r>
                    </a:p>
                  </a:txBody>
                  <a:tcPr marL="91440" marR="91440" marT="36576" marB="36576" anchor="ctr">
                    <a:solidFill>
                      <a:srgbClr val="FFFFFF"/>
                    </a:solidFill>
                  </a:tcPr>
                </a:tc>
                <a:tc>
                  <a:txBody>
                    <a:bodyPr wrap="square"/>
                    <a:lstStyle/>
                    <a:p>
                      <a:pPr algn="l">
                        <a:spcAft>
                          <a:spcPts val="0"/>
                        </a:spcAft>
                      </a:pPr>
                      <a:r>
                        <a:rPr sz="1300" b="1" i="0">
                          <a:solidFill>
                            <a:srgbClr val="222222"/>
                          </a:solidFill>
                          <a:latin typeface="Arial"/>
                        </a:rPr>
                        <a:t>DAGs</a:t>
                      </a:r>
                    </a:p>
                  </a:txBody>
                  <a:tcPr marL="91440" marR="91440" marT="36576" marB="36576" anchor="ctr">
                    <a:solidFill>
                      <a:srgbClr val="FFFFFF"/>
                    </a:solidFill>
                  </a:tcPr>
                </a:tc>
                <a:tc>
                  <a:txBody>
                    <a:bodyPr wrap="square"/>
                    <a:lstStyle/>
                    <a:p>
                      <a:pPr algn="l">
                        <a:spcAft>
                          <a:spcPts val="0"/>
                        </a:spcAft>
                      </a:pPr>
                      <a:r>
                        <a:rPr sz="1300" b="0" i="0">
                          <a:solidFill>
                            <a:srgbClr val="222222"/>
                          </a:solidFill>
                          <a:latin typeface="Arial"/>
                        </a:rPr>
                        <a:t>antwerp, mbarara</a:t>
                      </a:r>
                    </a:p>
                  </a:txBody>
                  <a:tcPr marL="91440" marR="91440" marT="36576" marB="36576" anchor="ctr">
                    <a:solidFill>
                      <a:srgbClr val="FFFFFF"/>
                    </a:solidFill>
                  </a:tcPr>
                </a:tc>
                <a:tc>
                  <a:txBody>
                    <a:bodyPr wrap="square"/>
                    <a:lstStyle/>
                    <a:p>
                      <a:pPr algn="l">
                        <a:spcAft>
                          <a:spcPts val="0"/>
                        </a:spcAft>
                      </a:pPr>
                      <a:r>
                        <a:rPr sz="1300" b="0" i="0">
                          <a:solidFill>
                            <a:srgbClr val="62676D"/>
                          </a:solidFill>
                          <a:latin typeface="Arial"/>
                        </a:rPr>
                        <a:t>set by hand</a:t>
                      </a:r>
                    </a:p>
                  </a:txBody>
                  <a:tcPr marL="91440" marR="91440" marT="36576" marB="36576" anchor="ctr">
                    <a:solidFill>
                      <a:srgbClr val="FFFFFF"/>
                    </a:solidFill>
                  </a:tcPr>
                </a:tc>
              </a:tr>
              <a:tr h="457200">
                <a:tc>
                  <a:txBody>
                    <a:bodyPr wrap="square"/>
                    <a:lstStyle/>
                    <a:p>
                      <a:pPr algn="ctr">
                        <a:spcAft>
                          <a:spcPts val="0"/>
                        </a:spcAft>
                      </a:pPr>
                      <a:r>
                        <a:rPr sz="1300" b="0" i="0">
                          <a:solidFill>
                            <a:srgbClr val="222222"/>
                          </a:solidFill>
                          <a:latin typeface="Arial"/>
                        </a:rPr>
                        <a:t>8</a:t>
                      </a:r>
                    </a:p>
                  </a:txBody>
                  <a:tcPr marL="91440" marR="91440" marT="36576" marB="36576" anchor="ctr">
                    <a:solidFill>
                      <a:srgbClr val="F2F4F6"/>
                    </a:solidFill>
                  </a:tcPr>
                </a:tc>
                <a:tc>
                  <a:txBody>
                    <a:bodyPr wrap="square"/>
                    <a:lstStyle/>
                    <a:p>
                      <a:pPr algn="l">
                        <a:spcAft>
                          <a:spcPts val="0"/>
                        </a:spcAft>
                      </a:pPr>
                      <a:r>
                        <a:rPr sz="1300" b="1" i="0">
                          <a:solidFill>
                            <a:srgbClr val="222222"/>
                          </a:solidFill>
                          <a:latin typeface="Arial"/>
                        </a:rPr>
                        <a:t>Surveys</a:t>
                      </a:r>
                    </a:p>
                  </a:txBody>
                  <a:tcPr marL="91440" marR="91440" marT="36576" marB="36576" anchor="ctr">
                    <a:solidFill>
                      <a:srgbClr val="F2F4F6"/>
                    </a:solidFill>
                  </a:tcPr>
                </a:tc>
                <a:tc>
                  <a:txBody>
                    <a:bodyPr wrap="square"/>
                    <a:lstStyle/>
                    <a:p>
                      <a:pPr algn="l">
                        <a:spcAft>
                          <a:spcPts val="0"/>
                        </a:spcAft>
                      </a:pPr>
                      <a:r>
                        <a:rPr sz="1300" b="0" i="0">
                          <a:solidFill>
                            <a:srgbClr val="222222"/>
                          </a:solidFill>
                          <a:latin typeface="Arial"/>
                        </a:rPr>
                        <a:t>e-Consent, Quality of life</a:t>
                      </a:r>
                    </a:p>
                  </a:txBody>
                  <a:tcPr marL="91440" marR="91440" marT="36576" marB="36576" anchor="ctr">
                    <a:solidFill>
                      <a:srgbClr val="F2F4F6"/>
                    </a:solidFill>
                  </a:tcPr>
                </a:tc>
                <a:tc>
                  <a:txBody>
                    <a:bodyPr wrap="square"/>
                    <a:lstStyle/>
                    <a:p>
                      <a:pPr algn="l">
                        <a:spcAft>
                          <a:spcPts val="0"/>
                        </a:spcAft>
                      </a:pPr>
                      <a:r>
                        <a:rPr sz="1300" b="0" i="0">
                          <a:solidFill>
                            <a:srgbClr val="62676D"/>
                          </a:solidFill>
                          <a:latin typeface="Arial"/>
                        </a:rPr>
                        <a:t>set by hand</a:t>
                      </a:r>
                    </a:p>
                  </a:txBody>
                  <a:tcPr marL="91440" marR="91440" marT="36576" marB="36576" anchor="ctr">
                    <a:solidFill>
                      <a:srgbClr val="F2F4F6"/>
                    </a:solidFill>
                  </a:tcPr>
                </a:tc>
              </a:tr>
            </a:tbl>
          </a:graphicData>
        </a:graphic>
      </p:graphicFrame>
      <p:sp>
        <p:nvSpPr>
          <p:cNvPr id="9" name="Rectangle 8"/>
          <p:cNvSpPr/>
          <p:nvPr/>
        </p:nvSpPr>
        <p:spPr>
          <a:xfrm>
            <a:off x="548640" y="548640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48640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777240" y="5577840"/>
            <a:ext cx="365760" cy="365760"/>
          </a:xfrm>
          <a:prstGeom prst="rect">
            <a:avLst/>
          </a:prstGeom>
        </p:spPr>
      </p:pic>
      <p:sp>
        <p:nvSpPr>
          <p:cNvPr id="12" name="TextBox 11"/>
          <p:cNvSpPr txBox="1"/>
          <p:nvPr/>
        </p:nvSpPr>
        <p:spPr>
          <a:xfrm>
            <a:off x="1280160" y="548640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Then </a:t>
            </a:r>
            <a:r>
              <a:rPr sz="1500" b="1" i="0">
                <a:solidFill>
                  <a:srgbClr val="1E88C8"/>
                </a:solidFill>
                <a:latin typeface="Arial"/>
              </a:rPr>
              <a:t>test</a:t>
            </a:r>
            <a:r>
              <a:rPr sz="1500" b="0" i="0">
                <a:solidFill>
                  <a:srgbClr val="222222"/>
                </a:solidFill>
                <a:latin typeface="Arial"/>
              </a:rPr>
              <a:t> with 3 fake records before importing anything.</a:t>
            </a:r>
          </a:p>
        </p:txBody>
      </p:sp>
      <p:sp>
        <p:nvSpPr>
          <p:cNvPr id="13" name="TextBox 12"/>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DAGs: Data Access Groups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Uploading the simulated data</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51</a:t>
            </a:r>
          </a:p>
        </p:txBody>
      </p:sp>
      <p:graphicFrame>
        <p:nvGraphicFramePr>
          <p:cNvPr id="8" name="Table 7"/>
          <p:cNvGraphicFramePr>
            <a:graphicFrameLocks noGrp="1"/>
          </p:cNvGraphicFramePr>
          <p:nvPr/>
        </p:nvGraphicFramePr>
        <p:xfrm>
          <a:off x="548640" y="1417320"/>
          <a:ext cx="11091672" cy="2304288"/>
        </p:xfrm>
        <a:graphic>
          <a:graphicData uri="http://schemas.openxmlformats.org/drawingml/2006/table">
            <a:tbl>
              <a:tblPr firstRow="0" bandRow="0">
                <a:tableStyleId>{5C22544A-7EE6-4342-B048-85BDC9FD1C3A}</a:tableStyleId>
              </a:tblPr>
              <a:tblGrid>
                <a:gridCol w="868680"/>
                <a:gridCol w="1783080"/>
                <a:gridCol w="2148840"/>
                <a:gridCol w="1965960"/>
                <a:gridCol w="2057400"/>
                <a:gridCol w="1005840"/>
                <a:gridCol w="1261872"/>
              </a:tblGrid>
              <a:tr h="384048">
                <a:tc>
                  <a:txBody>
                    <a:bodyPr wrap="square"/>
                    <a:lstStyle/>
                    <a:p>
                      <a:pPr algn="l">
                        <a:spcAft>
                          <a:spcPts val="0"/>
                        </a:spcAft>
                      </a:pPr>
                      <a:r>
                        <a:rPr sz="1000" b="1" i="0">
                          <a:solidFill>
                            <a:srgbClr val="FFFFFF"/>
                          </a:solidFill>
                          <a:latin typeface="Consolas"/>
                        </a:rPr>
                        <a:t>record_id</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redcap_event_name</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redcap_repeat_instrument</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redcap_repeat_instance</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redcap_data_access_group</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weight_kg</a:t>
                      </a:r>
                    </a:p>
                  </a:txBody>
                  <a:tcPr marL="91440" marR="91440" marT="36576" marB="36576" anchor="ctr">
                    <a:solidFill>
                      <a:srgbClr val="41464C"/>
                    </a:solidFill>
                  </a:tcPr>
                </a:tc>
                <a:tc>
                  <a:txBody>
                    <a:bodyPr wrap="square"/>
                    <a:lstStyle/>
                    <a:p>
                      <a:pPr algn="l">
                        <a:spcAft>
                          <a:spcPts val="0"/>
                        </a:spcAft>
                      </a:pPr>
                      <a:r>
                        <a:rPr sz="1000" b="1" i="0">
                          <a:solidFill>
                            <a:srgbClr val="FFFFFF"/>
                          </a:solidFill>
                          <a:latin typeface="Consolas"/>
                        </a:rPr>
                        <a:t>ae_term</a:t>
                      </a:r>
                    </a:p>
                  </a:txBody>
                  <a:tcPr marL="91440" marR="91440" marT="36576" marB="36576" anchor="ctr">
                    <a:solidFill>
                      <a:srgbClr val="41464C"/>
                    </a:solidFill>
                  </a:tcPr>
                </a:tc>
              </a:tr>
              <a:tr h="384048">
                <a:tc>
                  <a:txBody>
                    <a:bodyPr wrap="square"/>
                    <a:lstStyle/>
                    <a:p>
                      <a:pPr algn="l">
                        <a:spcAft>
                          <a:spcPts val="0"/>
                        </a:spcAft>
                      </a:pPr>
                      <a:r>
                        <a:rPr sz="1000" b="0" i="0">
                          <a:solidFill>
                            <a:srgbClr val="222222"/>
                          </a:solidFill>
                          <a:latin typeface="Consolas"/>
                        </a:rPr>
                        <a:t>1-001</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baseline_arm_1</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antwerp</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61.5</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1000" b="0" i="0">
                          <a:solidFill>
                            <a:srgbClr val="222222"/>
                          </a:solidFill>
                          <a:latin typeface="Consolas"/>
                        </a:rPr>
                        <a:t>1-001</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month_2_arm_1</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antwerp</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63.0</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1000" b="0" i="0">
                          <a:solidFill>
                            <a:srgbClr val="222222"/>
                          </a:solidFill>
                          <a:latin typeface="Consolas"/>
                        </a:rPr>
                        <a:t>1-001</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unscheduled_arm_1</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1</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antwerp</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62.4</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1000" b="0" i="0">
                          <a:solidFill>
                            <a:srgbClr val="222222"/>
                          </a:solidFill>
                          <a:latin typeface="Consolas"/>
                        </a:rPr>
                        <a:t>1-001</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logs_arm_1</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adverse_events</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1</a:t>
                      </a: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antwerp</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1000" b="0" i="0">
                          <a:solidFill>
                            <a:srgbClr val="222222"/>
                          </a:solidFill>
                          <a:latin typeface="Consolas"/>
                        </a:rPr>
                        <a:t>Nausea</a:t>
                      </a:r>
                    </a:p>
                  </a:txBody>
                  <a:tcPr marL="91440" marR="91440" marT="36576" marB="36576" anchor="ctr">
                    <a:solidFill>
                      <a:srgbClr val="F2F4F6"/>
                    </a:solidFill>
                  </a:tcPr>
                </a:tc>
              </a:tr>
              <a:tr h="384048">
                <a:tc>
                  <a:txBody>
                    <a:bodyPr wrap="square"/>
                    <a:lstStyle/>
                    <a:p>
                      <a:pPr algn="l">
                        <a:spcAft>
                          <a:spcPts val="0"/>
                        </a:spcAft>
                      </a:pPr>
                      <a:r>
                        <a:rPr sz="1000" b="0" i="0">
                          <a:solidFill>
                            <a:srgbClr val="222222"/>
                          </a:solidFill>
                          <a:latin typeface="Consolas"/>
                        </a:rPr>
                        <a:t>2-003</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month_9_arm_2</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mbarara</a:t>
                      </a:r>
                    </a:p>
                  </a:txBody>
                  <a:tcPr marL="91440" marR="91440" marT="36576" marB="36576" anchor="ctr">
                    <a:solidFill>
                      <a:srgbClr val="FFFFFF"/>
                    </a:solidFill>
                  </a:tcPr>
                </a:tc>
                <a:tc>
                  <a:txBody>
                    <a:bodyPr wrap="square"/>
                    <a:lstStyle/>
                    <a:p>
                      <a:pPr algn="l">
                        <a:spcAft>
                          <a:spcPts val="0"/>
                        </a:spcAft>
                      </a:pPr>
                      <a:r>
                        <a:rPr sz="1000" b="0" i="0">
                          <a:solidFill>
                            <a:srgbClr val="222222"/>
                          </a:solidFill>
                          <a:latin typeface="Consolas"/>
                        </a:rPr>
                        <a:t>58.2</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bl>
          </a:graphicData>
        </a:graphic>
      </p:graphicFrame>
      <p:pic>
        <p:nvPicPr>
          <p:cNvPr id="9" name="Picture 8" descr="image.png"/>
          <p:cNvPicPr>
            <a:picLocks noChangeAspect="1"/>
          </p:cNvPicPr>
          <p:nvPr/>
        </p:nvPicPr>
        <p:blipFill>
          <a:blip r:embed="rId3"/>
          <a:stretch>
            <a:fillRect/>
          </a:stretch>
        </p:blipFill>
        <p:spPr>
          <a:xfrm>
            <a:off x="548640" y="3977639"/>
            <a:ext cx="411480" cy="411480"/>
          </a:xfrm>
          <a:prstGeom prst="rect">
            <a:avLst/>
          </a:prstGeom>
        </p:spPr>
      </p:pic>
      <p:sp>
        <p:nvSpPr>
          <p:cNvPr id="10" name="TextBox 9"/>
          <p:cNvSpPr txBox="1"/>
          <p:nvPr/>
        </p:nvSpPr>
        <p:spPr>
          <a:xfrm>
            <a:off x="1097280" y="3931920"/>
            <a:ext cx="3108960" cy="548640"/>
          </a:xfrm>
          <a:prstGeom prst="rect">
            <a:avLst/>
          </a:prstGeom>
          <a:noFill/>
        </p:spPr>
        <p:txBody>
          <a:bodyPr wrap="square" lIns="0" rIns="0" tIns="0" bIns="0" anchor="t"/>
          <a:lstStyle/>
          <a:p>
            <a:pPr algn="l">
              <a:spcAft>
                <a:spcPts val="0"/>
              </a:spcAft>
            </a:pPr>
            <a:r>
              <a:rPr sz="1500" b="1" i="0">
                <a:solidFill>
                  <a:srgbClr val="41464C"/>
                </a:solidFill>
                <a:latin typeface="Arial"/>
              </a:rPr>
              <a:t>Event</a:t>
            </a:r>
          </a:p>
          <a:p>
            <a:pPr algn="l">
              <a:spcAft>
                <a:spcPts val="600"/>
              </a:spcAft>
            </a:pPr>
            <a:r>
              <a:rPr sz="1200" b="0" i="0">
                <a:solidFill>
                  <a:srgbClr val="62676D"/>
                </a:solidFill>
                <a:latin typeface="Arial"/>
              </a:rPr>
              <a:t>redcap_event_name</a:t>
            </a:r>
          </a:p>
        </p:txBody>
      </p:sp>
      <p:pic>
        <p:nvPicPr>
          <p:cNvPr id="11" name="Picture 10" descr="E8EE_1E88C8.png"/>
          <p:cNvPicPr>
            <a:picLocks noChangeAspect="1"/>
          </p:cNvPicPr>
          <p:nvPr/>
        </p:nvPicPr>
        <p:blipFill>
          <a:blip r:embed="rId4"/>
          <a:stretch>
            <a:fillRect/>
          </a:stretch>
        </p:blipFill>
        <p:spPr>
          <a:xfrm>
            <a:off x="4297679" y="3977639"/>
            <a:ext cx="411480" cy="411480"/>
          </a:xfrm>
          <a:prstGeom prst="rect">
            <a:avLst/>
          </a:prstGeom>
        </p:spPr>
      </p:pic>
      <p:sp>
        <p:nvSpPr>
          <p:cNvPr id="12" name="TextBox 11"/>
          <p:cNvSpPr txBox="1"/>
          <p:nvPr/>
        </p:nvSpPr>
        <p:spPr>
          <a:xfrm>
            <a:off x="4846319" y="3931920"/>
            <a:ext cx="3108960" cy="548640"/>
          </a:xfrm>
          <a:prstGeom prst="rect">
            <a:avLst/>
          </a:prstGeom>
          <a:noFill/>
        </p:spPr>
        <p:txBody>
          <a:bodyPr wrap="square" lIns="0" rIns="0" tIns="0" bIns="0" anchor="t"/>
          <a:lstStyle/>
          <a:p>
            <a:pPr algn="l">
              <a:spcAft>
                <a:spcPts val="0"/>
              </a:spcAft>
            </a:pPr>
            <a:r>
              <a:rPr sz="1500" b="1" i="0">
                <a:solidFill>
                  <a:srgbClr val="41464C"/>
                </a:solidFill>
                <a:latin typeface="Arial"/>
              </a:rPr>
              <a:t>Repeat</a:t>
            </a:r>
          </a:p>
          <a:p>
            <a:pPr algn="l">
              <a:spcAft>
                <a:spcPts val="600"/>
              </a:spcAft>
            </a:pPr>
            <a:r>
              <a:rPr sz="1200" b="0" i="0">
                <a:solidFill>
                  <a:srgbClr val="62676D"/>
                </a:solidFill>
                <a:latin typeface="Arial"/>
              </a:rPr>
              <a:t>instrument + instance</a:t>
            </a:r>
          </a:p>
        </p:txBody>
      </p:sp>
      <p:pic>
        <p:nvPicPr>
          <p:cNvPr id="13" name="Picture 12" descr="image.png"/>
          <p:cNvPicPr>
            <a:picLocks noChangeAspect="1"/>
          </p:cNvPicPr>
          <p:nvPr/>
        </p:nvPicPr>
        <p:blipFill>
          <a:blip r:embed="rId5"/>
          <a:stretch>
            <a:fillRect/>
          </a:stretch>
        </p:blipFill>
        <p:spPr>
          <a:xfrm>
            <a:off x="8046719" y="3977639"/>
            <a:ext cx="411480" cy="411480"/>
          </a:xfrm>
          <a:prstGeom prst="rect">
            <a:avLst/>
          </a:prstGeom>
        </p:spPr>
      </p:pic>
      <p:sp>
        <p:nvSpPr>
          <p:cNvPr id="14" name="TextBox 13"/>
          <p:cNvSpPr txBox="1"/>
          <p:nvPr/>
        </p:nvSpPr>
        <p:spPr>
          <a:xfrm>
            <a:off x="8595359" y="3931920"/>
            <a:ext cx="3108960" cy="548640"/>
          </a:xfrm>
          <a:prstGeom prst="rect">
            <a:avLst/>
          </a:prstGeom>
          <a:noFill/>
        </p:spPr>
        <p:txBody>
          <a:bodyPr wrap="square" lIns="0" rIns="0" tIns="0" bIns="0" anchor="t"/>
          <a:lstStyle/>
          <a:p>
            <a:pPr algn="l">
              <a:spcAft>
                <a:spcPts val="0"/>
              </a:spcAft>
            </a:pPr>
            <a:r>
              <a:rPr sz="1500" b="1" i="0">
                <a:solidFill>
                  <a:srgbClr val="41464C"/>
                </a:solidFill>
                <a:latin typeface="Arial"/>
              </a:rPr>
              <a:t>Site</a:t>
            </a:r>
          </a:p>
          <a:p>
            <a:pPr algn="l">
              <a:spcAft>
                <a:spcPts val="600"/>
              </a:spcAft>
            </a:pPr>
            <a:r>
              <a:rPr sz="1200" b="0" i="0">
                <a:solidFill>
                  <a:srgbClr val="62676D"/>
                </a:solidFill>
                <a:latin typeface="Arial"/>
              </a:rPr>
              <a:t>data access group</a:t>
            </a:r>
          </a:p>
        </p:txBody>
      </p:sp>
      <p:sp>
        <p:nvSpPr>
          <p:cNvPr id="15" name="Rectangle 14"/>
          <p:cNvSpPr/>
          <p:nvPr/>
        </p:nvSpPr>
        <p:spPr>
          <a:xfrm>
            <a:off x="548640" y="475488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75488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6"/>
          <a:stretch>
            <a:fillRect/>
          </a:stretch>
        </p:blipFill>
        <p:spPr>
          <a:xfrm>
            <a:off x="777240" y="4846320"/>
            <a:ext cx="365760" cy="365760"/>
          </a:xfrm>
          <a:prstGeom prst="rect">
            <a:avLst/>
          </a:prstGeom>
        </p:spPr>
      </p:pic>
      <p:sp>
        <p:nvSpPr>
          <p:cNvPr id="18" name="TextBox 17"/>
          <p:cNvSpPr txBox="1"/>
          <p:nvPr/>
        </p:nvSpPr>
        <p:spPr>
          <a:xfrm>
            <a:off x="1280160" y="475488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Not imported: </a:t>
            </a:r>
            <a:r>
              <a:rPr sz="1500" b="1" i="0">
                <a:solidFill>
                  <a:srgbClr val="C8102E"/>
                </a:solidFill>
                <a:latin typeface="Arial"/>
              </a:rPr>
              <a:t>calculated, file, descriptive</a:t>
            </a:r>
            <a:r>
              <a:rPr sz="1500" b="0" i="0">
                <a:solidFill>
                  <a:srgbClr val="222222"/>
                </a:solidFill>
                <a:latin typeface="Arial"/>
              </a:rPr>
              <a:t> fields. Dates as YYYY-MM-DD; one column per checkbox option.</a:t>
            </a:r>
          </a:p>
        </p:txBody>
      </p:sp>
      <p:sp>
        <p:nvSpPr>
          <p:cNvPr id="19" name="Rectangle 18"/>
          <p:cNvSpPr/>
          <p:nvPr/>
        </p:nvSpPr>
        <p:spPr>
          <a:xfrm>
            <a:off x="548640" y="544068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44068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7"/>
          <a:stretch>
            <a:fillRect/>
          </a:stretch>
        </p:blipFill>
        <p:spPr>
          <a:xfrm>
            <a:off x="777240" y="5532120"/>
            <a:ext cx="365760" cy="365760"/>
          </a:xfrm>
          <a:prstGeom prst="rect">
            <a:avLst/>
          </a:prstGeom>
        </p:spPr>
      </p:pic>
      <p:sp>
        <p:nvSpPr>
          <p:cNvPr id="22" name="TextBox 21"/>
          <p:cNvSpPr txBox="1"/>
          <p:nvPr/>
        </p:nvSpPr>
        <p:spPr>
          <a:xfrm>
            <a:off x="1280160" y="544068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Files: </a:t>
            </a:r>
            <a:r>
              <a:rPr sz="1500" b="1" i="0">
                <a:solidFill>
                  <a:srgbClr val="1E88C8"/>
                </a:solidFill>
                <a:latin typeface="Arial"/>
              </a:rPr>
              <a:t>TBCARE_simulated_import.csv</a:t>
            </a:r>
            <a:r>
              <a:rPr sz="1500" b="0" i="0">
                <a:solidFill>
                  <a:srgbClr val="222222"/>
                </a:solidFill>
                <a:latin typeface="Arial"/>
              </a:rPr>
              <a:t> (clean, 60 participants) and </a:t>
            </a:r>
            <a:r>
              <a:rPr sz="1500" b="1" i="0">
                <a:solidFill>
                  <a:srgbClr val="1E88C8"/>
                </a:solidFill>
                <a:latin typeface="Arial"/>
              </a:rPr>
              <a:t>…_with_errors.csv</a:t>
            </a:r>
            <a:r>
              <a:rPr sz="1500" b="0" i="0">
                <a:solidFill>
                  <a:srgbClr val="222222"/>
                </a:solidFill>
                <a:latin typeface="Arial"/>
              </a:rPr>
              <a:t> (for the data quality exercise).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Record linking: TBCARE and the national TB register</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52</a:t>
            </a:r>
          </a:p>
        </p:txBody>
      </p:sp>
      <p:sp>
        <p:nvSpPr>
          <p:cNvPr id="8" name="Rectangle 7"/>
          <p:cNvSpPr/>
          <p:nvPr/>
        </p:nvSpPr>
        <p:spPr>
          <a:xfrm>
            <a:off x="548640" y="1554480"/>
            <a:ext cx="3200400" cy="155448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500" b="1" i="0">
                <a:solidFill>
                  <a:srgbClr val="FFFFFF"/>
                </a:solidFill>
                <a:latin typeface="Arial"/>
              </a:rPr>
              <a:t>REDCap TBCARE</a:t>
            </a:r>
          </a:p>
          <a:p>
            <a:pPr algn="l">
              <a:spcAft>
                <a:spcPts val="600"/>
              </a:spcAft>
            </a:pPr>
            <a:r>
              <a:rPr sz="1200" b="0" i="0">
                <a:solidFill>
                  <a:srgbClr val="FFFFFF"/>
                </a:solidFill>
                <a:latin typeface="Arial"/>
              </a:rPr>
              <a:t>record_id, dob, sex, district, surname</a:t>
            </a:r>
          </a:p>
        </p:txBody>
      </p:sp>
      <p:sp>
        <p:nvSpPr>
          <p:cNvPr id="9" name="Rectangle 8"/>
          <p:cNvSpPr/>
          <p:nvPr/>
        </p:nvSpPr>
        <p:spPr>
          <a:xfrm>
            <a:off x="548640" y="3657600"/>
            <a:ext cx="3200400" cy="155448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500" b="1" i="0">
                <a:solidFill>
                  <a:srgbClr val="FFFFFF"/>
                </a:solidFill>
                <a:latin typeface="Arial"/>
              </a:rPr>
              <a:t>National TB register</a:t>
            </a:r>
          </a:p>
          <a:p>
            <a:pPr algn="l">
              <a:spcAft>
                <a:spcPts val="600"/>
              </a:spcAft>
            </a:pPr>
            <a:r>
              <a:rPr sz="1200" b="0" i="0">
                <a:solidFill>
                  <a:srgbClr val="FFFFFF"/>
                </a:solidFill>
                <a:latin typeface="Arial"/>
              </a:rPr>
              <a:t>notification_id, dob, sex, district, surname (2 letters)</a:t>
            </a:r>
          </a:p>
        </p:txBody>
      </p:sp>
      <p:sp>
        <p:nvSpPr>
          <p:cNvPr id="10" name="Rectangle 9"/>
          <p:cNvSpPr/>
          <p:nvPr/>
        </p:nvSpPr>
        <p:spPr>
          <a:xfrm>
            <a:off x="4480560" y="2514600"/>
            <a:ext cx="2743200" cy="1828800"/>
          </a:xfrm>
          <a:prstGeom prst="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41464C"/>
                </a:solidFill>
                <a:latin typeface="Arial"/>
              </a:rPr>
              <a:t>Linkage key</a:t>
            </a:r>
          </a:p>
          <a:p>
            <a:pPr algn="ctr">
              <a:spcAft>
                <a:spcPts val="600"/>
              </a:spcAft>
            </a:pPr>
            <a:r>
              <a:rPr sz="1200" b="0" i="0">
                <a:solidFill>
                  <a:srgbClr val="222222"/>
                </a:solidFill>
                <a:latin typeface="Arial"/>
              </a:rPr>
              <a:t>SHA-256 hash of dob | sex | district | 2 letters</a:t>
            </a:r>
          </a:p>
        </p:txBody>
      </p:sp>
      <p:cxnSp>
        <p:nvCxnSpPr>
          <p:cNvPr id="11" name="Connector 10"/>
          <p:cNvCxnSpPr/>
          <p:nvPr/>
        </p:nvCxnSpPr>
        <p:spPr>
          <a:xfrm>
            <a:off x="3749039" y="2331720"/>
            <a:ext cx="731521" cy="68580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749039" y="3840480"/>
            <a:ext cx="731521" cy="59436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223760" y="3429000"/>
            <a:ext cx="640080" cy="0"/>
          </a:xfrm>
          <a:prstGeom prst="line">
            <a:avLst/>
          </a:prstGeom>
          <a:ln w="1905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863840" y="2514600"/>
            <a:ext cx="3776472" cy="182880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200"/>
              </a:spcAft>
            </a:pPr>
            <a:r>
              <a:rPr sz="1500" b="1" i="0">
                <a:solidFill>
                  <a:srgbClr val="41464C"/>
                </a:solidFill>
                <a:latin typeface="Arial"/>
              </a:rPr>
              <a:t>Link table</a:t>
            </a:r>
          </a:p>
          <a:p>
            <a:pPr algn="ctr">
              <a:spcAft>
                <a:spcPts val="600"/>
              </a:spcAft>
            </a:pPr>
            <a:r>
              <a:rPr sz="1300" b="0" i="0">
                <a:solidFill>
                  <a:srgbClr val="222222"/>
                </a:solidFill>
                <a:latin typeface="Consolas"/>
              </a:rPr>
              <a:t>record_id  ↔  notification_id</a:t>
            </a:r>
          </a:p>
          <a:p>
            <a:pPr algn="ctr">
              <a:spcAft>
                <a:spcPts val="600"/>
              </a:spcAft>
            </a:pPr>
            <a:r>
              <a:rPr sz="1200" b="1" i="0">
                <a:solidFill>
                  <a:srgbClr val="2E7D32"/>
                </a:solidFill>
                <a:latin typeface="Arial"/>
              </a:rPr>
              <a:t>no identifiers</a:t>
            </a:r>
          </a:p>
        </p:txBody>
      </p:sp>
      <p:sp>
        <p:nvSpPr>
          <p:cNvPr id="15" name="TextBox 14"/>
          <p:cNvSpPr txBox="1"/>
          <p:nvPr/>
        </p:nvSpPr>
        <p:spPr>
          <a:xfrm>
            <a:off x="7863840" y="1463040"/>
            <a:ext cx="822960" cy="548640"/>
          </a:xfrm>
          <a:prstGeom prst="rect">
            <a:avLst/>
          </a:prstGeom>
          <a:noFill/>
        </p:spPr>
        <p:txBody>
          <a:bodyPr wrap="square" lIns="0" rIns="0" tIns="0" bIns="0" anchor="t"/>
          <a:lstStyle/>
          <a:p>
            <a:pPr algn="l">
              <a:spcAft>
                <a:spcPts val="600"/>
              </a:spcAft>
            </a:pPr>
            <a:r>
              <a:rPr sz="3000" b="1" i="0">
                <a:solidFill>
                  <a:srgbClr val="2E7D32"/>
                </a:solidFill>
                <a:latin typeface="Arial"/>
              </a:rPr>
              <a:t>56</a:t>
            </a:r>
          </a:p>
        </p:txBody>
      </p:sp>
      <p:sp>
        <p:nvSpPr>
          <p:cNvPr id="16" name="TextBox 15"/>
          <p:cNvSpPr txBox="1"/>
          <p:nvPr/>
        </p:nvSpPr>
        <p:spPr>
          <a:xfrm>
            <a:off x="7863840" y="1965960"/>
            <a:ext cx="1828800" cy="365760"/>
          </a:xfrm>
          <a:prstGeom prst="rect">
            <a:avLst/>
          </a:prstGeom>
          <a:noFill/>
        </p:spPr>
        <p:txBody>
          <a:bodyPr wrap="square" lIns="0" rIns="0" tIns="0" bIns="0" anchor="t"/>
          <a:lstStyle/>
          <a:p>
            <a:pPr algn="l">
              <a:spcAft>
                <a:spcPts val="600"/>
              </a:spcAft>
            </a:pPr>
            <a:r>
              <a:rPr sz="1300" b="0" i="0">
                <a:solidFill>
                  <a:srgbClr val="222222"/>
                </a:solidFill>
                <a:latin typeface="Arial"/>
              </a:rPr>
              <a:t>linked</a:t>
            </a:r>
          </a:p>
        </p:txBody>
      </p:sp>
      <p:sp>
        <p:nvSpPr>
          <p:cNvPr id="17" name="TextBox 16"/>
          <p:cNvSpPr txBox="1"/>
          <p:nvPr/>
        </p:nvSpPr>
        <p:spPr>
          <a:xfrm>
            <a:off x="9784080" y="1463040"/>
            <a:ext cx="822960" cy="548640"/>
          </a:xfrm>
          <a:prstGeom prst="rect">
            <a:avLst/>
          </a:prstGeom>
          <a:noFill/>
        </p:spPr>
        <p:txBody>
          <a:bodyPr wrap="square" lIns="0" rIns="0" tIns="0" bIns="0" anchor="t"/>
          <a:lstStyle/>
          <a:p>
            <a:pPr algn="l">
              <a:spcAft>
                <a:spcPts val="600"/>
              </a:spcAft>
            </a:pPr>
            <a:r>
              <a:rPr sz="3000" b="1" i="0">
                <a:solidFill>
                  <a:srgbClr val="C8102E"/>
                </a:solidFill>
                <a:latin typeface="Arial"/>
              </a:rPr>
              <a:t>4</a:t>
            </a:r>
          </a:p>
        </p:txBody>
      </p:sp>
      <p:sp>
        <p:nvSpPr>
          <p:cNvPr id="18" name="TextBox 17"/>
          <p:cNvSpPr txBox="1"/>
          <p:nvPr/>
        </p:nvSpPr>
        <p:spPr>
          <a:xfrm>
            <a:off x="9784080" y="1965960"/>
            <a:ext cx="1828800" cy="365760"/>
          </a:xfrm>
          <a:prstGeom prst="rect">
            <a:avLst/>
          </a:prstGeom>
          <a:noFill/>
        </p:spPr>
        <p:txBody>
          <a:bodyPr wrap="square" lIns="0" rIns="0" tIns="0" bIns="0" anchor="t"/>
          <a:lstStyle/>
          <a:p>
            <a:pPr algn="l">
              <a:spcAft>
                <a:spcPts val="600"/>
              </a:spcAft>
            </a:pPr>
            <a:r>
              <a:rPr sz="1300" b="0" i="0">
                <a:solidFill>
                  <a:srgbClr val="222222"/>
                </a:solidFill>
                <a:latin typeface="Arial"/>
              </a:rPr>
              <a:t>check by hand</a:t>
            </a:r>
          </a:p>
        </p:txBody>
      </p:sp>
      <p:sp>
        <p:nvSpPr>
          <p:cNvPr id="19" name="Rectangle 18"/>
          <p:cNvSpPr/>
          <p:nvPr/>
        </p:nvSpPr>
        <p:spPr>
          <a:xfrm>
            <a:off x="548640" y="54864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4864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77240" y="5577840"/>
            <a:ext cx="365760" cy="365760"/>
          </a:xfrm>
          <a:prstGeom prst="rect">
            <a:avLst/>
          </a:prstGeom>
        </p:spPr>
      </p:pic>
      <p:sp>
        <p:nvSpPr>
          <p:cNvPr id="22" name="TextBox 21"/>
          <p:cNvSpPr txBox="1"/>
          <p:nvPr/>
        </p:nvSpPr>
        <p:spPr>
          <a:xfrm>
            <a:off x="1280160" y="548640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Linkage uses identifiers: done by the </a:t>
            </a:r>
            <a:r>
              <a:rPr sz="1500" b="1" i="0">
                <a:solidFill>
                  <a:srgbClr val="1E88C8"/>
                </a:solidFill>
                <a:latin typeface="Arial"/>
              </a:rPr>
              <a:t>data manager</a:t>
            </a:r>
            <a:r>
              <a:rPr sz="1500" b="0" i="0">
                <a:solidFill>
                  <a:srgbClr val="222222"/>
                </a:solidFill>
                <a:latin typeface="Arial"/>
              </a:rPr>
              <a:t>, in a secure place, and described in the </a:t>
            </a:r>
            <a:r>
              <a:rPr sz="1500" b="1" i="0">
                <a:solidFill>
                  <a:srgbClr val="1E88C8"/>
                </a:solidFill>
                <a:latin typeface="Arial"/>
              </a:rPr>
              <a:t>DMP</a:t>
            </a:r>
            <a:r>
              <a:rPr sz="1500" b="0" i="0">
                <a:solidFill>
                  <a:srgbClr val="222222"/>
                </a:solidFill>
                <a:latin typeface="Arial"/>
              </a:rPr>
              <a:t>.</a:t>
            </a:r>
          </a:p>
        </p:txBody>
      </p:sp>
      <p:sp>
        <p:nvSpPr>
          <p:cNvPr id="23" name="TextBox 22"/>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TB: tuberculosis   ·   REDCap: Research Electronic Data Capture   ·   SHA-256: a one-way hash function   ·   DMP: Data Management Plan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From REDCap to R with REDCapR</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53</a:t>
            </a:r>
          </a:p>
        </p:txBody>
      </p:sp>
      <p:sp>
        <p:nvSpPr>
          <p:cNvPr id="8" name="Rectangle 7"/>
          <p:cNvSpPr/>
          <p:nvPr/>
        </p:nvSpPr>
        <p:spPr>
          <a:xfrm>
            <a:off x="548640" y="1417320"/>
            <a:ext cx="6675120" cy="388620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6217920" cy="274320"/>
          </a:xfrm>
          <a:prstGeom prst="rect">
            <a:avLst/>
          </a:prstGeom>
          <a:noFill/>
        </p:spPr>
        <p:txBody>
          <a:bodyPr wrap="square" lIns="0" rIns="0" tIns="0" bIns="0" anchor="t"/>
          <a:lstStyle/>
          <a:p>
            <a:pPr algn="l">
              <a:spcAft>
                <a:spcPts val="600"/>
              </a:spcAft>
            </a:pPr>
            <a:r>
              <a:rPr sz="1000" b="1" i="0">
                <a:solidFill>
                  <a:srgbClr val="8FA0C0"/>
                </a:solidFill>
                <a:latin typeface="Arial"/>
              </a:rPr>
              <a:t>01_redcapr_read.R</a:t>
            </a:r>
          </a:p>
        </p:txBody>
      </p:sp>
      <p:sp>
        <p:nvSpPr>
          <p:cNvPr id="10" name="TextBox 9"/>
          <p:cNvSpPr txBox="1"/>
          <p:nvPr/>
        </p:nvSpPr>
        <p:spPr>
          <a:xfrm>
            <a:off x="777240" y="1828800"/>
            <a:ext cx="6217920" cy="3383279"/>
          </a:xfrm>
          <a:prstGeom prst="rect">
            <a:avLst/>
          </a:prstGeom>
          <a:noFill/>
        </p:spPr>
        <p:txBody>
          <a:bodyPr wrap="square" lIns="0" rIns="0" tIns="0" bIns="0" anchor="t"/>
          <a:lstStyle/>
          <a:p>
            <a:pPr algn="l">
              <a:spcAft>
                <a:spcPts val="100"/>
              </a:spcAft>
            </a:pPr>
            <a:r>
              <a:rPr sz="1200" b="0" i="0">
                <a:solidFill>
                  <a:srgbClr val="E6EAF2"/>
                </a:solidFill>
                <a:latin typeface="Consolas"/>
              </a:rPr>
              <a:t>library(REDCapR)</a:t>
            </a:r>
          </a:p>
          <a:p>
            <a:pPr algn="l">
              <a:spcAft>
                <a:spcPts val="100"/>
              </a:spcAft>
            </a:pPr>
            <a:r>
              <a:rPr sz="1200" b="0" i="0">
                <a:solidFill>
                  <a:srgbClr val="E6EAF2"/>
                </a:solidFill>
                <a:latin typeface="Consolas"/>
              </a:rPr>
              <a:t>uri   &lt;- "https://redcap.uantwerpen.be/api/"</a:t>
            </a:r>
          </a:p>
          <a:p>
            <a:pPr algn="l">
              <a:spcAft>
                <a:spcPts val="100"/>
              </a:spcAft>
            </a:pPr>
            <a:r>
              <a:rPr sz="1200" b="0" i="0">
                <a:solidFill>
                  <a:srgbClr val="E6EAF2"/>
                </a:solidFill>
                <a:latin typeface="Consolas"/>
              </a:rPr>
              <a:t>token &lt;- Sys.getenv("REDCAP_TBCARE_TOKEN")</a:t>
            </a:r>
          </a:p>
          <a:p>
            <a:pPr algn="l">
              <a:spcAft>
                <a:spcPts val="100"/>
              </a:spcAft>
            </a:pPr>
          </a:p>
          <a:p>
            <a:pPr algn="l">
              <a:spcAft>
                <a:spcPts val="100"/>
              </a:spcAft>
            </a:pPr>
            <a:r>
              <a:rPr sz="1200" b="0" i="0">
                <a:solidFill>
                  <a:srgbClr val="E6EAF2"/>
                </a:solidFill>
                <a:latin typeface="Consolas"/>
              </a:rPr>
              <a:t>ds &lt;- redcap_read_oneshot(uri, token)$data</a:t>
            </a:r>
          </a:p>
          <a:p>
            <a:pPr algn="l">
              <a:spcAft>
                <a:spcPts val="100"/>
              </a:spcAft>
            </a:pPr>
            <a:r>
              <a:rPr sz="1200" b="0" i="0">
                <a:solidFill>
                  <a:srgbClr val="E6EAF2"/>
                </a:solidFill>
                <a:latin typeface="Consolas"/>
              </a:rPr>
              <a:t>dim(ds)                    # 439 rows x 88 columns</a:t>
            </a:r>
          </a:p>
          <a:p>
            <a:pPr algn="l">
              <a:spcAft>
                <a:spcPts val="100"/>
              </a:spcAft>
            </a:pPr>
            <a:r>
              <a:rPr sz="1200" b="0" i="0">
                <a:solidFill>
                  <a:srgbClr val="E6EAF2"/>
                </a:solidFill>
                <a:latin typeface="Consolas"/>
              </a:rPr>
              <a:t>table(ds$redcap_event_name)</a:t>
            </a:r>
          </a:p>
          <a:p>
            <a:pPr algn="l">
              <a:spcAft>
                <a:spcPts val="100"/>
              </a:spcAft>
            </a:pPr>
          </a:p>
          <a:p>
            <a:pPr algn="l">
              <a:spcAft>
                <a:spcPts val="100"/>
              </a:spcAft>
            </a:pPr>
            <a:r>
              <a:rPr sz="1200" b="0" i="0">
                <a:solidFill>
                  <a:srgbClr val="E6EAF2"/>
                </a:solidFill>
                <a:latin typeface="Consolas"/>
              </a:rPr>
              <a:t>clin &lt;- redcap_read(</a:t>
            </a:r>
          </a:p>
          <a:p>
            <a:pPr algn="l">
              <a:spcAft>
                <a:spcPts val="100"/>
              </a:spcAft>
            </a:pPr>
            <a:r>
              <a:rPr sz="1200" b="0" i="0">
                <a:solidFill>
                  <a:srgbClr val="E6EAF2"/>
                </a:solidFill>
                <a:latin typeface="Consolas"/>
              </a:rPr>
              <a:t>  redcap_uri = uri, token = token,</a:t>
            </a:r>
          </a:p>
          <a:p>
            <a:pPr algn="l">
              <a:spcAft>
                <a:spcPts val="100"/>
              </a:spcAft>
            </a:pPr>
            <a:r>
              <a:rPr sz="1200" b="0" i="0">
                <a:solidFill>
                  <a:srgbClr val="E6EAF2"/>
                </a:solidFill>
                <a:latin typeface="Consolas"/>
              </a:rPr>
              <a:t>  forms  = "clinical_assessment",</a:t>
            </a:r>
          </a:p>
          <a:p>
            <a:pPr algn="l">
              <a:spcAft>
                <a:spcPts val="100"/>
              </a:spcAft>
            </a:pPr>
            <a:r>
              <a:rPr sz="1200" b="0" i="0">
                <a:solidFill>
                  <a:srgbClr val="E6EAF2"/>
                </a:solidFill>
                <a:latin typeface="Consolas"/>
              </a:rPr>
              <a:t>  events = c("baseline_arm_1", "month_2_arm_1"),</a:t>
            </a:r>
          </a:p>
          <a:p>
            <a:pPr algn="l">
              <a:spcAft>
                <a:spcPts val="100"/>
              </a:spcAft>
            </a:pPr>
            <a:r>
              <a:rPr sz="1200" b="0" i="0">
                <a:solidFill>
                  <a:srgbClr val="E6EAF2"/>
                </a:solidFill>
                <a:latin typeface="Consolas"/>
              </a:rPr>
              <a:t>  raw_or_label = "label")$data</a:t>
            </a:r>
          </a:p>
        </p:txBody>
      </p:sp>
      <p:graphicFrame>
        <p:nvGraphicFramePr>
          <p:cNvPr id="11" name="Table 10"/>
          <p:cNvGraphicFramePr>
            <a:graphicFrameLocks noGrp="1"/>
          </p:cNvGraphicFramePr>
          <p:nvPr/>
        </p:nvGraphicFramePr>
        <p:xfrm>
          <a:off x="7498079" y="1417320"/>
          <a:ext cx="4142232" cy="3803904"/>
        </p:xfrm>
        <a:graphic>
          <a:graphicData uri="http://schemas.openxmlformats.org/drawingml/2006/table">
            <a:tbl>
              <a:tblPr firstRow="0" bandRow="0">
                <a:tableStyleId>{5C22544A-7EE6-4342-B048-85BDC9FD1C3A}</a:tableStyleId>
              </a:tblPr>
              <a:tblGrid>
                <a:gridCol w="2514600"/>
                <a:gridCol w="1627632"/>
              </a:tblGrid>
              <a:tr h="475488">
                <a:tc>
                  <a:txBody>
                    <a:bodyPr wrap="square"/>
                    <a:lstStyle/>
                    <a:p>
                      <a:pPr algn="l">
                        <a:spcAft>
                          <a:spcPts val="0"/>
                        </a:spcAft>
                      </a:pPr>
                      <a:r>
                        <a:rPr sz="1150" b="1" i="0">
                          <a:solidFill>
                            <a:srgbClr val="FFFFFF"/>
                          </a:solidFill>
                          <a:latin typeface="Arial"/>
                        </a:rPr>
                        <a:t>Function</a:t>
                      </a:r>
                    </a:p>
                  </a:txBody>
                  <a:tcPr marL="91440" marR="91440" marT="36576" marB="36576" anchor="ctr">
                    <a:solidFill>
                      <a:srgbClr val="41464C"/>
                    </a:solidFill>
                  </a:tcPr>
                </a:tc>
                <a:tc>
                  <a:txBody>
                    <a:bodyPr wrap="square"/>
                    <a:lstStyle/>
                    <a:p>
                      <a:pPr algn="l">
                        <a:spcAft>
                          <a:spcPts val="0"/>
                        </a:spcAft>
                      </a:pPr>
                      <a:r>
                        <a:rPr sz="1150" b="1" i="0">
                          <a:solidFill>
                            <a:srgbClr val="FFFFFF"/>
                          </a:solidFill>
                          <a:latin typeface="Arial"/>
                        </a:rPr>
                        <a:t>Returns</a:t>
                      </a:r>
                    </a:p>
                  </a:txBody>
                  <a:tcPr marL="91440" marR="91440" marT="36576" marB="36576" anchor="ctr">
                    <a:solidFill>
                      <a:srgbClr val="41464C"/>
                    </a:solidFill>
                  </a:tcPr>
                </a:tc>
              </a:tr>
              <a:tr h="475488">
                <a:tc>
                  <a:txBody>
                    <a:bodyPr wrap="square"/>
                    <a:lstStyle/>
                    <a:p>
                      <a:pPr algn="l">
                        <a:spcAft>
                          <a:spcPts val="0"/>
                        </a:spcAft>
                      </a:pPr>
                      <a:r>
                        <a:rPr sz="1150" b="1" i="0">
                          <a:solidFill>
                            <a:srgbClr val="222222"/>
                          </a:solidFill>
                          <a:latin typeface="Arial"/>
                        </a:rPr>
                        <a:t>redcap_metadata_read()</a:t>
                      </a:r>
                    </a:p>
                  </a:txBody>
                  <a:tcPr marL="91440" marR="91440" marT="36576" marB="36576" anchor="ctr">
                    <a:solidFill>
                      <a:srgbClr val="FFFFFF"/>
                    </a:solidFill>
                  </a:tcPr>
                </a:tc>
                <a:tc>
                  <a:txBody>
                    <a:bodyPr wrap="square"/>
                    <a:lstStyle/>
                    <a:p>
                      <a:pPr algn="l">
                        <a:spcAft>
                          <a:spcPts val="0"/>
                        </a:spcAft>
                      </a:pPr>
                      <a:r>
                        <a:rPr sz="1150" b="0" i="0">
                          <a:solidFill>
                            <a:srgbClr val="222222"/>
                          </a:solidFill>
                          <a:latin typeface="Arial"/>
                        </a:rPr>
                        <a:t>data dictionary</a:t>
                      </a:r>
                    </a:p>
                  </a:txBody>
                  <a:tcPr marL="91440" marR="91440" marT="36576" marB="36576" anchor="ctr">
                    <a:solidFill>
                      <a:srgbClr val="FFFFFF"/>
                    </a:solidFill>
                  </a:tcPr>
                </a:tc>
              </a:tr>
              <a:tr h="475488">
                <a:tc>
                  <a:txBody>
                    <a:bodyPr wrap="square"/>
                    <a:lstStyle/>
                    <a:p>
                      <a:pPr algn="l">
                        <a:spcAft>
                          <a:spcPts val="0"/>
                        </a:spcAft>
                      </a:pPr>
                      <a:r>
                        <a:rPr sz="1150" b="1" i="0">
                          <a:solidFill>
                            <a:srgbClr val="222222"/>
                          </a:solidFill>
                          <a:latin typeface="Arial"/>
                        </a:rPr>
                        <a:t>redcap_arm_export()</a:t>
                      </a:r>
                    </a:p>
                  </a:txBody>
                  <a:tcPr marL="91440" marR="91440" marT="36576" marB="36576" anchor="ctr">
                    <a:solidFill>
                      <a:srgbClr val="F2F4F6"/>
                    </a:solidFill>
                  </a:tcPr>
                </a:tc>
                <a:tc>
                  <a:txBody>
                    <a:bodyPr wrap="square"/>
                    <a:lstStyle/>
                    <a:p>
                      <a:pPr algn="l">
                        <a:spcAft>
                          <a:spcPts val="0"/>
                        </a:spcAft>
                      </a:pPr>
                      <a:r>
                        <a:rPr sz="1150" b="0" i="0">
                          <a:solidFill>
                            <a:srgbClr val="222222"/>
                          </a:solidFill>
                          <a:latin typeface="Arial"/>
                        </a:rPr>
                        <a:t>arms</a:t>
                      </a:r>
                    </a:p>
                  </a:txBody>
                  <a:tcPr marL="91440" marR="91440" marT="36576" marB="36576" anchor="ctr">
                    <a:solidFill>
                      <a:srgbClr val="F2F4F6"/>
                    </a:solidFill>
                  </a:tcPr>
                </a:tc>
              </a:tr>
              <a:tr h="475488">
                <a:tc>
                  <a:txBody>
                    <a:bodyPr wrap="square"/>
                    <a:lstStyle/>
                    <a:p>
                      <a:pPr algn="l">
                        <a:spcAft>
                          <a:spcPts val="0"/>
                        </a:spcAft>
                      </a:pPr>
                      <a:r>
                        <a:rPr sz="1150" b="1" i="0">
                          <a:solidFill>
                            <a:srgbClr val="222222"/>
                          </a:solidFill>
                          <a:latin typeface="Arial"/>
                        </a:rPr>
                        <a:t>redcap_event_read()</a:t>
                      </a:r>
                    </a:p>
                  </a:txBody>
                  <a:tcPr marL="91440" marR="91440" marT="36576" marB="36576" anchor="ctr">
                    <a:solidFill>
                      <a:srgbClr val="FFFFFF"/>
                    </a:solidFill>
                  </a:tcPr>
                </a:tc>
                <a:tc>
                  <a:txBody>
                    <a:bodyPr wrap="square"/>
                    <a:lstStyle/>
                    <a:p>
                      <a:pPr algn="l">
                        <a:spcAft>
                          <a:spcPts val="0"/>
                        </a:spcAft>
                      </a:pPr>
                      <a:r>
                        <a:rPr sz="1150" b="0" i="0">
                          <a:solidFill>
                            <a:srgbClr val="222222"/>
                          </a:solidFill>
                          <a:latin typeface="Arial"/>
                        </a:rPr>
                        <a:t>events</a:t>
                      </a:r>
                    </a:p>
                  </a:txBody>
                  <a:tcPr marL="91440" marR="91440" marT="36576" marB="36576" anchor="ctr">
                    <a:solidFill>
                      <a:srgbClr val="FFFFFF"/>
                    </a:solidFill>
                  </a:tcPr>
                </a:tc>
              </a:tr>
              <a:tr h="475488">
                <a:tc>
                  <a:txBody>
                    <a:bodyPr wrap="square"/>
                    <a:lstStyle/>
                    <a:p>
                      <a:pPr algn="l">
                        <a:spcAft>
                          <a:spcPts val="0"/>
                        </a:spcAft>
                      </a:pPr>
                      <a:r>
                        <a:rPr sz="1150" b="1" i="0">
                          <a:solidFill>
                            <a:srgbClr val="222222"/>
                          </a:solidFill>
                          <a:latin typeface="Arial"/>
                        </a:rPr>
                        <a:t>redcap_event_instruments()</a:t>
                      </a:r>
                    </a:p>
                  </a:txBody>
                  <a:tcPr marL="91440" marR="91440" marT="36576" marB="36576" anchor="ctr">
                    <a:solidFill>
                      <a:srgbClr val="F2F4F6"/>
                    </a:solidFill>
                  </a:tcPr>
                </a:tc>
                <a:tc>
                  <a:txBody>
                    <a:bodyPr wrap="square"/>
                    <a:lstStyle/>
                    <a:p>
                      <a:pPr algn="l">
                        <a:spcAft>
                          <a:spcPts val="0"/>
                        </a:spcAft>
                      </a:pPr>
                      <a:r>
                        <a:rPr sz="1150" b="0" i="0">
                          <a:solidFill>
                            <a:srgbClr val="222222"/>
                          </a:solidFill>
                          <a:latin typeface="Arial"/>
                        </a:rPr>
                        <a:t>form-event mapping</a:t>
                      </a:r>
                    </a:p>
                  </a:txBody>
                  <a:tcPr marL="91440" marR="91440" marT="36576" marB="36576" anchor="ctr">
                    <a:solidFill>
                      <a:srgbClr val="F2F4F6"/>
                    </a:solidFill>
                  </a:tcPr>
                </a:tc>
              </a:tr>
              <a:tr h="475488">
                <a:tc>
                  <a:txBody>
                    <a:bodyPr wrap="square"/>
                    <a:lstStyle/>
                    <a:p>
                      <a:pPr algn="l">
                        <a:spcAft>
                          <a:spcPts val="0"/>
                        </a:spcAft>
                      </a:pPr>
                      <a:r>
                        <a:rPr sz="1150" b="1" i="0">
                          <a:solidFill>
                            <a:srgbClr val="222222"/>
                          </a:solidFill>
                          <a:latin typeface="Arial"/>
                        </a:rPr>
                        <a:t>redcap_instrument_repeating()</a:t>
                      </a:r>
                    </a:p>
                  </a:txBody>
                  <a:tcPr marL="91440" marR="91440" marT="36576" marB="36576" anchor="ctr">
                    <a:solidFill>
                      <a:srgbClr val="FFFFFF"/>
                    </a:solidFill>
                  </a:tcPr>
                </a:tc>
                <a:tc>
                  <a:txBody>
                    <a:bodyPr wrap="square"/>
                    <a:lstStyle/>
                    <a:p>
                      <a:pPr algn="l">
                        <a:spcAft>
                          <a:spcPts val="0"/>
                        </a:spcAft>
                      </a:pPr>
                      <a:r>
                        <a:rPr sz="1150" b="0" i="0">
                          <a:solidFill>
                            <a:srgbClr val="222222"/>
                          </a:solidFill>
                          <a:latin typeface="Arial"/>
                        </a:rPr>
                        <a:t>repeating settings</a:t>
                      </a:r>
                    </a:p>
                  </a:txBody>
                  <a:tcPr marL="91440" marR="91440" marT="36576" marB="36576" anchor="ctr">
                    <a:solidFill>
                      <a:srgbClr val="FFFFFF"/>
                    </a:solidFill>
                  </a:tcPr>
                </a:tc>
              </a:tr>
              <a:tr h="475488">
                <a:tc>
                  <a:txBody>
                    <a:bodyPr wrap="square"/>
                    <a:lstStyle/>
                    <a:p>
                      <a:pPr algn="l">
                        <a:spcAft>
                          <a:spcPts val="0"/>
                        </a:spcAft>
                      </a:pPr>
                      <a:r>
                        <a:rPr sz="1150" b="1" i="0">
                          <a:solidFill>
                            <a:srgbClr val="222222"/>
                          </a:solidFill>
                          <a:latin typeface="Arial"/>
                        </a:rPr>
                        <a:t>redcap_write()</a:t>
                      </a:r>
                    </a:p>
                  </a:txBody>
                  <a:tcPr marL="91440" marR="91440" marT="36576" marB="36576" anchor="ctr">
                    <a:solidFill>
                      <a:srgbClr val="F2F4F6"/>
                    </a:solidFill>
                  </a:tcPr>
                </a:tc>
                <a:tc>
                  <a:txBody>
                    <a:bodyPr wrap="square"/>
                    <a:lstStyle/>
                    <a:p>
                      <a:pPr algn="l">
                        <a:spcAft>
                          <a:spcPts val="0"/>
                        </a:spcAft>
                      </a:pPr>
                      <a:r>
                        <a:rPr sz="1150" b="0" i="0">
                          <a:solidFill>
                            <a:srgbClr val="222222"/>
                          </a:solidFill>
                          <a:latin typeface="Arial"/>
                        </a:rPr>
                        <a:t>import (upload) data</a:t>
                      </a:r>
                    </a:p>
                  </a:txBody>
                  <a:tcPr marL="91440" marR="91440" marT="36576" marB="36576" anchor="ctr">
                    <a:solidFill>
                      <a:srgbClr val="F2F4F6"/>
                    </a:solidFill>
                  </a:tcPr>
                </a:tc>
              </a:tr>
              <a:tr h="475488">
                <a:tc>
                  <a:txBody>
                    <a:bodyPr wrap="square"/>
                    <a:lstStyle/>
                    <a:p>
                      <a:pPr algn="l">
                        <a:spcAft>
                          <a:spcPts val="0"/>
                        </a:spcAft>
                      </a:pPr>
                      <a:r>
                        <a:rPr sz="1150" b="1" i="0">
                          <a:solidFill>
                            <a:srgbClr val="222222"/>
                          </a:solidFill>
                          <a:latin typeface="Arial"/>
                        </a:rPr>
                        <a:t>redcap_log_read()</a:t>
                      </a:r>
                    </a:p>
                  </a:txBody>
                  <a:tcPr marL="91440" marR="91440" marT="36576" marB="36576" anchor="ctr">
                    <a:solidFill>
                      <a:srgbClr val="FFFFFF"/>
                    </a:solidFill>
                  </a:tcPr>
                </a:tc>
                <a:tc>
                  <a:txBody>
                    <a:bodyPr wrap="square"/>
                    <a:lstStyle/>
                    <a:p>
                      <a:pPr algn="l">
                        <a:spcAft>
                          <a:spcPts val="0"/>
                        </a:spcAft>
                      </a:pPr>
                      <a:r>
                        <a:rPr sz="1150" b="0" i="0">
                          <a:solidFill>
                            <a:srgbClr val="222222"/>
                          </a:solidFill>
                          <a:latin typeface="Arial"/>
                        </a:rPr>
                        <a:t>logging (audit trail)</a:t>
                      </a:r>
                    </a:p>
                  </a:txBody>
                  <a:tcPr marL="91440" marR="91440" marT="36576" marB="36576" anchor="ctr">
                    <a:solidFill>
                      <a:srgbClr val="FFFFFF"/>
                    </a:solidFill>
                  </a:tcPr>
                </a:tc>
              </a:tr>
            </a:tbl>
          </a:graphicData>
        </a:graphic>
      </p:graphicFrame>
      <p:sp>
        <p:nvSpPr>
          <p:cNvPr id="12" name="Rectangle 11"/>
          <p:cNvSpPr/>
          <p:nvPr/>
        </p:nvSpPr>
        <p:spPr>
          <a:xfrm>
            <a:off x="548640" y="548640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48640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777240" y="5577840"/>
            <a:ext cx="365760" cy="365760"/>
          </a:xfrm>
          <a:prstGeom prst="rect">
            <a:avLst/>
          </a:prstGeom>
        </p:spPr>
      </p:pic>
      <p:sp>
        <p:nvSpPr>
          <p:cNvPr id="15" name="TextBox 14"/>
          <p:cNvSpPr txBox="1"/>
          <p:nvPr/>
        </p:nvSpPr>
        <p:spPr>
          <a:xfrm>
            <a:off x="1280160" y="548640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Token in </a:t>
            </a:r>
            <a:r>
              <a:rPr sz="1500" b="1" i="0">
                <a:solidFill>
                  <a:srgbClr val="1E88C8"/>
                </a:solidFill>
                <a:latin typeface="Arial"/>
              </a:rPr>
              <a:t>.Renviron</a:t>
            </a:r>
            <a:r>
              <a:rPr sz="1500" b="0" i="0">
                <a:solidFill>
                  <a:srgbClr val="222222"/>
                </a:solidFill>
                <a:latin typeface="Arial"/>
              </a:rPr>
              <a:t> only. The script can be shared; the token never.</a:t>
            </a:r>
          </a:p>
        </p:txBody>
      </p:sp>
      <p:sp>
        <p:nvSpPr>
          <p:cNvPr id="16" name="TextBox 15"/>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REDCap: Research Electronic Data Capture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What a longitudinal export looks like in R</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54</a:t>
            </a:r>
          </a:p>
        </p:txBody>
      </p:sp>
      <p:graphicFrame>
        <p:nvGraphicFramePr>
          <p:cNvPr id="8" name="Table 7"/>
          <p:cNvGraphicFramePr>
            <a:graphicFrameLocks noGrp="1"/>
          </p:cNvGraphicFramePr>
          <p:nvPr/>
        </p:nvGraphicFramePr>
        <p:xfrm>
          <a:off x="548640" y="1417320"/>
          <a:ext cx="7452360" cy="2688336"/>
        </p:xfrm>
        <a:graphic>
          <a:graphicData uri="http://schemas.openxmlformats.org/drawingml/2006/table">
            <a:tbl>
              <a:tblPr firstRow="0" bandRow="0">
                <a:tableStyleId>{5C22544A-7EE6-4342-B048-85BDC9FD1C3A}</a:tableStyleId>
              </a:tblPr>
              <a:tblGrid>
                <a:gridCol w="868680"/>
                <a:gridCol w="1554480"/>
                <a:gridCol w="1920240"/>
                <a:gridCol w="365760"/>
                <a:gridCol w="411480"/>
                <a:gridCol w="914400"/>
                <a:gridCol w="548640"/>
                <a:gridCol w="868680"/>
              </a:tblGrid>
              <a:tr h="384048">
                <a:tc>
                  <a:txBody>
                    <a:bodyPr wrap="square"/>
                    <a:lstStyle/>
                    <a:p>
                      <a:pPr algn="l">
                        <a:spcAft>
                          <a:spcPts val="0"/>
                        </a:spcAft>
                      </a:pPr>
                      <a:r>
                        <a:rPr sz="950" b="1" i="0">
                          <a:solidFill>
                            <a:srgbClr val="FFFFFF"/>
                          </a:solidFill>
                          <a:latin typeface="Consolas"/>
                        </a:rPr>
                        <a:t>record_id</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redcap_event_name</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redcap_repeat_instrument</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sex</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weight_kg</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qtcf</a:t>
                      </a:r>
                    </a:p>
                  </a:txBody>
                  <a:tcPr marL="91440" marR="91440" marT="36576" marB="36576" anchor="ctr">
                    <a:solidFill>
                      <a:srgbClr val="41464C"/>
                    </a:solidFill>
                  </a:tcPr>
                </a:tc>
                <a:tc>
                  <a:txBody>
                    <a:bodyPr wrap="square"/>
                    <a:lstStyle/>
                    <a:p>
                      <a:pPr algn="l">
                        <a:spcAft>
                          <a:spcPts val="0"/>
                        </a:spcAft>
                      </a:pPr>
                      <a:r>
                        <a:rPr sz="950" b="1" i="0">
                          <a:solidFill>
                            <a:srgbClr val="FFFFFF"/>
                          </a:solidFill>
                          <a:latin typeface="Consolas"/>
                        </a:rPr>
                        <a:t>ae_term</a:t>
                      </a:r>
                    </a:p>
                  </a:txBody>
                  <a:tcPr marL="91440" marR="91440" marT="36576" marB="36576" anchor="ctr">
                    <a:solidFill>
                      <a:srgbClr val="41464C"/>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baseline_arm_2</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2</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54.1</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428</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month_1_arm_2</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55.0</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441</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month_2_arm_2</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55.6</a:t>
                      </a:r>
                    </a:p>
                  </a:txBody>
                  <a:tcPr marL="91440" marR="91440" marT="36576" marB="36576" anchor="ctr">
                    <a:solidFill>
                      <a:srgbClr val="FFFFFF"/>
                    </a:solidFill>
                  </a:tcPr>
                </a:tc>
                <a:tc>
                  <a:txBody>
                    <a:bodyPr wrap="square"/>
                    <a:lstStyle/>
                    <a:p>
                      <a:pPr algn="l">
                        <a:spcAft>
                          <a:spcPts val="0"/>
                        </a:spcAft>
                      </a:pPr>
                      <a:r>
                        <a:rPr sz="950" b="1" i="0">
                          <a:solidFill>
                            <a:srgbClr val="C8102E"/>
                          </a:solidFill>
                          <a:latin typeface="Consolas"/>
                        </a:rPr>
                        <a:t>512</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unscheduled_arm_2</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1</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55.2</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logs_arm_2</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adverse_events</a:t>
                      </a: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1</a:t>
                      </a: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p>
                  </a:txBody>
                  <a:tcPr marL="91440" marR="91440" marT="36576" marB="36576" anchor="ctr">
                    <a:solidFill>
                      <a:srgbClr val="FFFFFF"/>
                    </a:solidFill>
                  </a:tcPr>
                </a:tc>
                <a:tc>
                  <a:txBody>
                    <a:bodyPr wrap="square"/>
                    <a:lstStyle/>
                    <a:p>
                      <a:pPr algn="l">
                        <a:spcAft>
                          <a:spcPts val="0"/>
                        </a:spcAft>
                      </a:pPr>
                      <a:r>
                        <a:rPr sz="950" b="0" i="0">
                          <a:solidFill>
                            <a:srgbClr val="222222"/>
                          </a:solidFill>
                          <a:latin typeface="Consolas"/>
                        </a:rPr>
                        <a:t>Nausea</a:t>
                      </a:r>
                    </a:p>
                  </a:txBody>
                  <a:tcPr marL="91440" marR="91440" marT="36576" marB="36576" anchor="ctr">
                    <a:solidFill>
                      <a:srgbClr val="FFFFFF"/>
                    </a:solidFill>
                  </a:tcPr>
                </a:tc>
              </a:tr>
              <a:tr h="384048">
                <a:tc>
                  <a:txBody>
                    <a:bodyPr wrap="square"/>
                    <a:lstStyle/>
                    <a:p>
                      <a:pPr algn="l">
                        <a:spcAft>
                          <a:spcPts val="0"/>
                        </a:spcAft>
                      </a:pPr>
                      <a:r>
                        <a:rPr sz="950" b="0" i="0">
                          <a:solidFill>
                            <a:srgbClr val="222222"/>
                          </a:solidFill>
                          <a:latin typeface="Consolas"/>
                        </a:rPr>
                        <a:t>2-003</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logs_arm_2</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adverse_events</a:t>
                      </a: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2</a:t>
                      </a: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p>
                  </a:txBody>
                  <a:tcPr marL="91440" marR="91440" marT="36576" marB="36576" anchor="ctr">
                    <a:solidFill>
                      <a:srgbClr val="F2F4F6"/>
                    </a:solidFill>
                  </a:tcPr>
                </a:tc>
                <a:tc>
                  <a:txBody>
                    <a:bodyPr wrap="square"/>
                    <a:lstStyle/>
                    <a:p>
                      <a:pPr algn="l">
                        <a:spcAft>
                          <a:spcPts val="0"/>
                        </a:spcAft>
                      </a:pPr>
                      <a:r>
                        <a:rPr sz="950" b="0" i="0">
                          <a:solidFill>
                            <a:srgbClr val="222222"/>
                          </a:solidFill>
                          <a:latin typeface="Consolas"/>
                        </a:rPr>
                        <a:t>Dizziness</a:t>
                      </a:r>
                    </a:p>
                  </a:txBody>
                  <a:tcPr marL="91440" marR="91440" marT="36576" marB="36576" anchor="ctr">
                    <a:solidFill>
                      <a:srgbClr val="F2F4F6"/>
                    </a:solidFill>
                  </a:tcPr>
                </a:tc>
              </a:tr>
            </a:tbl>
          </a:graphicData>
        </a:graphic>
      </p:graphicFrame>
      <p:sp>
        <p:nvSpPr>
          <p:cNvPr id="9" name="Rectangle 8"/>
          <p:cNvSpPr/>
          <p:nvPr/>
        </p:nvSpPr>
        <p:spPr>
          <a:xfrm>
            <a:off x="548640" y="4251960"/>
            <a:ext cx="7223760" cy="109728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361688"/>
            <a:ext cx="6766560" cy="896111"/>
          </a:xfrm>
          <a:prstGeom prst="rect">
            <a:avLst/>
          </a:prstGeom>
          <a:noFill/>
        </p:spPr>
        <p:txBody>
          <a:bodyPr wrap="square" lIns="0" rIns="0" tIns="0" bIns="0" anchor="t"/>
          <a:lstStyle/>
          <a:p>
            <a:pPr algn="l">
              <a:spcAft>
                <a:spcPts val="100"/>
              </a:spcAft>
            </a:pPr>
            <a:r>
              <a:rPr sz="1200" b="0" i="0">
                <a:solidFill>
                  <a:srgbClr val="E6EAF2"/>
                </a:solidFill>
                <a:latin typeface="Consolas"/>
              </a:rPr>
              <a:t>baseline &lt;- subset(ds, grepl("^baseline", redcap_event_name))</a:t>
            </a:r>
          </a:p>
          <a:p>
            <a:pPr algn="l">
              <a:spcAft>
                <a:spcPts val="100"/>
              </a:spcAft>
            </a:pPr>
            <a:r>
              <a:rPr sz="1200" b="0" i="0">
                <a:solidFill>
                  <a:srgbClr val="E6EAF2"/>
                </a:solidFill>
                <a:latin typeface="Consolas"/>
              </a:rPr>
              <a:t>ae       &lt;- subset(ds, redcap_repeat_instrument == "adverse_events")</a:t>
            </a:r>
          </a:p>
        </p:txBody>
      </p:sp>
      <p:sp>
        <p:nvSpPr>
          <p:cNvPr id="11" name="Rectangle 10"/>
          <p:cNvSpPr/>
          <p:nvPr/>
        </p:nvSpPr>
        <p:spPr>
          <a:xfrm>
            <a:off x="8138160" y="1417320"/>
            <a:ext cx="350215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946_FFFFFF.png"/>
          <p:cNvPicPr>
            <a:picLocks noChangeAspect="1"/>
          </p:cNvPicPr>
          <p:nvPr/>
        </p:nvPicPr>
        <p:blipFill>
          <a:blip r:embed="rId3"/>
          <a:stretch>
            <a:fillRect/>
          </a:stretch>
        </p:blipFill>
        <p:spPr>
          <a:xfrm>
            <a:off x="8247888" y="1481328"/>
            <a:ext cx="329184" cy="329184"/>
          </a:xfrm>
          <a:prstGeom prst="rect">
            <a:avLst/>
          </a:prstGeom>
        </p:spPr>
      </p:pic>
      <p:sp>
        <p:nvSpPr>
          <p:cNvPr id="13" name="TextBox 12"/>
          <p:cNvSpPr txBox="1"/>
          <p:nvPr/>
        </p:nvSpPr>
        <p:spPr>
          <a:xfrm>
            <a:off x="8686800" y="1417320"/>
            <a:ext cx="2862072" cy="457200"/>
          </a:xfrm>
          <a:prstGeom prst="rect">
            <a:avLst/>
          </a:prstGeom>
          <a:noFill/>
        </p:spPr>
        <p:txBody>
          <a:bodyPr wrap="square" lIns="0" rIns="0" tIns="0" bIns="0" anchor="ctr"/>
          <a:lstStyle/>
          <a:p>
            <a:pPr algn="l">
              <a:spcAft>
                <a:spcPts val="600"/>
              </a:spcAft>
            </a:pPr>
            <a:r>
              <a:rPr sz="1500" b="1" i="0">
                <a:solidFill>
                  <a:srgbClr val="FFFFFF"/>
                </a:solidFill>
                <a:latin typeface="Arial"/>
              </a:rPr>
              <a:t>Read it right</a:t>
            </a:r>
          </a:p>
        </p:txBody>
      </p:sp>
      <p:sp>
        <p:nvSpPr>
          <p:cNvPr id="14" name="Rectangle 13"/>
          <p:cNvSpPr/>
          <p:nvPr/>
        </p:nvSpPr>
        <p:spPr>
          <a:xfrm>
            <a:off x="8138160" y="1874519"/>
            <a:ext cx="3502152" cy="347472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984248"/>
            <a:ext cx="3227832" cy="3291839"/>
          </a:xfrm>
          <a:prstGeom prst="rect">
            <a:avLst/>
          </a:prstGeom>
          <a:noFill/>
        </p:spPr>
        <p:txBody>
          <a:bodyPr wrap="square" lIns="0" rIns="0" tIns="0" bIns="0" anchor="t"/>
          <a:lstStyle/>
          <a:p>
            <a:pPr algn="l">
              <a:spcAft>
                <a:spcPts val="400"/>
              </a:spcAft>
            </a:pPr>
            <a:r>
              <a:rPr sz="1400" b="0" i="0">
                <a:solidFill>
                  <a:srgbClr val="222222"/>
                </a:solidFill>
                <a:latin typeface="Arial"/>
              </a:rPr>
              <a:t>One row = record × event × repeat</a:t>
            </a:r>
          </a:p>
          <a:p>
            <a:pPr algn="l">
              <a:spcAft>
                <a:spcPts val="400"/>
              </a:spcAft>
            </a:pPr>
            <a:r>
              <a:rPr sz="1400" b="0" i="0">
                <a:solidFill>
                  <a:srgbClr val="222222"/>
                </a:solidFill>
                <a:latin typeface="Arial"/>
              </a:rPr>
              <a:t>Empty ≠ missing: form not at that event</a:t>
            </a:r>
          </a:p>
          <a:p>
            <a:pPr algn="l">
              <a:spcAft>
                <a:spcPts val="400"/>
              </a:spcAft>
            </a:pPr>
            <a:r>
              <a:rPr sz="1400" b="0" i="0">
                <a:solidFill>
                  <a:srgbClr val="222222"/>
                </a:solidFill>
                <a:latin typeface="Arial"/>
              </a:rPr>
              <a:t>sex only at baseline: carry it forward</a:t>
            </a:r>
          </a:p>
          <a:p>
            <a:pPr algn="l">
              <a:spcAft>
                <a:spcPts val="400"/>
              </a:spcAft>
            </a:pPr>
            <a:r>
              <a:rPr sz="1400" b="0" i="0">
                <a:solidFill>
                  <a:srgbClr val="222222"/>
                </a:solidFill>
                <a:latin typeface="Arial"/>
              </a:rPr>
              <a:t>Each AE is its own row</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REDCapDM: queries and missing events</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55</a:t>
            </a:r>
          </a:p>
        </p:txBody>
      </p:sp>
      <p:sp>
        <p:nvSpPr>
          <p:cNvPr id="8" name="Rectangle 7"/>
          <p:cNvSpPr/>
          <p:nvPr/>
        </p:nvSpPr>
        <p:spPr>
          <a:xfrm>
            <a:off x="548640" y="1417320"/>
            <a:ext cx="6949440" cy="393192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6492240" cy="274320"/>
          </a:xfrm>
          <a:prstGeom prst="rect">
            <a:avLst/>
          </a:prstGeom>
          <a:noFill/>
        </p:spPr>
        <p:txBody>
          <a:bodyPr wrap="square" lIns="0" rIns="0" tIns="0" bIns="0" anchor="t"/>
          <a:lstStyle/>
          <a:p>
            <a:pPr algn="l">
              <a:spcAft>
                <a:spcPts val="600"/>
              </a:spcAft>
            </a:pPr>
            <a:r>
              <a:rPr sz="1000" b="1" i="0">
                <a:solidFill>
                  <a:srgbClr val="8FA0C0"/>
                </a:solidFill>
                <a:latin typeface="Arial"/>
              </a:rPr>
              <a:t>04_redcapdm_queries.R</a:t>
            </a:r>
          </a:p>
        </p:txBody>
      </p:sp>
      <p:sp>
        <p:nvSpPr>
          <p:cNvPr id="10" name="TextBox 9"/>
          <p:cNvSpPr txBox="1"/>
          <p:nvPr/>
        </p:nvSpPr>
        <p:spPr>
          <a:xfrm>
            <a:off x="777240" y="1828800"/>
            <a:ext cx="6492240" cy="3428999"/>
          </a:xfrm>
          <a:prstGeom prst="rect">
            <a:avLst/>
          </a:prstGeom>
          <a:noFill/>
        </p:spPr>
        <p:txBody>
          <a:bodyPr wrap="square" lIns="0" rIns="0" tIns="0" bIns="0" anchor="t"/>
          <a:lstStyle/>
          <a:p>
            <a:pPr algn="l">
              <a:spcAft>
                <a:spcPts val="100"/>
              </a:spcAft>
            </a:pPr>
            <a:r>
              <a:rPr sz="1200" b="0" i="0">
                <a:solidFill>
                  <a:srgbClr val="E6EAF2"/>
                </a:solidFill>
                <a:latin typeface="Consolas"/>
              </a:rPr>
              <a:t>library(REDCapDM)</a:t>
            </a:r>
          </a:p>
          <a:p>
            <a:pPr algn="l">
              <a:spcAft>
                <a:spcPts val="100"/>
              </a:spcAft>
            </a:pPr>
            <a:r>
              <a:rPr sz="1200" b="0" i="0">
                <a:solidFill>
                  <a:srgbClr val="E6EAF2"/>
                </a:solidFill>
                <a:latin typeface="Consolas"/>
              </a:rPr>
              <a:t>dataset &lt;- redcap_data(uri = uri, token = token)</a:t>
            </a:r>
          </a:p>
          <a:p>
            <a:pPr algn="l">
              <a:spcAft>
                <a:spcPts val="100"/>
              </a:spcAft>
            </a:pPr>
            <a:r>
              <a:rPr sz="1200" b="0" i="0">
                <a:solidFill>
                  <a:srgbClr val="E6EAF2"/>
                </a:solidFill>
                <a:latin typeface="Consolas"/>
              </a:rPr>
              <a:t>tb &lt;- rd_transform(dataset)</a:t>
            </a:r>
          </a:p>
          <a:p>
            <a:pPr algn="l">
              <a:spcAft>
                <a:spcPts val="100"/>
              </a:spcAft>
            </a:pPr>
          </a:p>
          <a:p>
            <a:pPr algn="l">
              <a:spcAft>
                <a:spcPts val="100"/>
              </a:spcAft>
            </a:pPr>
            <a:r>
              <a:rPr sz="1200" b="0" i="0">
                <a:solidFill>
                  <a:srgbClr val="E6EAF2"/>
                </a:solidFill>
                <a:latin typeface="Consolas"/>
              </a:rPr>
              <a:t>q &lt;- rd_query(tb,</a:t>
            </a:r>
          </a:p>
          <a:p>
            <a:pPr algn="l">
              <a:spcAft>
                <a:spcPts val="100"/>
              </a:spcAft>
            </a:pPr>
            <a:r>
              <a:rPr sz="1200" b="0" i="0">
                <a:solidFill>
                  <a:srgbClr val="E6EAF2"/>
                </a:solidFill>
                <a:latin typeface="Consolas"/>
              </a:rPr>
              <a:t>  variables  = c("weight_kg", "temp_c"),</a:t>
            </a:r>
          </a:p>
          <a:p>
            <a:pPr algn="l">
              <a:spcAft>
                <a:spcPts val="100"/>
              </a:spcAft>
            </a:pPr>
            <a:r>
              <a:rPr sz="1200" b="0" i="0">
                <a:solidFill>
                  <a:srgbClr val="E6EAF2"/>
                </a:solidFill>
                <a:latin typeface="Consolas"/>
              </a:rPr>
              <a:t>  expression = c("x &gt; 200", "x &lt; 34"),</a:t>
            </a:r>
          </a:p>
          <a:p>
            <a:pPr algn="l">
              <a:spcAft>
                <a:spcPts val="100"/>
              </a:spcAft>
            </a:pPr>
            <a:r>
              <a:rPr sz="1200" b="0" i="0">
                <a:solidFill>
                  <a:srgbClr val="E6EAF2"/>
                </a:solidFill>
                <a:latin typeface="Consolas"/>
              </a:rPr>
              <a:t>  event      = "baseline_arm_1")</a:t>
            </a:r>
          </a:p>
          <a:p>
            <a:pPr algn="l">
              <a:spcAft>
                <a:spcPts val="100"/>
              </a:spcAft>
            </a:pPr>
            <a:r>
              <a:rPr sz="1200" b="0" i="0">
                <a:solidFill>
                  <a:srgbClr val="E6EAF2"/>
                </a:solidFill>
                <a:latin typeface="Consolas"/>
              </a:rPr>
              <a:t>q$results</a:t>
            </a:r>
          </a:p>
          <a:p>
            <a:pPr algn="l">
              <a:spcAft>
                <a:spcPts val="100"/>
              </a:spcAft>
            </a:pPr>
          </a:p>
          <a:p>
            <a:pPr algn="l">
              <a:spcAft>
                <a:spcPts val="100"/>
              </a:spcAft>
            </a:pPr>
            <a:r>
              <a:rPr sz="1200" b="0" i="0">
                <a:solidFill>
                  <a:srgbClr val="E6EAF2"/>
                </a:solidFill>
                <a:latin typeface="Consolas"/>
              </a:rPr>
              <a:t>me &lt;- rd_event(tb, event = "month_6_arm_1")</a:t>
            </a:r>
          </a:p>
          <a:p>
            <a:pPr algn="l">
              <a:spcAft>
                <a:spcPts val="100"/>
              </a:spcAft>
            </a:pPr>
            <a:r>
              <a:rPr sz="1200" b="0" i="0">
                <a:solidFill>
                  <a:srgbClr val="E6EAF2"/>
                </a:solidFill>
                <a:latin typeface="Consolas"/>
              </a:rPr>
              <a:t>rd_export(queries = q$queries, path = "TBCARE_queries.xlsx")</a:t>
            </a:r>
          </a:p>
        </p:txBody>
      </p:sp>
      <p:sp>
        <p:nvSpPr>
          <p:cNvPr id="11" name="Oval 10"/>
          <p:cNvSpPr/>
          <p:nvPr/>
        </p:nvSpPr>
        <p:spPr>
          <a:xfrm>
            <a:off x="7772400" y="1463040"/>
            <a:ext cx="384048" cy="38404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200" b="1" i="0">
                <a:solidFill>
                  <a:srgbClr val="FFFFFF"/>
                </a:solidFill>
                <a:latin typeface="Arial"/>
              </a:rPr>
              <a:t>1</a:t>
            </a:r>
          </a:p>
        </p:txBody>
      </p:sp>
      <p:sp>
        <p:nvSpPr>
          <p:cNvPr id="12" name="TextBox 11"/>
          <p:cNvSpPr txBox="1"/>
          <p:nvPr/>
        </p:nvSpPr>
        <p:spPr>
          <a:xfrm>
            <a:off x="8275320" y="1417320"/>
            <a:ext cx="3383280" cy="685800"/>
          </a:xfrm>
          <a:prstGeom prst="rect">
            <a:avLst/>
          </a:prstGeom>
          <a:noFill/>
        </p:spPr>
        <p:txBody>
          <a:bodyPr wrap="square" lIns="0" rIns="0" tIns="0" bIns="0" anchor="t"/>
          <a:lstStyle/>
          <a:p>
            <a:pPr algn="l">
              <a:spcAft>
                <a:spcPts val="0"/>
              </a:spcAft>
            </a:pPr>
            <a:r>
              <a:rPr sz="1400" b="1" i="0">
                <a:solidFill>
                  <a:srgbClr val="41464C"/>
                </a:solidFill>
                <a:latin typeface="Consolas"/>
              </a:rPr>
              <a:t>rd_transform</a:t>
            </a:r>
          </a:p>
          <a:p>
            <a:pPr algn="l">
              <a:spcAft>
                <a:spcPts val="600"/>
              </a:spcAft>
            </a:pPr>
            <a:r>
              <a:rPr sz="1200" b="0" i="0">
                <a:solidFill>
                  <a:srgbClr val="62676D"/>
                </a:solidFill>
                <a:latin typeface="Arial"/>
              </a:rPr>
              <a:t>labels, checkboxes, branching</a:t>
            </a:r>
          </a:p>
        </p:txBody>
      </p:sp>
      <p:sp>
        <p:nvSpPr>
          <p:cNvPr id="13" name="Oval 12"/>
          <p:cNvSpPr/>
          <p:nvPr/>
        </p:nvSpPr>
        <p:spPr>
          <a:xfrm>
            <a:off x="7772400" y="2240280"/>
            <a:ext cx="384048" cy="38404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200" b="1" i="0">
                <a:solidFill>
                  <a:srgbClr val="FFFFFF"/>
                </a:solidFill>
                <a:latin typeface="Arial"/>
              </a:rPr>
              <a:t>2</a:t>
            </a:r>
          </a:p>
        </p:txBody>
      </p:sp>
      <p:sp>
        <p:nvSpPr>
          <p:cNvPr id="14" name="TextBox 13"/>
          <p:cNvSpPr txBox="1"/>
          <p:nvPr/>
        </p:nvSpPr>
        <p:spPr>
          <a:xfrm>
            <a:off x="8275320" y="2194560"/>
            <a:ext cx="3383280" cy="685800"/>
          </a:xfrm>
          <a:prstGeom prst="rect">
            <a:avLst/>
          </a:prstGeom>
          <a:noFill/>
        </p:spPr>
        <p:txBody>
          <a:bodyPr wrap="square" lIns="0" rIns="0" tIns="0" bIns="0" anchor="t"/>
          <a:lstStyle/>
          <a:p>
            <a:pPr algn="l">
              <a:spcAft>
                <a:spcPts val="0"/>
              </a:spcAft>
            </a:pPr>
            <a:r>
              <a:rPr sz="1400" b="1" i="0">
                <a:solidFill>
                  <a:srgbClr val="41464C"/>
                </a:solidFill>
                <a:latin typeface="Consolas"/>
              </a:rPr>
              <a:t>rd_query</a:t>
            </a:r>
          </a:p>
          <a:p>
            <a:pPr algn="l">
              <a:spcAft>
                <a:spcPts val="600"/>
              </a:spcAft>
            </a:pPr>
            <a:r>
              <a:rPr sz="1200" b="0" i="0">
                <a:solidFill>
                  <a:srgbClr val="62676D"/>
                </a:solidFill>
                <a:latin typeface="Arial"/>
              </a:rPr>
              <a:t>find impossible or missing values</a:t>
            </a:r>
          </a:p>
        </p:txBody>
      </p:sp>
      <p:sp>
        <p:nvSpPr>
          <p:cNvPr id="15" name="Oval 14"/>
          <p:cNvSpPr/>
          <p:nvPr/>
        </p:nvSpPr>
        <p:spPr>
          <a:xfrm>
            <a:off x="7772400" y="3017520"/>
            <a:ext cx="384048" cy="38404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200" b="1" i="0">
                <a:solidFill>
                  <a:srgbClr val="FFFFFF"/>
                </a:solidFill>
                <a:latin typeface="Arial"/>
              </a:rPr>
              <a:t>3</a:t>
            </a:r>
          </a:p>
        </p:txBody>
      </p:sp>
      <p:sp>
        <p:nvSpPr>
          <p:cNvPr id="16" name="TextBox 15"/>
          <p:cNvSpPr txBox="1"/>
          <p:nvPr/>
        </p:nvSpPr>
        <p:spPr>
          <a:xfrm>
            <a:off x="8275320" y="2971800"/>
            <a:ext cx="3383280" cy="685800"/>
          </a:xfrm>
          <a:prstGeom prst="rect">
            <a:avLst/>
          </a:prstGeom>
          <a:noFill/>
        </p:spPr>
        <p:txBody>
          <a:bodyPr wrap="square" lIns="0" rIns="0" tIns="0" bIns="0" anchor="t"/>
          <a:lstStyle/>
          <a:p>
            <a:pPr algn="l">
              <a:spcAft>
                <a:spcPts val="0"/>
              </a:spcAft>
            </a:pPr>
            <a:r>
              <a:rPr sz="1400" b="1" i="0">
                <a:solidFill>
                  <a:srgbClr val="41464C"/>
                </a:solidFill>
                <a:latin typeface="Consolas"/>
              </a:rPr>
              <a:t>rd_event</a:t>
            </a:r>
          </a:p>
          <a:p>
            <a:pPr algn="l">
              <a:spcAft>
                <a:spcPts val="600"/>
              </a:spcAft>
            </a:pPr>
            <a:r>
              <a:rPr sz="1200" b="0" i="0">
                <a:solidFill>
                  <a:srgbClr val="62676D"/>
                </a:solidFill>
                <a:latin typeface="Arial"/>
              </a:rPr>
              <a:t>who missed a visit?</a:t>
            </a:r>
          </a:p>
        </p:txBody>
      </p:sp>
      <p:sp>
        <p:nvSpPr>
          <p:cNvPr id="17" name="Oval 16"/>
          <p:cNvSpPr/>
          <p:nvPr/>
        </p:nvSpPr>
        <p:spPr>
          <a:xfrm>
            <a:off x="7772400" y="3794760"/>
            <a:ext cx="384048" cy="38404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200" b="1" i="0">
                <a:solidFill>
                  <a:srgbClr val="FFFFFF"/>
                </a:solidFill>
                <a:latin typeface="Arial"/>
              </a:rPr>
              <a:t>4</a:t>
            </a:r>
          </a:p>
        </p:txBody>
      </p:sp>
      <p:sp>
        <p:nvSpPr>
          <p:cNvPr id="18" name="TextBox 17"/>
          <p:cNvSpPr txBox="1"/>
          <p:nvPr/>
        </p:nvSpPr>
        <p:spPr>
          <a:xfrm>
            <a:off x="8275320" y="3749040"/>
            <a:ext cx="3383280" cy="685800"/>
          </a:xfrm>
          <a:prstGeom prst="rect">
            <a:avLst/>
          </a:prstGeom>
          <a:noFill/>
        </p:spPr>
        <p:txBody>
          <a:bodyPr wrap="square" lIns="0" rIns="0" tIns="0" bIns="0" anchor="t"/>
          <a:lstStyle/>
          <a:p>
            <a:pPr algn="l">
              <a:spcAft>
                <a:spcPts val="0"/>
              </a:spcAft>
            </a:pPr>
            <a:r>
              <a:rPr sz="1400" b="1" i="0">
                <a:solidFill>
                  <a:srgbClr val="41464C"/>
                </a:solidFill>
                <a:latin typeface="Consolas"/>
              </a:rPr>
              <a:t>rd_export</a:t>
            </a:r>
          </a:p>
          <a:p>
            <a:pPr algn="l">
              <a:spcAft>
                <a:spcPts val="600"/>
              </a:spcAft>
            </a:pPr>
            <a:r>
              <a:rPr sz="1200" b="0" i="0">
                <a:solidFill>
                  <a:srgbClr val="62676D"/>
                </a:solidFill>
                <a:latin typeface="Arial"/>
              </a:rPr>
              <a:t>query report for the sites</a:t>
            </a:r>
          </a:p>
        </p:txBody>
      </p:sp>
      <p:sp>
        <p:nvSpPr>
          <p:cNvPr id="19" name="Oval 18"/>
          <p:cNvSpPr/>
          <p:nvPr/>
        </p:nvSpPr>
        <p:spPr>
          <a:xfrm>
            <a:off x="7772400" y="4572000"/>
            <a:ext cx="384048" cy="384048"/>
          </a:xfrm>
          <a:prstGeom prst="ellipse">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200" b="1" i="0">
                <a:solidFill>
                  <a:srgbClr val="FFFFFF"/>
                </a:solidFill>
                <a:latin typeface="Arial"/>
              </a:rPr>
              <a:t>5</a:t>
            </a:r>
          </a:p>
        </p:txBody>
      </p:sp>
      <p:sp>
        <p:nvSpPr>
          <p:cNvPr id="20" name="TextBox 19"/>
          <p:cNvSpPr txBox="1"/>
          <p:nvPr/>
        </p:nvSpPr>
        <p:spPr>
          <a:xfrm>
            <a:off x="8275320" y="4526280"/>
            <a:ext cx="3383280" cy="685800"/>
          </a:xfrm>
          <a:prstGeom prst="rect">
            <a:avLst/>
          </a:prstGeom>
          <a:noFill/>
        </p:spPr>
        <p:txBody>
          <a:bodyPr wrap="square" lIns="0" rIns="0" tIns="0" bIns="0" anchor="t"/>
          <a:lstStyle/>
          <a:p>
            <a:pPr algn="l">
              <a:spcAft>
                <a:spcPts val="0"/>
              </a:spcAft>
            </a:pPr>
            <a:r>
              <a:rPr sz="1400" b="1" i="0">
                <a:solidFill>
                  <a:srgbClr val="41464C"/>
                </a:solidFill>
                <a:latin typeface="Consolas"/>
              </a:rPr>
              <a:t>check_queries</a:t>
            </a:r>
          </a:p>
          <a:p>
            <a:pPr algn="l">
              <a:spcAft>
                <a:spcPts val="600"/>
              </a:spcAft>
            </a:pPr>
            <a:r>
              <a:rPr sz="1200" b="0" i="0">
                <a:solidFill>
                  <a:srgbClr val="62676D"/>
                </a:solidFill>
                <a:latin typeface="Arial"/>
              </a:rPr>
              <a:t>what was resolved?</a:t>
            </a:r>
          </a:p>
        </p:txBody>
      </p:sp>
      <p:sp>
        <p:nvSpPr>
          <p:cNvPr id="21" name="Rectangle 20"/>
          <p:cNvSpPr/>
          <p:nvPr/>
        </p:nvSpPr>
        <p:spPr>
          <a:xfrm>
            <a:off x="548640" y="548640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48640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3"/>
          <a:stretch>
            <a:fillRect/>
          </a:stretch>
        </p:blipFill>
        <p:spPr>
          <a:xfrm>
            <a:off x="777240" y="5577840"/>
            <a:ext cx="365760" cy="365760"/>
          </a:xfrm>
          <a:prstGeom prst="rect">
            <a:avLst/>
          </a:prstGeom>
        </p:spPr>
      </p:pic>
      <p:sp>
        <p:nvSpPr>
          <p:cNvPr id="24" name="TextBox 23"/>
          <p:cNvSpPr txBox="1"/>
          <p:nvPr/>
        </p:nvSpPr>
        <p:spPr>
          <a:xfrm>
            <a:off x="1280160" y="548640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Try it on </a:t>
            </a:r>
            <a:r>
              <a:rPr sz="1500" b="1" i="0">
                <a:solidFill>
                  <a:srgbClr val="1E88C8"/>
                </a:solidFill>
                <a:latin typeface="Arial"/>
              </a:rPr>
              <a:t>TBCARE_simulated_with_errors.csv</a:t>
            </a:r>
            <a:r>
              <a:rPr sz="1500" b="0" i="0">
                <a:solidFill>
                  <a:srgbClr val="222222"/>
                </a:solidFill>
                <a:latin typeface="Arial"/>
              </a:rPr>
              <a:t>: can you find all 7 errors?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REDCapSync and RosyREDCap: standardised pipelines</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56</a:t>
            </a:r>
          </a:p>
        </p:txBody>
      </p:sp>
      <p:sp>
        <p:nvSpPr>
          <p:cNvPr id="8" name="Rectangle 7"/>
          <p:cNvSpPr/>
          <p:nvPr/>
        </p:nvSpPr>
        <p:spPr>
          <a:xfrm>
            <a:off x="548640" y="1417320"/>
            <a:ext cx="6675120" cy="310896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6217920" cy="274320"/>
          </a:xfrm>
          <a:prstGeom prst="rect">
            <a:avLst/>
          </a:prstGeom>
          <a:noFill/>
        </p:spPr>
        <p:txBody>
          <a:bodyPr wrap="square" lIns="0" rIns="0" tIns="0" bIns="0" anchor="t"/>
          <a:lstStyle/>
          <a:p>
            <a:pPr algn="l">
              <a:spcAft>
                <a:spcPts val="600"/>
              </a:spcAft>
            </a:pPr>
            <a:r>
              <a:rPr sz="1000" b="1" i="0">
                <a:solidFill>
                  <a:srgbClr val="8FA0C0"/>
                </a:solidFill>
                <a:latin typeface="Arial"/>
              </a:rPr>
              <a:t>05_redcapsync_rosyredcap.R</a:t>
            </a:r>
          </a:p>
        </p:txBody>
      </p:sp>
      <p:sp>
        <p:nvSpPr>
          <p:cNvPr id="10" name="TextBox 9"/>
          <p:cNvSpPr txBox="1"/>
          <p:nvPr/>
        </p:nvSpPr>
        <p:spPr>
          <a:xfrm>
            <a:off x="777240" y="1828800"/>
            <a:ext cx="6217920" cy="2606040"/>
          </a:xfrm>
          <a:prstGeom prst="rect">
            <a:avLst/>
          </a:prstGeom>
          <a:noFill/>
        </p:spPr>
        <p:txBody>
          <a:bodyPr wrap="square" lIns="0" rIns="0" tIns="0" bIns="0" anchor="t"/>
          <a:lstStyle/>
          <a:p>
            <a:pPr algn="l">
              <a:spcAft>
                <a:spcPts val="100"/>
              </a:spcAft>
            </a:pPr>
            <a:r>
              <a:rPr sz="1200" b="0" i="0">
                <a:solidFill>
                  <a:srgbClr val="E6EAF2"/>
                </a:solidFill>
                <a:latin typeface="Consolas"/>
              </a:rPr>
              <a:t>library(REDCapSync)</a:t>
            </a:r>
          </a:p>
          <a:p>
            <a:pPr algn="l">
              <a:spcAft>
                <a:spcPts val="100"/>
              </a:spcAft>
            </a:pPr>
            <a:r>
              <a:rPr sz="1200" b="0" i="0">
                <a:solidFill>
                  <a:srgbClr val="E6EAF2"/>
                </a:solidFill>
                <a:latin typeface="Consolas"/>
              </a:rPr>
              <a:t>project &lt;- setup_project(</a:t>
            </a:r>
          </a:p>
          <a:p>
            <a:pPr algn="l">
              <a:spcAft>
                <a:spcPts val="100"/>
              </a:spcAft>
            </a:pPr>
            <a:r>
              <a:rPr sz="1200" b="0" i="0">
                <a:solidFill>
                  <a:srgbClr val="E6EAF2"/>
                </a:solidFill>
                <a:latin typeface="Consolas"/>
              </a:rPr>
              <a:t>  project_name = "TBCARE",</a:t>
            </a:r>
          </a:p>
          <a:p>
            <a:pPr algn="l">
              <a:spcAft>
                <a:spcPts val="100"/>
              </a:spcAft>
            </a:pPr>
            <a:r>
              <a:rPr sz="1200" b="0" i="0">
                <a:solidFill>
                  <a:srgbClr val="E6EAF2"/>
                </a:solidFill>
                <a:latin typeface="Consolas"/>
              </a:rPr>
              <a:t>  redcap_uri   = uri,</a:t>
            </a:r>
          </a:p>
          <a:p>
            <a:pPr algn="l">
              <a:spcAft>
                <a:spcPts val="100"/>
              </a:spcAft>
            </a:pPr>
            <a:r>
              <a:rPr sz="1200" b="0" i="0">
                <a:solidFill>
                  <a:srgbClr val="E6EAF2"/>
                </a:solidFill>
                <a:latin typeface="Consolas"/>
              </a:rPr>
              <a:t>  dir_path     = getwd())</a:t>
            </a:r>
          </a:p>
          <a:p>
            <a:pPr algn="l">
              <a:spcAft>
                <a:spcPts val="100"/>
              </a:spcAft>
            </a:pPr>
            <a:r>
              <a:rPr sz="1200" b="0" i="0">
                <a:solidFill>
                  <a:srgbClr val="E6EAF2"/>
                </a:solidFill>
                <a:latin typeface="Consolas"/>
              </a:rPr>
              <a:t>project$sync()         # only changed records</a:t>
            </a:r>
          </a:p>
          <a:p>
            <a:pPr algn="l">
              <a:spcAft>
                <a:spcPts val="100"/>
              </a:spcAft>
            </a:pPr>
            <a:r>
              <a:rPr sz="1200" b="0" i="0">
                <a:solidFill>
                  <a:srgbClr val="E6EAF2"/>
                </a:solidFill>
                <a:latin typeface="Consolas"/>
              </a:rPr>
              <a:t>project$generate_dataset("custom")</a:t>
            </a:r>
          </a:p>
          <a:p>
            <a:pPr algn="l">
              <a:spcAft>
                <a:spcPts val="100"/>
              </a:spcAft>
            </a:pPr>
          </a:p>
          <a:p>
            <a:pPr algn="l">
              <a:spcAft>
                <a:spcPts val="100"/>
              </a:spcAft>
            </a:pPr>
            <a:r>
              <a:rPr sz="1200" b="0" i="0">
                <a:solidFill>
                  <a:srgbClr val="E6EAF2"/>
                </a:solidFill>
                <a:latin typeface="Consolas"/>
              </a:rPr>
              <a:t>library(RosyREDCap)    # GitHub: thecodingdocs</a:t>
            </a:r>
          </a:p>
          <a:p>
            <a:pPr algn="l">
              <a:spcAft>
                <a:spcPts val="100"/>
              </a:spcAft>
            </a:pPr>
            <a:r>
              <a:rPr sz="1200" b="0" i="0">
                <a:solidFill>
                  <a:srgbClr val="E6EAF2"/>
                </a:solidFill>
                <a:latin typeface="Consolas"/>
              </a:rPr>
              <a:t>run_RosyREDCap()</a:t>
            </a:r>
          </a:p>
        </p:txBody>
      </p:sp>
      <p:sp>
        <p:nvSpPr>
          <p:cNvPr id="11" name="Rectangle 10"/>
          <p:cNvSpPr/>
          <p:nvPr/>
        </p:nvSpPr>
        <p:spPr>
          <a:xfrm>
            <a:off x="7498079" y="1417320"/>
            <a:ext cx="4142232" cy="4572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895_FFFFFF.png"/>
          <p:cNvPicPr>
            <a:picLocks noChangeAspect="1"/>
          </p:cNvPicPr>
          <p:nvPr/>
        </p:nvPicPr>
        <p:blipFill>
          <a:blip r:embed="rId3"/>
          <a:stretch>
            <a:fillRect/>
          </a:stretch>
        </p:blipFill>
        <p:spPr>
          <a:xfrm>
            <a:off x="7607807" y="1481328"/>
            <a:ext cx="329184" cy="329184"/>
          </a:xfrm>
          <a:prstGeom prst="rect">
            <a:avLst/>
          </a:prstGeom>
        </p:spPr>
      </p:pic>
      <p:sp>
        <p:nvSpPr>
          <p:cNvPr id="13" name="TextBox 12"/>
          <p:cNvSpPr txBox="1"/>
          <p:nvPr/>
        </p:nvSpPr>
        <p:spPr>
          <a:xfrm>
            <a:off x="8046719" y="1417320"/>
            <a:ext cx="3502152" cy="457200"/>
          </a:xfrm>
          <a:prstGeom prst="rect">
            <a:avLst/>
          </a:prstGeom>
          <a:noFill/>
        </p:spPr>
        <p:txBody>
          <a:bodyPr wrap="square" lIns="0" rIns="0" tIns="0" bIns="0" anchor="ctr"/>
          <a:lstStyle/>
          <a:p>
            <a:pPr algn="l">
              <a:spcAft>
                <a:spcPts val="600"/>
              </a:spcAft>
            </a:pPr>
            <a:r>
              <a:rPr sz="1500" b="1" i="0">
                <a:solidFill>
                  <a:srgbClr val="FFFFFF"/>
                </a:solidFill>
                <a:latin typeface="Arial"/>
              </a:rPr>
              <a:t>REDCapSync</a:t>
            </a:r>
          </a:p>
        </p:txBody>
      </p:sp>
      <p:sp>
        <p:nvSpPr>
          <p:cNvPr id="14" name="Rectangle 13"/>
          <p:cNvSpPr/>
          <p:nvPr/>
        </p:nvSpPr>
        <p:spPr>
          <a:xfrm>
            <a:off x="7498079" y="1874519"/>
            <a:ext cx="4142232" cy="10058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984248"/>
            <a:ext cx="3867912" cy="822960"/>
          </a:xfrm>
          <a:prstGeom prst="rect">
            <a:avLst/>
          </a:prstGeom>
          <a:noFill/>
        </p:spPr>
        <p:txBody>
          <a:bodyPr wrap="square" lIns="0" rIns="0" tIns="0" bIns="0" anchor="t"/>
          <a:lstStyle/>
          <a:p>
            <a:pPr algn="l">
              <a:spcAft>
                <a:spcPts val="400"/>
              </a:spcAft>
            </a:pPr>
            <a:r>
              <a:rPr sz="1300" b="0" i="0">
                <a:solidFill>
                  <a:srgbClr val="222222"/>
                </a:solidFill>
                <a:latin typeface="Arial"/>
              </a:rPr>
              <a:t>Sync only what changed (uses the log)</a:t>
            </a:r>
          </a:p>
          <a:p>
            <a:pPr algn="l">
              <a:spcAft>
                <a:spcPts val="400"/>
              </a:spcAft>
            </a:pPr>
            <a:r>
              <a:rPr sz="1300" b="0" i="0">
                <a:solidFill>
                  <a:srgbClr val="222222"/>
                </a:solidFill>
                <a:latin typeface="Arial"/>
              </a:rPr>
              <a:t>Standardised project object</a:t>
            </a:r>
          </a:p>
        </p:txBody>
      </p:sp>
      <p:sp>
        <p:nvSpPr>
          <p:cNvPr id="16" name="Rectangle 15"/>
          <p:cNvSpPr/>
          <p:nvPr/>
        </p:nvSpPr>
        <p:spPr>
          <a:xfrm>
            <a:off x="7498079" y="3063240"/>
            <a:ext cx="4142232" cy="45720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9D2_FFFFFF.png"/>
          <p:cNvPicPr>
            <a:picLocks noChangeAspect="1"/>
          </p:cNvPicPr>
          <p:nvPr/>
        </p:nvPicPr>
        <p:blipFill>
          <a:blip r:embed="rId4"/>
          <a:stretch>
            <a:fillRect/>
          </a:stretch>
        </p:blipFill>
        <p:spPr>
          <a:xfrm>
            <a:off x="7607807" y="3127248"/>
            <a:ext cx="329184" cy="329184"/>
          </a:xfrm>
          <a:prstGeom prst="rect">
            <a:avLst/>
          </a:prstGeom>
        </p:spPr>
      </p:pic>
      <p:sp>
        <p:nvSpPr>
          <p:cNvPr id="18" name="TextBox 17"/>
          <p:cNvSpPr txBox="1"/>
          <p:nvPr/>
        </p:nvSpPr>
        <p:spPr>
          <a:xfrm>
            <a:off x="8046719" y="3063240"/>
            <a:ext cx="3502152" cy="457200"/>
          </a:xfrm>
          <a:prstGeom prst="rect">
            <a:avLst/>
          </a:prstGeom>
          <a:noFill/>
        </p:spPr>
        <p:txBody>
          <a:bodyPr wrap="square" lIns="0" rIns="0" tIns="0" bIns="0" anchor="ctr"/>
          <a:lstStyle/>
          <a:p>
            <a:pPr algn="l">
              <a:spcAft>
                <a:spcPts val="600"/>
              </a:spcAft>
            </a:pPr>
            <a:r>
              <a:rPr sz="1500" b="1" i="0">
                <a:solidFill>
                  <a:srgbClr val="FFFFFF"/>
                </a:solidFill>
                <a:latin typeface="Arial"/>
              </a:rPr>
              <a:t>RosyREDCap</a:t>
            </a:r>
          </a:p>
        </p:txBody>
      </p:sp>
      <p:sp>
        <p:nvSpPr>
          <p:cNvPr id="19" name="Rectangle 18"/>
          <p:cNvSpPr/>
          <p:nvPr/>
        </p:nvSpPr>
        <p:spPr>
          <a:xfrm>
            <a:off x="7498079" y="3520440"/>
            <a:ext cx="4142232" cy="1005840"/>
          </a:xfrm>
          <a:prstGeom prst="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3630168"/>
            <a:ext cx="3867912" cy="822960"/>
          </a:xfrm>
          <a:prstGeom prst="rect">
            <a:avLst/>
          </a:prstGeom>
          <a:noFill/>
        </p:spPr>
        <p:txBody>
          <a:bodyPr wrap="square" lIns="0" rIns="0" tIns="0" bIns="0" anchor="t"/>
          <a:lstStyle/>
          <a:p>
            <a:pPr algn="l">
              <a:spcAft>
                <a:spcPts val="400"/>
              </a:spcAft>
            </a:pPr>
            <a:r>
              <a:rPr sz="1300" b="0" i="0">
                <a:solidFill>
                  <a:srgbClr val="222222"/>
                </a:solidFill>
                <a:latin typeface="Arial"/>
              </a:rPr>
              <a:t>Shiny app: explore, de-identify, plot</a:t>
            </a:r>
          </a:p>
          <a:p>
            <a:pPr algn="l">
              <a:spcAft>
                <a:spcPts val="400"/>
              </a:spcAft>
            </a:pPr>
            <a:r>
              <a:rPr sz="1300" b="1" i="0">
                <a:solidFill>
                  <a:srgbClr val="C8102E"/>
                </a:solidFill>
                <a:latin typeface="Arial"/>
              </a:rPr>
              <a:t>Not yet for multi-arm projects</a:t>
            </a:r>
          </a:p>
        </p:txBody>
      </p:sp>
      <p:sp>
        <p:nvSpPr>
          <p:cNvPr id="21" name="Rectangle 20"/>
          <p:cNvSpPr/>
          <p:nvPr/>
        </p:nvSpPr>
        <p:spPr>
          <a:xfrm>
            <a:off x="548640" y="4800600"/>
            <a:ext cx="11091672" cy="548640"/>
          </a:xfrm>
          <a:prstGeom prst="rect">
            <a:avLst/>
          </a:prstGeom>
          <a:solidFill>
            <a:srgbClr val="E6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800600"/>
            <a:ext cx="73152" cy="54864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777240" y="4892040"/>
            <a:ext cx="365760" cy="365760"/>
          </a:xfrm>
          <a:prstGeom prst="rect">
            <a:avLst/>
          </a:prstGeom>
        </p:spPr>
      </p:pic>
      <p:sp>
        <p:nvSpPr>
          <p:cNvPr id="24" name="TextBox 23"/>
          <p:cNvSpPr txBox="1"/>
          <p:nvPr/>
        </p:nvSpPr>
        <p:spPr>
          <a:xfrm>
            <a:off x="1280160" y="480060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Token name: </a:t>
            </a:r>
            <a:r>
              <a:rPr sz="1500" b="1" i="0">
                <a:solidFill>
                  <a:srgbClr val="1E88C8"/>
                </a:solidFill>
                <a:latin typeface="Arial"/>
              </a:rPr>
              <a:t>REDCAPSYNC_TBCARE</a:t>
            </a:r>
            <a:r>
              <a:rPr sz="1500" b="0" i="0">
                <a:solidFill>
                  <a:srgbClr val="222222"/>
                </a:solidFill>
                <a:latin typeface="Arial"/>
              </a:rPr>
              <a:t> in .Renviron.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A reproducible TBCARE pipeline</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57</a:t>
            </a:r>
          </a:p>
        </p:txBody>
      </p:sp>
      <p:sp>
        <p:nvSpPr>
          <p:cNvPr id="8" name="Rectangle 7"/>
          <p:cNvSpPr/>
          <p:nvPr/>
        </p:nvSpPr>
        <p:spPr>
          <a:xfrm>
            <a:off x="548640" y="1737360"/>
            <a:ext cx="1965960" cy="1371600"/>
          </a:xfrm>
          <a:prstGeom prst="rect">
            <a:avLst/>
          </a:prstGeom>
          <a:solidFill>
            <a:srgbClr val="8C1D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700" b="1" i="0">
                <a:solidFill>
                  <a:srgbClr val="FFFFFF"/>
                </a:solidFill>
                <a:latin typeface="Arial"/>
              </a:rPr>
              <a:t>REDCap</a:t>
            </a:r>
          </a:p>
          <a:p>
            <a:pPr algn="ctr">
              <a:spcAft>
                <a:spcPts val="600"/>
              </a:spcAft>
            </a:pPr>
            <a:r>
              <a:rPr sz="1150" b="0" i="0">
                <a:solidFill>
                  <a:srgbClr val="FFFFFF"/>
                </a:solidFill>
                <a:latin typeface="Arial"/>
              </a:rPr>
              <a:t>single source of truth</a:t>
            </a:r>
          </a:p>
        </p:txBody>
      </p:sp>
      <p:cxnSp>
        <p:nvCxnSpPr>
          <p:cNvPr id="9" name="Connector 8"/>
          <p:cNvCxnSpPr/>
          <p:nvPr/>
        </p:nvCxnSpPr>
        <p:spPr>
          <a:xfrm>
            <a:off x="2532888" y="2423160"/>
            <a:ext cx="283464" cy="0"/>
          </a:xfrm>
          <a:prstGeom prst="line">
            <a:avLst/>
          </a:prstGeom>
          <a:ln w="2540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834640" y="1737360"/>
            <a:ext cx="1965960" cy="137160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700" b="1" i="0">
                <a:solidFill>
                  <a:srgbClr val="FFFFFF"/>
                </a:solidFill>
                <a:latin typeface="Arial"/>
              </a:rPr>
              <a:t>Read</a:t>
            </a:r>
          </a:p>
          <a:p>
            <a:pPr algn="ctr">
              <a:spcAft>
                <a:spcPts val="600"/>
              </a:spcAft>
            </a:pPr>
            <a:r>
              <a:rPr sz="1150" b="0" i="0">
                <a:solidFill>
                  <a:srgbClr val="FFFFFF"/>
                </a:solidFill>
                <a:latin typeface="Arial"/>
              </a:rPr>
              <a:t>REDCapR · REDCapSync</a:t>
            </a:r>
          </a:p>
        </p:txBody>
      </p:sp>
      <p:cxnSp>
        <p:nvCxnSpPr>
          <p:cNvPr id="11" name="Connector 10"/>
          <p:cNvCxnSpPr/>
          <p:nvPr/>
        </p:nvCxnSpPr>
        <p:spPr>
          <a:xfrm>
            <a:off x="4818888" y="2423160"/>
            <a:ext cx="283464" cy="0"/>
          </a:xfrm>
          <a:prstGeom prst="line">
            <a:avLst/>
          </a:prstGeom>
          <a:ln w="2540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20640" y="1737360"/>
            <a:ext cx="1965960" cy="137160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700" b="1" i="0">
                <a:solidFill>
                  <a:srgbClr val="FFFFFF"/>
                </a:solidFill>
                <a:latin typeface="Arial"/>
              </a:rPr>
              <a:t>Check</a:t>
            </a:r>
          </a:p>
          <a:p>
            <a:pPr algn="ctr">
              <a:spcAft>
                <a:spcPts val="600"/>
              </a:spcAft>
            </a:pPr>
            <a:r>
              <a:rPr sz="1150" b="0" i="0">
                <a:solidFill>
                  <a:srgbClr val="FFFFFF"/>
                </a:solidFill>
                <a:latin typeface="Arial"/>
              </a:rPr>
              <a:t>REDCapDM queries</a:t>
            </a:r>
          </a:p>
        </p:txBody>
      </p:sp>
      <p:cxnSp>
        <p:nvCxnSpPr>
          <p:cNvPr id="13" name="Connector 12"/>
          <p:cNvCxnSpPr/>
          <p:nvPr/>
        </p:nvCxnSpPr>
        <p:spPr>
          <a:xfrm>
            <a:off x="7104888" y="2423160"/>
            <a:ext cx="283464" cy="0"/>
          </a:xfrm>
          <a:prstGeom prst="line">
            <a:avLst/>
          </a:prstGeom>
          <a:ln w="2540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06640" y="1737360"/>
            <a:ext cx="1965960" cy="1371600"/>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700" b="1" i="0">
                <a:solidFill>
                  <a:srgbClr val="FFFFFF"/>
                </a:solidFill>
                <a:latin typeface="Arial"/>
              </a:rPr>
              <a:t>Link</a:t>
            </a:r>
          </a:p>
          <a:p>
            <a:pPr algn="ctr">
              <a:spcAft>
                <a:spcPts val="600"/>
              </a:spcAft>
            </a:pPr>
            <a:r>
              <a:rPr sz="1150" b="0" i="0">
                <a:solidFill>
                  <a:srgbClr val="FFFFFF"/>
                </a:solidFill>
                <a:latin typeface="Arial"/>
              </a:rPr>
              <a:t>register, hashed key</a:t>
            </a:r>
          </a:p>
        </p:txBody>
      </p:sp>
      <p:cxnSp>
        <p:nvCxnSpPr>
          <p:cNvPr id="15" name="Connector 14"/>
          <p:cNvCxnSpPr/>
          <p:nvPr/>
        </p:nvCxnSpPr>
        <p:spPr>
          <a:xfrm>
            <a:off x="9390888" y="2423160"/>
            <a:ext cx="283464" cy="0"/>
          </a:xfrm>
          <a:prstGeom prst="line">
            <a:avLst/>
          </a:prstGeom>
          <a:ln w="25400">
            <a:solidFill>
              <a:srgbClr val="A3A9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692640" y="1737360"/>
            <a:ext cx="1965960"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700" b="1" i="0">
                <a:solidFill>
                  <a:srgbClr val="FFFFFF"/>
                </a:solidFill>
                <a:latin typeface="Arial"/>
              </a:rPr>
              <a:t>Analyse</a:t>
            </a:r>
          </a:p>
          <a:p>
            <a:pPr algn="ctr">
              <a:spcAft>
                <a:spcPts val="600"/>
              </a:spcAft>
            </a:pPr>
            <a:r>
              <a:rPr sz="1150" b="0" i="0">
                <a:solidFill>
                  <a:srgbClr val="FFFFFF"/>
                </a:solidFill>
                <a:latin typeface="Arial"/>
              </a:rPr>
              <a:t>de-identified dataset</a:t>
            </a:r>
          </a:p>
        </p:txBody>
      </p:sp>
      <p:sp>
        <p:nvSpPr>
          <p:cNvPr id="17" name="TextBox 16"/>
          <p:cNvSpPr txBox="1"/>
          <p:nvPr/>
        </p:nvSpPr>
        <p:spPr>
          <a:xfrm>
            <a:off x="548640" y="3520440"/>
            <a:ext cx="10972800" cy="1645920"/>
          </a:xfrm>
          <a:prstGeom prst="rect">
            <a:avLst/>
          </a:prstGeom>
          <a:noFill/>
        </p:spPr>
        <p:txBody>
          <a:bodyPr wrap="square" lIns="0" rIns="0" tIns="0" bIns="0" anchor="t"/>
          <a:lstStyle/>
          <a:p>
            <a:pPr algn="l" marL="256032" indent="-256032">
              <a:spcAft>
                <a:spcPts val="800"/>
              </a:spcAft>
              <a:buClr>
                <a:srgbClr val="1E88C8"/>
              </a:buClr>
              <a:buSzPct val="75000"/>
              <a:buFont typeface="Arial"/>
              <a:buChar char="■"/>
            </a:pPr>
            <a:r>
              <a:rPr sz="1700" b="0" i="0">
                <a:solidFill>
                  <a:srgbClr val="222222"/>
                </a:solidFill>
                <a:latin typeface="Arial"/>
              </a:rPr>
              <a:t>Scripts in version control (Git); data and tokens never</a:t>
            </a:r>
          </a:p>
          <a:p>
            <a:pPr algn="l" marL="256032" indent="-256032">
              <a:spcAft>
                <a:spcPts val="800"/>
              </a:spcAft>
              <a:buClr>
                <a:srgbClr val="1E88C8"/>
              </a:buClr>
              <a:buSzPct val="75000"/>
              <a:buFont typeface="Arial"/>
              <a:buChar char="■"/>
            </a:pPr>
            <a:r>
              <a:rPr sz="1700" b="0" i="0">
                <a:solidFill>
                  <a:srgbClr val="222222"/>
                </a:solidFill>
                <a:latin typeface="Arial"/>
              </a:rPr>
              <a:t>Queries go back to the sites; fixes happen in REDCap, not in R</a:t>
            </a:r>
          </a:p>
          <a:p>
            <a:pPr algn="l" marL="256032" indent="-256032">
              <a:spcAft>
                <a:spcPts val="800"/>
              </a:spcAft>
              <a:buClr>
                <a:srgbClr val="1E88C8"/>
              </a:buClr>
              <a:buSzPct val="75000"/>
              <a:buFont typeface="Arial"/>
              <a:buChar char="■"/>
            </a:pPr>
            <a:r>
              <a:rPr sz="1700" b="0" i="0">
                <a:solidFill>
                  <a:srgbClr val="222222"/>
                </a:solidFill>
                <a:latin typeface="Arial"/>
              </a:rPr>
              <a:t>Same scripts, same result: write that in the DMP</a:t>
            </a:r>
          </a:p>
        </p:txBody>
      </p:sp>
      <p:sp>
        <p:nvSpPr>
          <p:cNvPr id="18" name="Rectangle 17"/>
          <p:cNvSpPr/>
          <p:nvPr/>
        </p:nvSpPr>
        <p:spPr>
          <a:xfrm>
            <a:off x="548640" y="5394960"/>
            <a:ext cx="11091672" cy="548640"/>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394960"/>
            <a:ext cx="73152"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3"/>
          <a:stretch>
            <a:fillRect/>
          </a:stretch>
        </p:blipFill>
        <p:spPr>
          <a:xfrm>
            <a:off x="777240" y="5486400"/>
            <a:ext cx="365760" cy="365760"/>
          </a:xfrm>
          <a:prstGeom prst="rect">
            <a:avLst/>
          </a:prstGeom>
        </p:spPr>
      </p:pic>
      <p:sp>
        <p:nvSpPr>
          <p:cNvPr id="21" name="TextBox 20"/>
          <p:cNvSpPr txBox="1"/>
          <p:nvPr/>
        </p:nvSpPr>
        <p:spPr>
          <a:xfrm>
            <a:off x="1280160" y="539496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Fix data </a:t>
            </a:r>
            <a:r>
              <a:rPr sz="1500" b="1" i="0">
                <a:solidFill>
                  <a:srgbClr val="C8102E"/>
                </a:solidFill>
                <a:latin typeface="Arial"/>
              </a:rPr>
              <a:t>in REDCap</a:t>
            </a:r>
            <a:r>
              <a:rPr sz="1500" b="0" i="0">
                <a:solidFill>
                  <a:srgbClr val="222222"/>
                </a:solidFill>
                <a:latin typeface="Arial"/>
              </a:rPr>
              <a:t>, never by hand in the exported file.</a:t>
            </a:r>
          </a:p>
        </p:txBody>
      </p:sp>
      <p:sp>
        <p:nvSpPr>
          <p:cNvPr id="22" name="TextBox 21"/>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REDCap: Research Electronic Data Capture   ·   DMP: Data Management Plan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292608"/>
            <a:ext cx="3657599" cy="54864"/>
          </a:xfrm>
          <a:prstGeom prst="rect">
            <a:avLst/>
          </a:prstGeom>
          <a:solidFill>
            <a:srgbClr val="4146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292608"/>
            <a:ext cx="3611880" cy="54864"/>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292608"/>
            <a:ext cx="3639312" cy="54864"/>
          </a:xfrm>
          <a:prstGeom prst="rect">
            <a:avLst/>
          </a:prstGeom>
          <a:solidFill>
            <a:srgbClr val="A3A9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11064240" cy="640080"/>
          </a:xfrm>
          <a:prstGeom prst="rect">
            <a:avLst/>
          </a:prstGeom>
          <a:noFill/>
        </p:spPr>
        <p:txBody>
          <a:bodyPr wrap="square" lIns="0" rIns="0" tIns="0" bIns="0" anchor="t"/>
          <a:lstStyle/>
          <a:p>
            <a:pPr algn="l">
              <a:spcAft>
                <a:spcPts val="600"/>
              </a:spcAft>
            </a:pPr>
            <a:r>
              <a:rPr sz="2800" b="0" i="0">
                <a:solidFill>
                  <a:srgbClr val="C8102E"/>
                </a:solidFill>
                <a:latin typeface="Arial"/>
              </a:rPr>
              <a:t>Try it now: R in your browser</a:t>
            </a:r>
          </a:p>
        </p:txBody>
      </p:sp>
      <p:sp>
        <p:nvSpPr>
          <p:cNvPr id="6" name="TextBox 5"/>
          <p:cNvSpPr txBox="1"/>
          <p:nvPr/>
        </p:nvSpPr>
        <p:spPr>
          <a:xfrm>
            <a:off x="548640" y="6510528"/>
            <a:ext cx="8229600" cy="228600"/>
          </a:xfrm>
          <a:prstGeom prst="rect">
            <a:avLst/>
          </a:prstGeom>
          <a:noFill/>
        </p:spPr>
        <p:txBody>
          <a:bodyPr wrap="square" lIns="0" rIns="0" tIns="0" bIns="0" anchor="t"/>
          <a:lstStyle/>
          <a:p>
            <a:pPr algn="l">
              <a:spcAft>
                <a:spcPts val="600"/>
              </a:spcAft>
            </a:pPr>
            <a:r>
              <a:rPr sz="900" b="0" i="0">
                <a:solidFill>
                  <a:srgbClr val="A3A9AF"/>
                </a:solidFill>
                <a:latin typeface="Arial"/>
              </a:rPr>
              <a:t>MEPI  ·  Research Data Management  ·  REDCap training  ·  TBCARE: from CRF to analysis</a:t>
            </a:r>
          </a:p>
        </p:txBody>
      </p:sp>
      <p:sp>
        <p:nvSpPr>
          <p:cNvPr id="7" name="TextBox 6"/>
          <p:cNvSpPr txBox="1"/>
          <p:nvPr/>
        </p:nvSpPr>
        <p:spPr>
          <a:xfrm>
            <a:off x="10725912" y="6510528"/>
            <a:ext cx="914400" cy="228600"/>
          </a:xfrm>
          <a:prstGeom prst="rect">
            <a:avLst/>
          </a:prstGeom>
          <a:noFill/>
        </p:spPr>
        <p:txBody>
          <a:bodyPr wrap="square" lIns="0" rIns="0" tIns="0" bIns="0" anchor="t"/>
          <a:lstStyle/>
          <a:p>
            <a:pPr algn="r">
              <a:spcAft>
                <a:spcPts val="600"/>
              </a:spcAft>
            </a:pPr>
            <a:r>
              <a:rPr sz="900" b="0" i="0">
                <a:solidFill>
                  <a:srgbClr val="A3A9AF"/>
                </a:solidFill>
                <a:latin typeface="Arial"/>
              </a:rPr>
              <a:t>58</a:t>
            </a:r>
          </a:p>
        </p:txBody>
      </p:sp>
      <p:pic>
        <p:nvPicPr>
          <p:cNvPr id="8" name="Picture 7" descr="image.png"/>
          <p:cNvPicPr>
            <a:picLocks noChangeAspect="1"/>
          </p:cNvPicPr>
          <p:nvPr/>
        </p:nvPicPr>
        <p:blipFill>
          <a:blip r:embed="rId3"/>
          <a:stretch>
            <a:fillRect/>
          </a:stretch>
        </p:blipFill>
        <p:spPr>
          <a:xfrm>
            <a:off x="548640" y="1463040"/>
            <a:ext cx="411480" cy="411480"/>
          </a:xfrm>
          <a:prstGeom prst="rect">
            <a:avLst/>
          </a:prstGeom>
        </p:spPr>
      </p:pic>
      <p:sp>
        <p:nvSpPr>
          <p:cNvPr id="9" name="TextBox 8"/>
          <p:cNvSpPr txBox="1"/>
          <p:nvPr/>
        </p:nvSpPr>
        <p:spPr>
          <a:xfrm>
            <a:off x="1143000" y="1435608"/>
            <a:ext cx="5669280" cy="685800"/>
          </a:xfrm>
          <a:prstGeom prst="rect">
            <a:avLst/>
          </a:prstGeom>
          <a:noFill/>
        </p:spPr>
        <p:txBody>
          <a:bodyPr wrap="square" lIns="0" rIns="0" tIns="0" bIns="0" anchor="t"/>
          <a:lstStyle/>
          <a:p>
            <a:pPr algn="l">
              <a:spcAft>
                <a:spcPts val="0"/>
              </a:spcAft>
            </a:pPr>
            <a:r>
              <a:rPr sz="1600" b="1" i="0">
                <a:solidFill>
                  <a:srgbClr val="41464C"/>
                </a:solidFill>
                <a:latin typeface="Arial"/>
              </a:rPr>
              <a:t>1  Load the export</a:t>
            </a:r>
          </a:p>
          <a:p>
            <a:pPr algn="l">
              <a:spcAft>
                <a:spcPts val="600"/>
              </a:spcAft>
            </a:pPr>
            <a:r>
              <a:rPr sz="1300" b="0" i="0">
                <a:solidFill>
                  <a:srgbClr val="62676D"/>
                </a:solidFill>
                <a:latin typeface="Arial"/>
              </a:rPr>
              <a:t>what redcap_read_oneshot returns</a:t>
            </a:r>
          </a:p>
        </p:txBody>
      </p:sp>
      <p:pic>
        <p:nvPicPr>
          <p:cNvPr id="10" name="Picture 9" descr="image.png"/>
          <p:cNvPicPr>
            <a:picLocks noChangeAspect="1"/>
          </p:cNvPicPr>
          <p:nvPr/>
        </p:nvPicPr>
        <p:blipFill>
          <a:blip r:embed="rId4"/>
          <a:stretch>
            <a:fillRect/>
          </a:stretch>
        </p:blipFill>
        <p:spPr>
          <a:xfrm>
            <a:off x="548640" y="2240280"/>
            <a:ext cx="411480" cy="411480"/>
          </a:xfrm>
          <a:prstGeom prst="rect">
            <a:avLst/>
          </a:prstGeom>
        </p:spPr>
      </p:pic>
      <p:sp>
        <p:nvSpPr>
          <p:cNvPr id="11" name="TextBox 10"/>
          <p:cNvSpPr txBox="1"/>
          <p:nvPr/>
        </p:nvSpPr>
        <p:spPr>
          <a:xfrm>
            <a:off x="1143000" y="2212848"/>
            <a:ext cx="5669280" cy="685800"/>
          </a:xfrm>
          <a:prstGeom prst="rect">
            <a:avLst/>
          </a:prstGeom>
          <a:noFill/>
        </p:spPr>
        <p:txBody>
          <a:bodyPr wrap="square" lIns="0" rIns="0" tIns="0" bIns="0" anchor="t"/>
          <a:lstStyle/>
          <a:p>
            <a:pPr algn="l">
              <a:spcAft>
                <a:spcPts val="0"/>
              </a:spcAft>
            </a:pPr>
            <a:r>
              <a:rPr sz="1600" b="1" i="0">
                <a:solidFill>
                  <a:srgbClr val="41464C"/>
                </a:solidFill>
                <a:latin typeface="Arial"/>
              </a:rPr>
              <a:t>2  Check</a:t>
            </a:r>
          </a:p>
          <a:p>
            <a:pPr algn="l">
              <a:spcAft>
                <a:spcPts val="600"/>
              </a:spcAft>
            </a:pPr>
            <a:r>
              <a:rPr sz="1300" b="0" i="0">
                <a:solidFill>
                  <a:srgbClr val="62676D"/>
                </a:solidFill>
                <a:latin typeface="Arial"/>
              </a:rPr>
              <a:t>ranges, impossible values</a:t>
            </a:r>
          </a:p>
        </p:txBody>
      </p:sp>
      <p:pic>
        <p:nvPicPr>
          <p:cNvPr id="12" name="Picture 11" descr="image.png"/>
          <p:cNvPicPr>
            <a:picLocks noChangeAspect="1"/>
          </p:cNvPicPr>
          <p:nvPr/>
        </p:nvPicPr>
        <p:blipFill>
          <a:blip r:embed="rId5"/>
          <a:stretch>
            <a:fillRect/>
          </a:stretch>
        </p:blipFill>
        <p:spPr>
          <a:xfrm>
            <a:off x="548640" y="3017520"/>
            <a:ext cx="411480" cy="411480"/>
          </a:xfrm>
          <a:prstGeom prst="rect">
            <a:avLst/>
          </a:prstGeom>
        </p:spPr>
      </p:pic>
      <p:sp>
        <p:nvSpPr>
          <p:cNvPr id="13" name="TextBox 12"/>
          <p:cNvSpPr txBox="1"/>
          <p:nvPr/>
        </p:nvSpPr>
        <p:spPr>
          <a:xfrm>
            <a:off x="1143000" y="2990088"/>
            <a:ext cx="5669280" cy="685800"/>
          </a:xfrm>
          <a:prstGeom prst="rect">
            <a:avLst/>
          </a:prstGeom>
          <a:noFill/>
        </p:spPr>
        <p:txBody>
          <a:bodyPr wrap="square" lIns="0" rIns="0" tIns="0" bIns="0" anchor="t"/>
          <a:lstStyle/>
          <a:p>
            <a:pPr algn="l">
              <a:spcAft>
                <a:spcPts val="0"/>
              </a:spcAft>
            </a:pPr>
            <a:r>
              <a:rPr sz="1600" b="1" i="0">
                <a:solidFill>
                  <a:srgbClr val="41464C"/>
                </a:solidFill>
                <a:latin typeface="Arial"/>
              </a:rPr>
              <a:t>3  Missing visits</a:t>
            </a:r>
          </a:p>
          <a:p>
            <a:pPr algn="l">
              <a:spcAft>
                <a:spcPts val="600"/>
              </a:spcAft>
            </a:pPr>
            <a:r>
              <a:rPr sz="1300" b="0" i="0">
                <a:solidFill>
                  <a:srgbClr val="62676D"/>
                </a:solidFill>
                <a:latin typeface="Arial"/>
              </a:rPr>
              <a:t>like rd_event</a:t>
            </a:r>
          </a:p>
        </p:txBody>
      </p:sp>
      <p:pic>
        <p:nvPicPr>
          <p:cNvPr id="14" name="Picture 13" descr="E71B_1E88C8.png"/>
          <p:cNvPicPr>
            <a:picLocks noChangeAspect="1"/>
          </p:cNvPicPr>
          <p:nvPr/>
        </p:nvPicPr>
        <p:blipFill>
          <a:blip r:embed="rId6"/>
          <a:stretch>
            <a:fillRect/>
          </a:stretch>
        </p:blipFill>
        <p:spPr>
          <a:xfrm>
            <a:off x="548640" y="3794760"/>
            <a:ext cx="411480" cy="411480"/>
          </a:xfrm>
          <a:prstGeom prst="rect">
            <a:avLst/>
          </a:prstGeom>
        </p:spPr>
      </p:pic>
      <p:sp>
        <p:nvSpPr>
          <p:cNvPr id="15" name="TextBox 14"/>
          <p:cNvSpPr txBox="1"/>
          <p:nvPr/>
        </p:nvSpPr>
        <p:spPr>
          <a:xfrm>
            <a:off x="1143000" y="3767328"/>
            <a:ext cx="5669280" cy="685800"/>
          </a:xfrm>
          <a:prstGeom prst="rect">
            <a:avLst/>
          </a:prstGeom>
          <a:noFill/>
        </p:spPr>
        <p:txBody>
          <a:bodyPr wrap="square" lIns="0" rIns="0" tIns="0" bIns="0" anchor="t"/>
          <a:lstStyle/>
          <a:p>
            <a:pPr algn="l">
              <a:spcAft>
                <a:spcPts val="0"/>
              </a:spcAft>
            </a:pPr>
            <a:r>
              <a:rPr sz="1600" b="1" i="0">
                <a:solidFill>
                  <a:srgbClr val="41464C"/>
                </a:solidFill>
                <a:latin typeface="Arial"/>
              </a:rPr>
              <a:t>4  Link</a:t>
            </a:r>
          </a:p>
          <a:p>
            <a:pPr algn="l">
              <a:spcAft>
                <a:spcPts val="600"/>
              </a:spcAft>
            </a:pPr>
            <a:r>
              <a:rPr sz="1300" b="0" i="0">
                <a:solidFill>
                  <a:srgbClr val="62676D"/>
                </a:solidFill>
                <a:latin typeface="Arial"/>
              </a:rPr>
              <a:t>national TB register</a:t>
            </a:r>
          </a:p>
        </p:txBody>
      </p:sp>
      <p:pic>
        <p:nvPicPr>
          <p:cNvPr id="16" name="Picture 15" descr="E9D2_1E88C8.png"/>
          <p:cNvPicPr>
            <a:picLocks noChangeAspect="1"/>
          </p:cNvPicPr>
          <p:nvPr/>
        </p:nvPicPr>
        <p:blipFill>
          <a:blip r:embed="rId7"/>
          <a:stretch>
            <a:fillRect/>
          </a:stretch>
        </p:blipFill>
        <p:spPr>
          <a:xfrm>
            <a:off x="548640" y="4572000"/>
            <a:ext cx="411480" cy="411480"/>
          </a:xfrm>
          <a:prstGeom prst="rect">
            <a:avLst/>
          </a:prstGeom>
        </p:spPr>
      </p:pic>
      <p:sp>
        <p:nvSpPr>
          <p:cNvPr id="17" name="TextBox 16"/>
          <p:cNvSpPr txBox="1"/>
          <p:nvPr/>
        </p:nvSpPr>
        <p:spPr>
          <a:xfrm>
            <a:off x="1143000" y="4544568"/>
            <a:ext cx="5669280" cy="685800"/>
          </a:xfrm>
          <a:prstGeom prst="rect">
            <a:avLst/>
          </a:prstGeom>
          <a:noFill/>
        </p:spPr>
        <p:txBody>
          <a:bodyPr wrap="square" lIns="0" rIns="0" tIns="0" bIns="0" anchor="t"/>
          <a:lstStyle/>
          <a:p>
            <a:pPr algn="l">
              <a:spcAft>
                <a:spcPts val="0"/>
              </a:spcAft>
            </a:pPr>
            <a:r>
              <a:rPr sz="1600" b="1" i="0">
                <a:solidFill>
                  <a:srgbClr val="41464C"/>
                </a:solidFill>
                <a:latin typeface="Arial"/>
              </a:rPr>
              <a:t>5  Plot</a:t>
            </a:r>
          </a:p>
          <a:p>
            <a:pPr algn="l">
              <a:spcAft>
                <a:spcPts val="600"/>
              </a:spcAft>
            </a:pPr>
            <a:r>
              <a:rPr sz="1300" b="0" i="0">
                <a:solidFill>
                  <a:srgbClr val="62676D"/>
                </a:solidFill>
                <a:latin typeface="Arial"/>
              </a:rPr>
              <a:t>weight by arm over time</a:t>
            </a:r>
          </a:p>
        </p:txBody>
      </p:sp>
      <p:sp>
        <p:nvSpPr>
          <p:cNvPr id="18" name="Rectangle 17"/>
          <p:cNvSpPr/>
          <p:nvPr/>
        </p:nvSpPr>
        <p:spPr>
          <a:xfrm>
            <a:off x="6949440" y="1463040"/>
            <a:ext cx="4690872" cy="3566160"/>
          </a:xfrm>
          <a:prstGeom prst="rect">
            <a:avLst/>
          </a:prstGeom>
          <a:solidFill>
            <a:srgbClr val="1E88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1000"/>
              </a:spcAft>
            </a:pPr>
            <a:r>
              <a:rPr sz="1800" b="1" i="0">
                <a:solidFill>
                  <a:srgbClr val="FFFFFF"/>
                </a:solidFill>
                <a:latin typeface="Arial"/>
              </a:rPr>
              <a:t>Course-work page</a:t>
            </a:r>
          </a:p>
          <a:p>
            <a:pPr algn="l">
              <a:spcAft>
                <a:spcPts val="0"/>
              </a:spcAft>
            </a:pPr>
            <a:r>
              <a:rPr sz="1600" b="1" i="0">
                <a:solidFill>
                  <a:srgbClr val="FFFFFF"/>
                </a:solidFill>
                <a:latin typeface="Arial"/>
              </a:rPr>
              <a:t>bosangir.github.io/REDCapMepi/</a:t>
            </a:r>
          </a:p>
          <a:p>
            <a:pPr algn="l">
              <a:spcAft>
                <a:spcPts val="1400"/>
              </a:spcAft>
            </a:pPr>
            <a:r>
              <a:rPr sz="1600" b="1" i="0">
                <a:solidFill>
                  <a:srgbClr val="FFFFFF"/>
                </a:solidFill>
                <a:latin typeface="Arial"/>
              </a:rPr>
              <a:t>coursework</a:t>
            </a:r>
          </a:p>
          <a:p>
            <a:pPr algn="l">
              <a:spcAft>
                <a:spcPts val="600"/>
              </a:spcAft>
            </a:pPr>
            <a:r>
              <a:rPr sz="1400" b="0" i="0">
                <a:solidFill>
                  <a:srgbClr val="FFFFFF"/>
                </a:solidFill>
                <a:latin typeface="Arial"/>
              </a:rPr>
              <a:t>Slides · CRFs · data dictionary · simulated data · R scripts · R in the browser</a:t>
            </a:r>
          </a:p>
        </p:txBody>
      </p:sp>
      <p:sp>
        <p:nvSpPr>
          <p:cNvPr id="19" name="Rectangle 18"/>
          <p:cNvSpPr/>
          <p:nvPr/>
        </p:nvSpPr>
        <p:spPr>
          <a:xfrm>
            <a:off x="548640" y="5394960"/>
            <a:ext cx="11091672" cy="548640"/>
          </a:xfrm>
          <a:prstGeom prst="rect">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394960"/>
            <a:ext cx="73152" cy="548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8"/>
          <a:stretch>
            <a:fillRect/>
          </a:stretch>
        </p:blipFill>
        <p:spPr>
          <a:xfrm>
            <a:off x="777240" y="5486400"/>
            <a:ext cx="365760" cy="365760"/>
          </a:xfrm>
          <a:prstGeom prst="rect">
            <a:avLst/>
          </a:prstGeom>
        </p:spPr>
      </p:pic>
      <p:sp>
        <p:nvSpPr>
          <p:cNvPr id="22" name="TextBox 21"/>
          <p:cNvSpPr txBox="1"/>
          <p:nvPr/>
        </p:nvSpPr>
        <p:spPr>
          <a:xfrm>
            <a:off x="1280160" y="5394960"/>
            <a:ext cx="10268712" cy="548640"/>
          </a:xfrm>
          <a:prstGeom prst="rect">
            <a:avLst/>
          </a:prstGeom>
          <a:noFill/>
        </p:spPr>
        <p:txBody>
          <a:bodyPr wrap="square" lIns="0" rIns="0" tIns="0" bIns="0" anchor="ctr"/>
          <a:lstStyle/>
          <a:p>
            <a:pPr algn="l">
              <a:spcAft>
                <a:spcPts val="600"/>
              </a:spcAft>
            </a:pPr>
            <a:r>
              <a:rPr sz="1500" b="0" i="0">
                <a:solidFill>
                  <a:srgbClr val="222222"/>
                </a:solidFill>
                <a:latin typeface="Arial"/>
              </a:rPr>
              <a:t>In the browser: </a:t>
            </a:r>
            <a:r>
              <a:rPr sz="1500" b="1" i="0">
                <a:solidFill>
                  <a:srgbClr val="2E7D32"/>
                </a:solidFill>
                <a:latin typeface="Arial"/>
              </a:rPr>
              <a:t>simulated data only</a:t>
            </a:r>
            <a:r>
              <a:rPr sz="1500" b="0" i="0">
                <a:solidFill>
                  <a:srgbClr val="222222"/>
                </a:solidFill>
                <a:latin typeface="Arial"/>
              </a:rPr>
              <a:t>, nothing leaves your computer.</a:t>
            </a:r>
          </a:p>
        </p:txBody>
      </p:sp>
      <p:sp>
        <p:nvSpPr>
          <p:cNvPr id="23" name="TextBox 22"/>
          <p:cNvSpPr txBox="1"/>
          <p:nvPr/>
        </p:nvSpPr>
        <p:spPr>
          <a:xfrm>
            <a:off x="548640" y="6053328"/>
            <a:ext cx="11091672" cy="438912"/>
          </a:xfrm>
          <a:prstGeom prst="rect">
            <a:avLst/>
          </a:prstGeom>
          <a:noFill/>
        </p:spPr>
        <p:txBody>
          <a:bodyPr wrap="square" lIns="0" rIns="0" tIns="0" bIns="0" anchor="b"/>
          <a:lstStyle/>
          <a:p>
            <a:pPr algn="l">
              <a:spcAft>
                <a:spcPts val="600"/>
              </a:spcAft>
            </a:pPr>
            <a:r>
              <a:rPr sz="850" b="0" i="0">
                <a:solidFill>
                  <a:srgbClr val="62676D"/>
                </a:solidFill>
                <a:latin typeface="Arial"/>
              </a:rPr>
              <a:t>TB: tuberculosis   ·   CRFs: case report 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1921</TotalTime>
  <Words>8326</Words>
  <Application>Microsoft Office PowerPoint</Application>
  <PresentationFormat>Widescreen</PresentationFormat>
  <Paragraphs>1271</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Bernard OSANG'IR</cp:lastModifiedBy>
  <cp:revision>3</cp:revision>
  <dcterms:created xsi:type="dcterms:W3CDTF">2013-01-27T09:14:16Z</dcterms:created>
  <dcterms:modified xsi:type="dcterms:W3CDTF">2026-10-15T16:09:12Z</dcterms:modified>
  <cp:category/>
</cp:coreProperties>
</file>